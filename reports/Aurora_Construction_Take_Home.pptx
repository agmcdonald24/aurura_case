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urora_truck.jpg"/>
          <p:cNvPicPr>
            <a:picLocks noChangeAspect="1"/>
          </p:cNvPicPr>
          <p:nvPr/>
        </p:nvPicPr>
        <p:blipFill>
          <a:blip r:embed="rId2"/>
          <a:srcRect l="19876" r="19876"/>
          <a:stretch>
            <a:fillRect/>
          </a:stretch>
        </p:blipFill>
        <p:spPr>
          <a:xfrm>
            <a:off x="4846320" y="0"/>
            <a:ext cx="7345375" cy="6858000"/>
          </a:xfrm>
          <a:prstGeom prst="rect">
            <a:avLst/>
          </a:prstGeom>
        </p:spPr>
      </p:pic>
      <p:pic>
        <p:nvPicPr>
          <p:cNvPr id="3" name="Picture 2" descr="aurora_wordmark.png"/>
          <p:cNvPicPr>
            <a:picLocks noChangeAspect="1"/>
          </p:cNvPicPr>
          <p:nvPr/>
        </p:nvPicPr>
        <p:blipFill>
          <a:blip r:embed="rId3"/>
          <a:stretch>
            <a:fillRect/>
          </a:stretch>
        </p:blipFill>
        <p:spPr>
          <a:xfrm>
            <a:off x="548640" y="685800"/>
            <a:ext cx="2103120" cy="578398"/>
          </a:xfrm>
          <a:prstGeom prst="rect">
            <a:avLst/>
          </a:prstGeom>
        </p:spPr>
      </p:pic>
      <p:sp>
        <p:nvSpPr>
          <p:cNvPr id="4" name="TextBox 3"/>
          <p:cNvSpPr txBox="1"/>
          <p:nvPr/>
        </p:nvSpPr>
        <p:spPr>
          <a:xfrm>
            <a:off x="548640" y="2194560"/>
            <a:ext cx="4023360" cy="914400"/>
          </a:xfrm>
          <a:prstGeom prst="rect">
            <a:avLst/>
          </a:prstGeom>
          <a:noFill/>
        </p:spPr>
        <p:txBody>
          <a:bodyPr wrap="square" lIns="0" rIns="0" tIns="0" bIns="0" anchor="t">
            <a:spAutoFit/>
          </a:bodyPr>
          <a:lstStyle/>
          <a:p>
            <a:pPr algn="l">
              <a:lnSpc>
                <a:spcPct val="100000"/>
              </a:lnSpc>
              <a:spcAft>
                <a:spcPts val="400"/>
              </a:spcAft>
            </a:pPr>
            <a:r>
              <a:rPr sz="3600" b="1" i="0">
                <a:solidFill>
                  <a:srgbClr val="1F2937"/>
                </a:solidFill>
                <a:latin typeface="Calibri"/>
              </a:rPr>
              <a:t>Construction, counted</a:t>
            </a:r>
          </a:p>
        </p:txBody>
      </p:sp>
      <p:sp>
        <p:nvSpPr>
          <p:cNvPr id="5" name="TextBox 4"/>
          <p:cNvSpPr txBox="1"/>
          <p:nvPr/>
        </p:nvSpPr>
        <p:spPr>
          <a:xfrm>
            <a:off x="548640" y="3154680"/>
            <a:ext cx="4023360" cy="548640"/>
          </a:xfrm>
          <a:prstGeom prst="rect">
            <a:avLst/>
          </a:prstGeom>
          <a:noFill/>
        </p:spPr>
        <p:txBody>
          <a:bodyPr wrap="square" lIns="0" rIns="0" tIns="0" bIns="0" anchor="t">
            <a:spAutoFit/>
          </a:bodyPr>
          <a:lstStyle/>
          <a:p>
            <a:pPr algn="l">
              <a:lnSpc>
                <a:spcPct val="110000"/>
              </a:lnSpc>
              <a:spcAft>
                <a:spcPts val="400"/>
              </a:spcAft>
            </a:pPr>
            <a:r>
              <a:rPr sz="1700" b="1" i="0">
                <a:solidFill>
                  <a:srgbClr val="1368E5"/>
                </a:solidFill>
                <a:latin typeface="Calibri"/>
              </a:rPr>
              <a:t>A take-home for the Data Analyst role</a:t>
            </a:r>
          </a:p>
        </p:txBody>
      </p:sp>
      <p:sp>
        <p:nvSpPr>
          <p:cNvPr id="6" name="TextBox 5"/>
          <p:cNvSpPr txBox="1"/>
          <p:nvPr/>
        </p:nvSpPr>
        <p:spPr>
          <a:xfrm>
            <a:off x="548640" y="3840480"/>
            <a:ext cx="4023360" cy="1645920"/>
          </a:xfrm>
          <a:prstGeom prst="rect">
            <a:avLst/>
          </a:prstGeom>
          <a:noFill/>
        </p:spPr>
        <p:txBody>
          <a:bodyPr wrap="square" lIns="0" rIns="0" tIns="0" bIns="0" anchor="t">
            <a:spAutoFit/>
          </a:bodyPr>
          <a:lstStyle/>
          <a:p>
            <a:pPr algn="l">
              <a:lnSpc>
                <a:spcPct val="120000"/>
              </a:lnSpc>
              <a:spcAft>
                <a:spcPts val="400"/>
              </a:spcAft>
            </a:pPr>
            <a:r>
              <a:rPr sz="1400" b="0" i="0">
                <a:solidFill>
                  <a:srgbClr val="1F2937"/>
                </a:solidFill>
                <a:latin typeface="Calibri"/>
              </a:rPr>
              <a:t>How the road-construction dataset was loaded, checked and modelled, what it says about the ten largest cities and five Bay Area routes, and where it cannot be trusted.</a:t>
            </a:r>
          </a:p>
        </p:txBody>
      </p:sp>
      <p:sp>
        <p:nvSpPr>
          <p:cNvPr id="7" name="TextBox 6"/>
          <p:cNvSpPr txBox="1"/>
          <p:nvPr/>
        </p:nvSpPr>
        <p:spPr>
          <a:xfrm>
            <a:off x="548640" y="5989320"/>
            <a:ext cx="4023360" cy="548640"/>
          </a:xfrm>
          <a:prstGeom prst="rect">
            <a:avLst/>
          </a:prstGeom>
          <a:noFill/>
        </p:spPr>
        <p:txBody>
          <a:bodyPr wrap="square" lIns="0" rIns="0" tIns="0" bIns="0" anchor="t">
            <a:spAutoFit/>
          </a:bodyPr>
          <a:lstStyle/>
          <a:p>
            <a:pPr algn="l">
              <a:lnSpc>
                <a:spcPct val="110000"/>
              </a:lnSpc>
              <a:spcAft>
                <a:spcPts val="400"/>
              </a:spcAft>
            </a:pPr>
            <a:r>
              <a:rPr sz="1100" b="0" i="0">
                <a:solidFill>
                  <a:srgbClr val="6B7B8C"/>
                </a:solidFill>
                <a:latin typeface="Calibri"/>
              </a:rPr>
              <a:t>Andrew McDonald   ·   October 2026   ·   US Road Construction and Closures, 2016–2021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What was asked, and how I chose to build it</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A warehouse layout for a six-question take-home is more setup than a notebook needs; the trade is that every number here is a model someone else can run.</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2</a:t>
            </a:r>
          </a:p>
        </p:txBody>
      </p:sp>
      <p:sp>
        <p:nvSpPr>
          <p:cNvPr id="7" name="TextBox 6"/>
          <p:cNvSpPr txBox="1"/>
          <p:nvPr/>
        </p:nvSpPr>
        <p:spPr>
          <a:xfrm>
            <a:off x="548640" y="1325880"/>
            <a:ext cx="5394960" cy="365760"/>
          </a:xfrm>
          <a:prstGeom prst="rect">
            <a:avLst/>
          </a:prstGeom>
          <a:noFill/>
        </p:spPr>
        <p:txBody>
          <a:bodyPr wrap="square" lIns="0" rIns="0" tIns="0" bIns="0" anchor="t">
            <a:spAutoFit/>
          </a:bodyPr>
          <a:lstStyle/>
          <a:p>
            <a:pPr algn="l">
              <a:lnSpc>
                <a:spcPct val="110000"/>
              </a:lnSpc>
              <a:spcAft>
                <a:spcPts val="400"/>
              </a:spcAft>
            </a:pPr>
            <a:r>
              <a:rPr sz="1500" b="1" i="0">
                <a:solidFill>
                  <a:srgbClr val="1F2937"/>
                </a:solidFill>
                <a:latin typeface="Calibri"/>
              </a:rPr>
              <a:t>The six questions</a:t>
            </a:r>
          </a:p>
        </p:txBody>
      </p:sp>
      <p:sp>
        <p:nvSpPr>
          <p:cNvPr id="8" name="TextBox 7"/>
          <p:cNvSpPr txBox="1"/>
          <p:nvPr/>
        </p:nvSpPr>
        <p:spPr>
          <a:xfrm>
            <a:off x="548640" y="1737360"/>
            <a:ext cx="5394960" cy="4206240"/>
          </a:xfrm>
          <a:prstGeom prst="rect">
            <a:avLst/>
          </a:prstGeom>
          <a:noFill/>
        </p:spPr>
        <p:txBody>
          <a:bodyPr wrap="square" lIns="0" rIns="0" tIns="0" bIns="0" anchor="t">
            <a:spAutoFit/>
          </a:bodyPr>
          <a:lstStyle/>
          <a:p>
            <a:pPr algn="l" marL="201168" indent="-201168">
              <a:lnSpc>
                <a:spcPct val="110000"/>
              </a:lnSpc>
              <a:spcAft>
                <a:spcPts val="800"/>
              </a:spcAft>
              <a:buChar char="•"/>
            </a:pPr>
            <a:r>
              <a:rPr sz="1350" b="0" i="0">
                <a:solidFill>
                  <a:srgbClr val="1F2937"/>
                </a:solidFill>
                <a:latin typeface="Calibri"/>
              </a:rPr>
              <a:t>Q1  Over the past five years, which city has had the most hours of construction?</a:t>
            </a:r>
          </a:p>
          <a:p>
            <a:pPr algn="l" marL="201168" indent="-201168">
              <a:lnSpc>
                <a:spcPct val="110000"/>
              </a:lnSpc>
              <a:spcAft>
                <a:spcPts val="800"/>
              </a:spcAft>
              <a:buChar char="•"/>
            </a:pPr>
            <a:r>
              <a:rPr sz="1350" b="0" i="0">
                <a:solidFill>
                  <a:srgbClr val="1F2937"/>
                </a:solidFill>
                <a:latin typeface="Calibri"/>
              </a:rPr>
              <a:t>Q2  How has that changed over time?</a:t>
            </a:r>
          </a:p>
          <a:p>
            <a:pPr algn="l" marL="201168" indent="-201168">
              <a:lnSpc>
                <a:spcPct val="110000"/>
              </a:lnSpc>
              <a:spcAft>
                <a:spcPts val="800"/>
              </a:spcAft>
              <a:buChar char="•"/>
            </a:pPr>
            <a:r>
              <a:rPr sz="1350" b="0" i="0">
                <a:solidFill>
                  <a:srgbClr val="1F2937"/>
                </a:solidFill>
                <a:latin typeface="Calibri"/>
              </a:rPr>
              <a:t>Q3  Accounting for city size, how do the ten largest US cities compare?</a:t>
            </a:r>
          </a:p>
          <a:p>
            <a:pPr algn="l" marL="201168" indent="-201168">
              <a:lnSpc>
                <a:spcPct val="110000"/>
              </a:lnSpc>
              <a:spcAft>
                <a:spcPts val="800"/>
              </a:spcAft>
              <a:buChar char="•"/>
            </a:pPr>
            <a:r>
              <a:rPr sz="1350" b="0" i="0">
                <a:solidFill>
                  <a:srgbClr val="1F2937"/>
                </a:solidFill>
                <a:latin typeface="Calibri"/>
              </a:rPr>
              <a:t>Q4  Of five candidate Bay Area routes, which carries the most construction risk?</a:t>
            </a:r>
          </a:p>
          <a:p>
            <a:pPr algn="l" marL="201168" indent="-201168">
              <a:lnSpc>
                <a:spcPct val="110000"/>
              </a:lnSpc>
              <a:spcAft>
                <a:spcPts val="800"/>
              </a:spcAft>
              <a:buChar char="•"/>
            </a:pPr>
            <a:r>
              <a:rPr sz="1350" b="0" i="0">
                <a:solidFill>
                  <a:srgbClr val="1F2937"/>
                </a:solidFill>
                <a:latin typeface="Calibri"/>
              </a:rPr>
              <a:t>Q5  How would the Q4 answer be presented to engineers versus executives?</a:t>
            </a:r>
          </a:p>
          <a:p>
            <a:pPr algn="l" marL="201168" indent="-201168">
              <a:lnSpc>
                <a:spcPct val="110000"/>
              </a:lnSpc>
              <a:spcAft>
                <a:spcPts val="800"/>
              </a:spcAft>
              <a:buChar char="•"/>
            </a:pPr>
            <a:r>
              <a:rPr sz="1350" b="0" i="0">
                <a:solidFill>
                  <a:srgbClr val="1F2937"/>
                </a:solidFill>
                <a:latin typeface="Calibri"/>
              </a:rPr>
              <a:t>Q6  What AI tools were used, how, and why?</a:t>
            </a:r>
          </a:p>
        </p:txBody>
      </p:sp>
      <p:sp>
        <p:nvSpPr>
          <p:cNvPr id="9" name="TextBox 8"/>
          <p:cNvSpPr txBox="1"/>
          <p:nvPr/>
        </p:nvSpPr>
        <p:spPr>
          <a:xfrm>
            <a:off x="6400800" y="1325880"/>
            <a:ext cx="5212080" cy="365760"/>
          </a:xfrm>
          <a:prstGeom prst="rect">
            <a:avLst/>
          </a:prstGeom>
          <a:noFill/>
        </p:spPr>
        <p:txBody>
          <a:bodyPr wrap="square" lIns="0" rIns="0" tIns="0" bIns="0" anchor="t">
            <a:spAutoFit/>
          </a:bodyPr>
          <a:lstStyle/>
          <a:p>
            <a:pPr algn="l">
              <a:lnSpc>
                <a:spcPct val="110000"/>
              </a:lnSpc>
              <a:spcAft>
                <a:spcPts val="400"/>
              </a:spcAft>
            </a:pPr>
            <a:r>
              <a:rPr sz="1500" b="1" i="0">
                <a:solidFill>
                  <a:srgbClr val="1F2937"/>
                </a:solidFill>
                <a:latin typeface="Calibri"/>
              </a:rPr>
              <a:t>The build</a:t>
            </a:r>
          </a:p>
        </p:txBody>
      </p:sp>
      <p:sp>
        <p:nvSpPr>
          <p:cNvPr id="10" name="TextBox 9"/>
          <p:cNvSpPr txBox="1"/>
          <p:nvPr/>
        </p:nvSpPr>
        <p:spPr>
          <a:xfrm>
            <a:off x="6400800" y="1737360"/>
            <a:ext cx="5212080" cy="4206240"/>
          </a:xfrm>
          <a:prstGeom prst="rect">
            <a:avLst/>
          </a:prstGeom>
          <a:noFill/>
        </p:spPr>
        <p:txBody>
          <a:bodyPr wrap="square" lIns="0" rIns="0" tIns="0" bIns="0" anchor="t">
            <a:spAutoFit/>
          </a:bodyPr>
          <a:lstStyle/>
          <a:p>
            <a:pPr algn="l" marL="201168" indent="-201168">
              <a:lnSpc>
                <a:spcPct val="110000"/>
              </a:lnSpc>
              <a:spcAft>
                <a:spcPts val="800"/>
              </a:spcAft>
              <a:buChar char="•"/>
            </a:pPr>
            <a:r>
              <a:rPr sz="1350" b="1" i="0">
                <a:solidFill>
                  <a:srgbClr val="1F2937"/>
                </a:solidFill>
                <a:latin typeface="Calibri"/>
              </a:rPr>
              <a:t>Postgres 17 and dbt, SQL throughout. </a:t>
            </a:r>
            <a:r>
              <a:rPr sz="1350" b="0" i="0">
                <a:solidFill>
                  <a:srgbClr val="1F2937"/>
                </a:solidFill>
                <a:latin typeface="Calibri"/>
              </a:rPr>
              <a:t>The role's stack; and dbt makes every transformation a named, documented, tested model rather than a step in a notebook.</a:t>
            </a:r>
          </a:p>
          <a:p>
            <a:pPr algn="l" marL="201168" indent="-201168">
              <a:lnSpc>
                <a:spcPct val="110000"/>
              </a:lnSpc>
              <a:spcAft>
                <a:spcPts val="800"/>
              </a:spcAft>
              <a:buChar char="•"/>
            </a:pPr>
            <a:r>
              <a:rPr sz="1350" b="1" i="0">
                <a:solidFill>
                  <a:srgbClr val="1F2937"/>
                </a:solidFill>
                <a:latin typeface="Calibri"/>
              </a:rPr>
              <a:t>Python only where SQL isn't the tool: </a:t>
            </a:r>
            <a:r>
              <a:rPr sz="1350" b="0" i="0">
                <a:solidFill>
                  <a:srgbClr val="1F2937"/>
                </a:solidFill>
                <a:latin typeface="Calibri"/>
              </a:rPr>
              <a:t>loading the 2.7 GB file, drawing the charts, building this deck.</a:t>
            </a:r>
          </a:p>
          <a:p>
            <a:pPr algn="l" marL="201168" indent="-201168">
              <a:lnSpc>
                <a:spcPct val="110000"/>
              </a:lnSpc>
              <a:spcAft>
                <a:spcPts val="800"/>
              </a:spcAft>
              <a:buChar char="•"/>
            </a:pPr>
            <a:r>
              <a:rPr sz="1350" b="1" i="0">
                <a:solidFill>
                  <a:srgbClr val="1F2937"/>
                </a:solidFill>
                <a:latin typeface="Calibri"/>
              </a:rPr>
              <a:t>Raw → staging → intermediate → marts. </a:t>
            </a:r>
            <a:r>
              <a:rPr sz="1350" b="0" i="0">
                <a:solidFill>
                  <a:srgbClr val="1F2937"/>
                </a:solidFill>
                <a:latin typeface="Calibri"/>
              </a:rPr>
              <a:t>Raw is a faithful copy; every judgment lives in a model where it can be read.</a:t>
            </a:r>
          </a:p>
          <a:p>
            <a:pPr algn="l" marL="201168" indent="-201168">
              <a:lnSpc>
                <a:spcPct val="110000"/>
              </a:lnSpc>
              <a:spcAft>
                <a:spcPts val="800"/>
              </a:spcAft>
              <a:buChar char="•"/>
            </a:pPr>
            <a:r>
              <a:rPr sz="1350" b="1" i="0">
                <a:solidFill>
                  <a:srgbClr val="1F2937"/>
                </a:solidFill>
                <a:latin typeface="Calibri"/>
              </a:rPr>
              <a:t>Flags, not filters. </a:t>
            </a:r>
            <a:r>
              <a:rPr sz="1350" b="0" i="0">
                <a:solidFill>
                  <a:srgbClr val="1F2937"/>
                </a:solidFill>
                <a:latin typeface="Calibri"/>
              </a:rPr>
              <a:t>Nothing is dropped except exact duplicates. Every other call is a column, applied downstream, so the number with and without it is one query apart.</a:t>
            </a:r>
          </a:p>
          <a:p>
            <a:pPr algn="l" marL="201168" indent="-201168">
              <a:lnSpc>
                <a:spcPct val="110000"/>
              </a:lnSpc>
              <a:spcAft>
                <a:spcPts val="800"/>
              </a:spcAft>
              <a:buChar char="•"/>
            </a:pPr>
            <a:r>
              <a:rPr sz="1350" b="1" i="0">
                <a:solidFill>
                  <a:srgbClr val="1F2937"/>
                </a:solidFill>
                <a:latin typeface="Calibri"/>
              </a:rPr>
              <a:t>A log kept as it happened </a:t>
            </a:r>
            <a:r>
              <a:rPr sz="1350" b="0" i="0">
                <a:solidFill>
                  <a:srgbClr val="1F2937"/>
                </a:solidFill>
                <a:latin typeface="Calibri"/>
              </a:rPr>
              <a:t>(process.md in the repo): what was tried, what was wrong, what changed.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Environment and load: a raw layer that is a faithful copy of the file</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A typed load fails loudly on a bad value, which is the cheapest data-quality check there is; it passed on every row.</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scripts/load_raw.py, queries/12  ·  data pulled 2026-10-26   ·   3</a:t>
            </a:r>
          </a:p>
        </p:txBody>
      </p:sp>
      <p:sp>
        <p:nvSpPr>
          <p:cNvPr id="7" name="Rectangle 6"/>
          <p:cNvSpPr/>
          <p:nvPr/>
        </p:nvSpPr>
        <p:spPr>
          <a:xfrm>
            <a:off x="548640" y="1417320"/>
            <a:ext cx="2514600" cy="640080"/>
          </a:xfrm>
          <a:prstGeom prst="rect">
            <a:avLst/>
          </a:prstGeom>
          <a:solidFill>
            <a:srgbClr val="136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417320"/>
            <a:ext cx="2514600" cy="640080"/>
          </a:xfrm>
          <a:prstGeom prst="rect">
            <a:avLst/>
          </a:prstGeom>
          <a:noFill/>
        </p:spPr>
        <p:txBody>
          <a:bodyPr wrap="square" lIns="0" rIns="0" tIns="0" bIns="0" anchor="ctr">
            <a:spAutoFit/>
          </a:bodyPr>
          <a:lstStyle/>
          <a:p>
            <a:pPr algn="ctr">
              <a:lnSpc>
                <a:spcPct val="110000"/>
              </a:lnSpc>
              <a:spcAft>
                <a:spcPts val="400"/>
              </a:spcAft>
            </a:pPr>
            <a:r>
              <a:rPr sz="1600" b="1" i="0">
                <a:solidFill>
                  <a:srgbClr val="FFFFFF"/>
                </a:solidFill>
                <a:latin typeface="Calibri"/>
              </a:rPr>
              <a:t>raw</a:t>
            </a:r>
          </a:p>
        </p:txBody>
      </p:sp>
      <p:sp>
        <p:nvSpPr>
          <p:cNvPr id="9" name="TextBox 8"/>
          <p:cNvSpPr txBox="1"/>
          <p:nvPr/>
        </p:nvSpPr>
        <p:spPr>
          <a:xfrm>
            <a:off x="548640" y="2194560"/>
            <a:ext cx="2514600" cy="109728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The CSV as-is: 47 typed columns, snake_case names, nothing filtered or derived.</a:t>
            </a:r>
          </a:p>
        </p:txBody>
      </p:sp>
      <p:sp>
        <p:nvSpPr>
          <p:cNvPr id="10" name="TextBox 9"/>
          <p:cNvSpPr txBox="1"/>
          <p:nvPr/>
        </p:nvSpPr>
        <p:spPr>
          <a:xfrm>
            <a:off x="3063240" y="1417320"/>
            <a:ext cx="274320" cy="640080"/>
          </a:xfrm>
          <a:prstGeom prst="rect">
            <a:avLst/>
          </a:prstGeom>
          <a:noFill/>
        </p:spPr>
        <p:txBody>
          <a:bodyPr wrap="square" lIns="0" rIns="0" tIns="0" bIns="0" anchor="ctr">
            <a:spAutoFit/>
          </a:bodyPr>
          <a:lstStyle/>
          <a:p>
            <a:pPr algn="ctr">
              <a:lnSpc>
                <a:spcPct val="110000"/>
              </a:lnSpc>
              <a:spcAft>
                <a:spcPts val="400"/>
              </a:spcAft>
            </a:pPr>
            <a:r>
              <a:rPr sz="2000" b="0" i="0">
                <a:solidFill>
                  <a:srgbClr val="6B7B8C"/>
                </a:solidFill>
                <a:latin typeface="Calibri"/>
              </a:rPr>
              <a:t>→</a:t>
            </a:r>
          </a:p>
        </p:txBody>
      </p:sp>
      <p:sp>
        <p:nvSpPr>
          <p:cNvPr id="11" name="Rectangle 10"/>
          <p:cNvSpPr/>
          <p:nvPr/>
        </p:nvSpPr>
        <p:spPr>
          <a:xfrm>
            <a:off x="3337560" y="1417320"/>
            <a:ext cx="2514600" cy="6400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37560" y="1417320"/>
            <a:ext cx="2514600" cy="640080"/>
          </a:xfrm>
          <a:prstGeom prst="rect">
            <a:avLst/>
          </a:prstGeom>
          <a:noFill/>
        </p:spPr>
        <p:txBody>
          <a:bodyPr wrap="square" lIns="0" rIns="0" tIns="0" bIns="0" anchor="ctr">
            <a:spAutoFit/>
          </a:bodyPr>
          <a:lstStyle/>
          <a:p>
            <a:pPr algn="ctr">
              <a:lnSpc>
                <a:spcPct val="110000"/>
              </a:lnSpc>
              <a:spcAft>
                <a:spcPts val="400"/>
              </a:spcAft>
            </a:pPr>
            <a:r>
              <a:rPr sz="1600" b="1" i="0">
                <a:solidFill>
                  <a:srgbClr val="1F2937"/>
                </a:solidFill>
                <a:latin typeface="Calibri"/>
              </a:rPr>
              <a:t>staging</a:t>
            </a:r>
          </a:p>
        </p:txBody>
      </p:sp>
      <p:sp>
        <p:nvSpPr>
          <p:cNvPr id="13" name="TextBox 12"/>
          <p:cNvSpPr txBox="1"/>
          <p:nvPr/>
        </p:nvSpPr>
        <p:spPr>
          <a:xfrm>
            <a:off x="3337560" y="2194560"/>
            <a:ext cx="2514600" cy="109728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One row per event: deduplicated, flagged, New York rolled up.</a:t>
            </a:r>
          </a:p>
        </p:txBody>
      </p:sp>
      <p:sp>
        <p:nvSpPr>
          <p:cNvPr id="14" name="TextBox 13"/>
          <p:cNvSpPr txBox="1"/>
          <p:nvPr/>
        </p:nvSpPr>
        <p:spPr>
          <a:xfrm>
            <a:off x="5852160" y="1417320"/>
            <a:ext cx="274320" cy="640080"/>
          </a:xfrm>
          <a:prstGeom prst="rect">
            <a:avLst/>
          </a:prstGeom>
          <a:noFill/>
        </p:spPr>
        <p:txBody>
          <a:bodyPr wrap="square" lIns="0" rIns="0" tIns="0" bIns="0" anchor="ctr">
            <a:spAutoFit/>
          </a:bodyPr>
          <a:lstStyle/>
          <a:p>
            <a:pPr algn="ctr">
              <a:lnSpc>
                <a:spcPct val="110000"/>
              </a:lnSpc>
              <a:spcAft>
                <a:spcPts val="400"/>
              </a:spcAft>
            </a:pPr>
            <a:r>
              <a:rPr sz="2000" b="0" i="0">
                <a:solidFill>
                  <a:srgbClr val="6B7B8C"/>
                </a:solidFill>
                <a:latin typeface="Calibri"/>
              </a:rPr>
              <a:t>→</a:t>
            </a:r>
          </a:p>
        </p:txBody>
      </p:sp>
      <p:sp>
        <p:nvSpPr>
          <p:cNvPr id="15" name="Rectangle 14"/>
          <p:cNvSpPr/>
          <p:nvPr/>
        </p:nvSpPr>
        <p:spPr>
          <a:xfrm>
            <a:off x="6126479" y="1417320"/>
            <a:ext cx="2514600" cy="6400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26479" y="1417320"/>
            <a:ext cx="2514600" cy="640080"/>
          </a:xfrm>
          <a:prstGeom prst="rect">
            <a:avLst/>
          </a:prstGeom>
          <a:noFill/>
        </p:spPr>
        <p:txBody>
          <a:bodyPr wrap="square" lIns="0" rIns="0" tIns="0" bIns="0" anchor="ctr">
            <a:spAutoFit/>
          </a:bodyPr>
          <a:lstStyle/>
          <a:p>
            <a:pPr algn="ctr">
              <a:lnSpc>
                <a:spcPct val="110000"/>
              </a:lnSpc>
              <a:spcAft>
                <a:spcPts val="400"/>
              </a:spcAft>
            </a:pPr>
            <a:r>
              <a:rPr sz="1600" b="1" i="0">
                <a:solidFill>
                  <a:srgbClr val="1F2937"/>
                </a:solidFill>
                <a:latin typeface="Calibri"/>
              </a:rPr>
              <a:t>intermediate</a:t>
            </a:r>
          </a:p>
        </p:txBody>
      </p:sp>
      <p:sp>
        <p:nvSpPr>
          <p:cNvPr id="17" name="TextBox 16"/>
          <p:cNvSpPr txBox="1"/>
          <p:nvPr/>
        </p:nvSpPr>
        <p:spPr>
          <a:xfrm>
            <a:off x="6126479" y="2194560"/>
            <a:ext cx="2514600" cy="109728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Hours allocated to the months each event overlaps; route matches.</a:t>
            </a:r>
          </a:p>
        </p:txBody>
      </p:sp>
      <p:sp>
        <p:nvSpPr>
          <p:cNvPr id="18" name="TextBox 17"/>
          <p:cNvSpPr txBox="1"/>
          <p:nvPr/>
        </p:nvSpPr>
        <p:spPr>
          <a:xfrm>
            <a:off x="8641080" y="1417320"/>
            <a:ext cx="274320" cy="640080"/>
          </a:xfrm>
          <a:prstGeom prst="rect">
            <a:avLst/>
          </a:prstGeom>
          <a:noFill/>
        </p:spPr>
        <p:txBody>
          <a:bodyPr wrap="square" lIns="0" rIns="0" tIns="0" bIns="0" anchor="ctr">
            <a:spAutoFit/>
          </a:bodyPr>
          <a:lstStyle/>
          <a:p>
            <a:pPr algn="ctr">
              <a:lnSpc>
                <a:spcPct val="110000"/>
              </a:lnSpc>
              <a:spcAft>
                <a:spcPts val="400"/>
              </a:spcAft>
            </a:pPr>
            <a:r>
              <a:rPr sz="2000" b="0" i="0">
                <a:solidFill>
                  <a:srgbClr val="6B7B8C"/>
                </a:solidFill>
                <a:latin typeface="Calibri"/>
              </a:rPr>
              <a:t>→</a:t>
            </a:r>
          </a:p>
        </p:txBody>
      </p:sp>
      <p:sp>
        <p:nvSpPr>
          <p:cNvPr id="19" name="Rectangle 18"/>
          <p:cNvSpPr/>
          <p:nvPr/>
        </p:nvSpPr>
        <p:spPr>
          <a:xfrm>
            <a:off x="8915399" y="1417320"/>
            <a:ext cx="2514600" cy="6400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15399" y="1417320"/>
            <a:ext cx="2514600" cy="640080"/>
          </a:xfrm>
          <a:prstGeom prst="rect">
            <a:avLst/>
          </a:prstGeom>
          <a:noFill/>
        </p:spPr>
        <p:txBody>
          <a:bodyPr wrap="square" lIns="0" rIns="0" tIns="0" bIns="0" anchor="ctr">
            <a:spAutoFit/>
          </a:bodyPr>
          <a:lstStyle/>
          <a:p>
            <a:pPr algn="ctr">
              <a:lnSpc>
                <a:spcPct val="110000"/>
              </a:lnSpc>
              <a:spcAft>
                <a:spcPts val="400"/>
              </a:spcAft>
            </a:pPr>
            <a:r>
              <a:rPr sz="1600" b="1" i="0">
                <a:solidFill>
                  <a:srgbClr val="1F2937"/>
                </a:solidFill>
                <a:latin typeface="Calibri"/>
              </a:rPr>
              <a:t>marts</a:t>
            </a:r>
          </a:p>
        </p:txBody>
      </p:sp>
      <p:sp>
        <p:nvSpPr>
          <p:cNvPr id="21" name="TextBox 20"/>
          <p:cNvSpPr txBox="1"/>
          <p:nvPr/>
        </p:nvSpPr>
        <p:spPr>
          <a:xfrm>
            <a:off x="8915399" y="2194560"/>
            <a:ext cx="2514600" cy="109728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The answers: city totals, the ten normalized, route exposure.</a:t>
            </a:r>
          </a:p>
        </p:txBody>
      </p:sp>
      <p:sp>
        <p:nvSpPr>
          <p:cNvPr id="22" name="TextBox 21"/>
          <p:cNvSpPr txBox="1"/>
          <p:nvPr/>
        </p:nvSpPr>
        <p:spPr>
          <a:xfrm>
            <a:off x="548640" y="3246120"/>
            <a:ext cx="2743200" cy="594360"/>
          </a:xfrm>
          <a:prstGeom prst="rect">
            <a:avLst/>
          </a:prstGeom>
          <a:noFill/>
        </p:spPr>
        <p:txBody>
          <a:bodyPr wrap="square" lIns="0" rIns="0" tIns="0" bIns="0" anchor="t">
            <a:spAutoFit/>
          </a:bodyPr>
          <a:lstStyle/>
          <a:p>
            <a:pPr algn="l">
              <a:lnSpc>
                <a:spcPct val="110000"/>
              </a:lnSpc>
              <a:spcAft>
                <a:spcPts val="400"/>
              </a:spcAft>
            </a:pPr>
            <a:r>
              <a:rPr sz="3400" b="1" i="0">
                <a:solidFill>
                  <a:srgbClr val="1368E5"/>
                </a:solidFill>
                <a:latin typeface="Calibri"/>
              </a:rPr>
              <a:t>6,170,627</a:t>
            </a:r>
          </a:p>
        </p:txBody>
      </p:sp>
      <p:sp>
        <p:nvSpPr>
          <p:cNvPr id="23" name="TextBox 22"/>
          <p:cNvSpPr txBox="1"/>
          <p:nvPr/>
        </p:nvSpPr>
        <p:spPr>
          <a:xfrm>
            <a:off x="548640" y="3813048"/>
            <a:ext cx="2743200" cy="457200"/>
          </a:xfrm>
          <a:prstGeom prst="rect">
            <a:avLst/>
          </a:prstGeom>
          <a:noFill/>
        </p:spPr>
        <p:txBody>
          <a:bodyPr wrap="square" lIns="0" rIns="0" tIns="0" bIns="0" anchor="t">
            <a:spAutoFit/>
          </a:bodyPr>
          <a:lstStyle/>
          <a:p>
            <a:pPr algn="l">
              <a:lnSpc>
                <a:spcPct val="110000"/>
              </a:lnSpc>
              <a:spcAft>
                <a:spcPts val="400"/>
              </a:spcAft>
            </a:pPr>
            <a:r>
              <a:rPr sz="1200" b="0" i="0">
                <a:solidFill>
                  <a:srgbClr val="6B7B8C"/>
                </a:solidFill>
                <a:latin typeface="Calibri"/>
              </a:rPr>
              <a:t>rows loaded, every id unique</a:t>
            </a:r>
          </a:p>
        </p:txBody>
      </p:sp>
      <p:sp>
        <p:nvSpPr>
          <p:cNvPr id="24" name="TextBox 23"/>
          <p:cNvSpPr txBox="1"/>
          <p:nvPr/>
        </p:nvSpPr>
        <p:spPr>
          <a:xfrm>
            <a:off x="3429000" y="3246120"/>
            <a:ext cx="2743200" cy="594360"/>
          </a:xfrm>
          <a:prstGeom prst="rect">
            <a:avLst/>
          </a:prstGeom>
          <a:noFill/>
        </p:spPr>
        <p:txBody>
          <a:bodyPr wrap="square" lIns="0" rIns="0" tIns="0" bIns="0" anchor="t">
            <a:spAutoFit/>
          </a:bodyPr>
          <a:lstStyle/>
          <a:p>
            <a:pPr algn="l">
              <a:lnSpc>
                <a:spcPct val="110000"/>
              </a:lnSpc>
              <a:spcAft>
                <a:spcPts val="400"/>
              </a:spcAft>
            </a:pPr>
            <a:r>
              <a:rPr sz="3400" b="1" i="0">
                <a:solidFill>
                  <a:srgbClr val="1368E5"/>
                </a:solidFill>
                <a:latin typeface="Calibri"/>
              </a:rPr>
              <a:t>47 → 13</a:t>
            </a:r>
          </a:p>
        </p:txBody>
      </p:sp>
      <p:sp>
        <p:nvSpPr>
          <p:cNvPr id="25" name="TextBox 24"/>
          <p:cNvSpPr txBox="1"/>
          <p:nvPr/>
        </p:nvSpPr>
        <p:spPr>
          <a:xfrm>
            <a:off x="3429000" y="3813048"/>
            <a:ext cx="2743200" cy="457200"/>
          </a:xfrm>
          <a:prstGeom prst="rect">
            <a:avLst/>
          </a:prstGeom>
          <a:noFill/>
        </p:spPr>
        <p:txBody>
          <a:bodyPr wrap="square" lIns="0" rIns="0" tIns="0" bIns="0" anchor="t">
            <a:spAutoFit/>
          </a:bodyPr>
          <a:lstStyle/>
          <a:p>
            <a:pPr algn="l">
              <a:lnSpc>
                <a:spcPct val="110000"/>
              </a:lnSpc>
              <a:spcAft>
                <a:spcPts val="400"/>
              </a:spcAft>
            </a:pPr>
            <a:r>
              <a:rPr sz="1200" b="0" i="0">
                <a:solidFill>
                  <a:srgbClr val="6B7B8C"/>
                </a:solidFill>
                <a:latin typeface="Calibri"/>
              </a:rPr>
              <a:t>columns in the file → columns that touch the questions</a:t>
            </a:r>
          </a:p>
        </p:txBody>
      </p:sp>
      <p:sp>
        <p:nvSpPr>
          <p:cNvPr id="26" name="TextBox 25"/>
          <p:cNvSpPr txBox="1"/>
          <p:nvPr/>
        </p:nvSpPr>
        <p:spPr>
          <a:xfrm>
            <a:off x="6309360" y="3246120"/>
            <a:ext cx="2743200" cy="594360"/>
          </a:xfrm>
          <a:prstGeom prst="rect">
            <a:avLst/>
          </a:prstGeom>
          <a:noFill/>
        </p:spPr>
        <p:txBody>
          <a:bodyPr wrap="square" lIns="0" rIns="0" tIns="0" bIns="0" anchor="t">
            <a:spAutoFit/>
          </a:bodyPr>
          <a:lstStyle/>
          <a:p>
            <a:pPr algn="l">
              <a:lnSpc>
                <a:spcPct val="110000"/>
              </a:lnSpc>
              <a:spcAft>
                <a:spcPts val="400"/>
              </a:spcAft>
            </a:pPr>
            <a:r>
              <a:rPr sz="3400" b="1" i="0">
                <a:solidFill>
                  <a:srgbClr val="1368E5"/>
                </a:solidFill>
                <a:latin typeface="Calibri"/>
              </a:rPr>
              <a:t>2.7 GB</a:t>
            </a:r>
          </a:p>
        </p:txBody>
      </p:sp>
      <p:sp>
        <p:nvSpPr>
          <p:cNvPr id="27" name="TextBox 26"/>
          <p:cNvSpPr txBox="1"/>
          <p:nvPr/>
        </p:nvSpPr>
        <p:spPr>
          <a:xfrm>
            <a:off x="6309360" y="3813048"/>
            <a:ext cx="2743200" cy="457200"/>
          </a:xfrm>
          <a:prstGeom prst="rect">
            <a:avLst/>
          </a:prstGeom>
          <a:noFill/>
        </p:spPr>
        <p:txBody>
          <a:bodyPr wrap="square" lIns="0" rIns="0" tIns="0" bIns="0" anchor="t">
            <a:spAutoFit/>
          </a:bodyPr>
          <a:lstStyle/>
          <a:p>
            <a:pPr algn="l">
              <a:lnSpc>
                <a:spcPct val="110000"/>
              </a:lnSpc>
              <a:spcAft>
                <a:spcPts val="400"/>
              </a:spcAft>
            </a:pPr>
            <a:r>
              <a:rPr sz="1200" b="0" i="0">
                <a:solidFill>
                  <a:srgbClr val="6B7B8C"/>
                </a:solidFill>
                <a:latin typeface="Calibri"/>
              </a:rPr>
              <a:t>streamed in with COPY; indexes added after</a:t>
            </a:r>
          </a:p>
        </p:txBody>
      </p:sp>
      <p:sp>
        <p:nvSpPr>
          <p:cNvPr id="28" name="TextBox 27"/>
          <p:cNvSpPr txBox="1"/>
          <p:nvPr/>
        </p:nvSpPr>
        <p:spPr>
          <a:xfrm>
            <a:off x="9189720" y="3246120"/>
            <a:ext cx="2468880" cy="594360"/>
          </a:xfrm>
          <a:prstGeom prst="rect">
            <a:avLst/>
          </a:prstGeom>
          <a:noFill/>
        </p:spPr>
        <p:txBody>
          <a:bodyPr wrap="square" lIns="0" rIns="0" tIns="0" bIns="0" anchor="t">
            <a:spAutoFit/>
          </a:bodyPr>
          <a:lstStyle/>
          <a:p>
            <a:pPr algn="l">
              <a:lnSpc>
                <a:spcPct val="110000"/>
              </a:lnSpc>
              <a:spcAft>
                <a:spcPts val="400"/>
              </a:spcAft>
            </a:pPr>
            <a:r>
              <a:rPr sz="3400" b="1" i="0">
                <a:solidFill>
                  <a:srgbClr val="1368E5"/>
                </a:solidFill>
                <a:latin typeface="Calibri"/>
              </a:rPr>
              <a:t>5 rows</a:t>
            </a:r>
          </a:p>
        </p:txBody>
      </p:sp>
      <p:sp>
        <p:nvSpPr>
          <p:cNvPr id="29" name="TextBox 28"/>
          <p:cNvSpPr txBox="1"/>
          <p:nvPr/>
        </p:nvSpPr>
        <p:spPr>
          <a:xfrm>
            <a:off x="9189720" y="3813048"/>
            <a:ext cx="2468880" cy="457200"/>
          </a:xfrm>
          <a:prstGeom prst="rect">
            <a:avLst/>
          </a:prstGeom>
          <a:noFill/>
        </p:spPr>
        <p:txBody>
          <a:bodyPr wrap="square" lIns="0" rIns="0" tIns="0" bIns="0" anchor="t">
            <a:spAutoFit/>
          </a:bodyPr>
          <a:lstStyle/>
          <a:p>
            <a:pPr algn="l">
              <a:lnSpc>
                <a:spcPct val="110000"/>
              </a:lnSpc>
              <a:spcAft>
                <a:spcPts val="400"/>
              </a:spcAft>
            </a:pPr>
            <a:r>
              <a:rPr sz="1200" b="0" i="0">
                <a:solidFill>
                  <a:srgbClr val="6B7B8C"/>
                </a:solidFill>
                <a:latin typeface="Calibri"/>
              </a:rPr>
              <a:t>the routes, loaded as a versioned seed</a:t>
            </a:r>
          </a:p>
        </p:txBody>
      </p:sp>
      <p:sp>
        <p:nvSpPr>
          <p:cNvPr id="30" name="TextBox 29"/>
          <p:cNvSpPr txBox="1"/>
          <p:nvPr/>
        </p:nvSpPr>
        <p:spPr>
          <a:xfrm>
            <a:off x="548640" y="4617720"/>
            <a:ext cx="11064240" cy="1463040"/>
          </a:xfrm>
          <a:prstGeom prst="rect">
            <a:avLst/>
          </a:prstGeom>
          <a:noFill/>
        </p:spPr>
        <p:txBody>
          <a:bodyPr wrap="square" lIns="0" rIns="0" tIns="0" bIns="0" anchor="t">
            <a:spAutoFit/>
          </a:bodyPr>
          <a:lstStyle/>
          <a:p>
            <a:pPr algn="l" marL="201168" indent="-201168">
              <a:lnSpc>
                <a:spcPct val="110000"/>
              </a:lnSpc>
              <a:spcAft>
                <a:spcPts val="500"/>
              </a:spcAft>
              <a:buChar char="•"/>
            </a:pPr>
            <a:r>
              <a:rPr sz="1250" b="0" i="0">
                <a:solidFill>
                  <a:srgbClr val="1F2937"/>
                </a:solidFill>
                <a:latin typeface="Calibri"/>
              </a:rPr>
              <a:t>A second Postgres instance on its own port, so the case study never touches anything else on the machine.</a:t>
            </a:r>
          </a:p>
          <a:p>
            <a:pPr algn="l" marL="201168" indent="-201168">
              <a:lnSpc>
                <a:spcPct val="110000"/>
              </a:lnSpc>
              <a:spcAft>
                <a:spcPts val="500"/>
              </a:spcAft>
              <a:buChar char="•"/>
            </a:pPr>
            <a:r>
              <a:rPr sz="1250" b="0" i="0">
                <a:solidFill>
                  <a:srgbClr val="1F2937"/>
                </a:solidFill>
                <a:latin typeface="Calibri"/>
              </a:rPr>
              <a:t>The 70 KB routes file is small, static reference data, so it is a dbt seed and lives in git. The 2.7 GB file is not seed material; it is loaded once and declared as a source.</a:t>
            </a:r>
          </a:p>
          <a:p>
            <a:pPr algn="l" marL="201168" indent="-201168">
              <a:lnSpc>
                <a:spcPct val="110000"/>
              </a:lnSpc>
              <a:spcAft>
                <a:spcPts val="500"/>
              </a:spcAft>
              <a:buChar char="•"/>
            </a:pPr>
            <a:r>
              <a:rPr sz="1250" b="0" i="0">
                <a:solidFill>
                  <a:srgbClr val="1F2937"/>
                </a:solidFill>
                <a:latin typeface="Calibri"/>
              </a:rPr>
              <a:t>Weather, point-of-interest and twilight columns (34 of the 47) are loaded for completeness and never used.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What the data is, and what “hours of construction” means here</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Every number that follows is hours of reported traffic impact, not hours of roadwork, and that distinction carries through to the end.</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docs/data_dictionary.md  ·  data pulled 2026-10-26   ·   4</a:t>
            </a:r>
          </a:p>
        </p:txBody>
      </p:sp>
      <p:graphicFrame>
        <p:nvGraphicFramePr>
          <p:cNvPr id="7" name="Table 6"/>
          <p:cNvGraphicFramePr>
            <a:graphicFrameLocks noGrp="1"/>
          </p:cNvGraphicFramePr>
          <p:nvPr/>
        </p:nvGraphicFramePr>
        <p:xfrm>
          <a:off x="548640" y="1325880"/>
          <a:ext cx="6858000" cy="2834640"/>
        </p:xfrm>
        <a:graphic>
          <a:graphicData uri="http://schemas.openxmlformats.org/drawingml/2006/table">
            <a:tbl>
              <a:tblPr>
                <a:tableStyleId>{2D5ABB26-0587-4C30-8999-92F81FD0307C}</a:tableStyleId>
              </a:tblPr>
              <a:tblGrid>
                <a:gridCol w="2011680"/>
                <a:gridCol w="4846320"/>
              </a:tblGrid>
              <a:tr h="566928">
                <a:tc>
                  <a:txBody>
                    <a:bodyPr wrap="square"/>
                    <a:lstStyle/>
                    <a:p>
                      <a:pPr algn="l"/>
                      <a:r>
                        <a:rPr sz="1150" b="1">
                          <a:solidFill>
                            <a:srgbClr val="1F2937"/>
                          </a:solidFill>
                          <a:latin typeface="Calibri"/>
                        </a:rPr>
                        <a:t>Source</a:t>
                      </a:r>
                    </a:p>
                  </a:txBody>
                  <a:tcPr marL="73152" marR="73152" marT="27432" marB="27432" anchor="ctr">
                    <a:solidFill>
                      <a:srgbClr val="FFFFFF"/>
                    </a:solidFill>
                  </a:tcPr>
                </a:tc>
                <a:tc>
                  <a:txBody>
                    <a:bodyPr wrap="square"/>
                    <a:lstStyle/>
                    <a:p>
                      <a:pPr algn="l"/>
                      <a:r>
                        <a:rPr sz="1150" b="0">
                          <a:solidFill>
                            <a:srgbClr val="1F2937"/>
                          </a:solidFill>
                          <a:latin typeface="Calibri"/>
                        </a:rPr>
                        <a:t>Kaggle: US Road Construction and Closures (Moosavi), 49 states, Jan 2016 – Dec 2021</a:t>
                      </a:r>
                    </a:p>
                  </a:txBody>
                  <a:tcPr marL="73152" marR="73152" marT="27432" marB="27432" anchor="ctr">
                    <a:solidFill>
                      <a:srgbClr val="FFFFFF"/>
                    </a:solidFill>
                  </a:tcPr>
                </a:tc>
              </a:tr>
              <a:tr h="566928">
                <a:tc>
                  <a:txBody>
                    <a:bodyPr wrap="square"/>
                    <a:lstStyle/>
                    <a:p>
                      <a:pPr algn="l"/>
                      <a:r>
                        <a:rPr sz="1150" b="1">
                          <a:solidFill>
                            <a:srgbClr val="1F2937"/>
                          </a:solidFill>
                          <a:latin typeface="Calibri"/>
                        </a:rPr>
                        <a:t>Collection</a:t>
                      </a:r>
                    </a:p>
                  </a:txBody>
                  <a:tcPr marL="73152" marR="73152" marT="27432" marB="27432" anchor="ctr">
                    <a:solidFill>
                      <a:srgbClr val="FFFFFF"/>
                    </a:solidFill>
                  </a:tcPr>
                </a:tc>
                <a:tc>
                  <a:txBody>
                    <a:bodyPr wrap="square"/>
                    <a:lstStyle/>
                    <a:p>
                      <a:pPr algn="l"/>
                      <a:r>
                        <a:rPr sz="1150" b="0">
                          <a:solidFill>
                            <a:srgbClr val="1F2937"/>
                          </a:solidFill>
                          <a:latin typeface="Calibri"/>
                        </a:rPr>
                        <a:t>“Multiple APIs that provide streaming traffic incident data” fed by state DOTs, police, cameras and sensors. The providers are not named and there is no provider column.</a:t>
                      </a:r>
                    </a:p>
                  </a:txBody>
                  <a:tcPr marL="73152" marR="73152" marT="27432" marB="27432" anchor="ctr">
                    <a:solidFill>
                      <a:srgbClr val="FFFFFF"/>
                    </a:solidFill>
                  </a:tcPr>
                </a:tc>
              </a:tr>
              <a:tr h="566928">
                <a:tc>
                  <a:txBody>
                    <a:bodyPr wrap="square"/>
                    <a:lstStyle/>
                    <a:p>
                      <a:pPr algn="l"/>
                      <a:r>
                        <a:rPr sz="1150" b="1">
                          <a:solidFill>
                            <a:srgbClr val="1F2937"/>
                          </a:solidFill>
                          <a:latin typeface="Calibri"/>
                        </a:rPr>
                        <a:t>What a row is</a:t>
                      </a:r>
                    </a:p>
                  </a:txBody>
                  <a:tcPr marL="73152" marR="73152" marT="27432" marB="27432" anchor="ctr">
                    <a:solidFill>
                      <a:srgbClr val="FFFFFF"/>
                    </a:solidFill>
                  </a:tcPr>
                </a:tc>
                <a:tc>
                  <a:txBody>
                    <a:bodyPr wrap="square"/>
                    <a:lstStyle/>
                    <a:p>
                      <a:pPr algn="l"/>
                      <a:r>
                        <a:rPr sz="1150" b="0">
                          <a:solidFill>
                            <a:srgbClr val="1F2937"/>
                          </a:solidFill>
                          <a:latin typeface="Calibri"/>
                        </a:rPr>
                        <a:t>One reported event: a start point, usually an end point, a start and end time, a severity of 1–4 (traffic impact), a free-text description.</a:t>
                      </a:r>
                    </a:p>
                  </a:txBody>
                  <a:tcPr marL="73152" marR="73152" marT="27432" marB="27432" anchor="ctr">
                    <a:solidFill>
                      <a:srgbClr val="FFFFFF"/>
                    </a:solidFill>
                  </a:tcPr>
                </a:tc>
              </a:tr>
              <a:tr h="566928">
                <a:tc>
                  <a:txBody>
                    <a:bodyPr wrap="square"/>
                    <a:lstStyle/>
                    <a:p>
                      <a:pPr algn="l"/>
                      <a:r>
                        <a:rPr sz="1150" b="1">
                          <a:solidFill>
                            <a:srgbClr val="1F2937"/>
                          </a:solidFill>
                          <a:latin typeface="Calibri"/>
                        </a:rPr>
                        <a:t>What “hours” means</a:t>
                      </a:r>
                    </a:p>
                  </a:txBody>
                  <a:tcPr marL="73152" marR="73152" marT="27432" marB="27432" anchor="ctr">
                    <a:solidFill>
                      <a:srgbClr val="FFFFFF"/>
                    </a:solidFill>
                  </a:tcPr>
                </a:tc>
                <a:tc>
                  <a:txBody>
                    <a:bodyPr wrap="square"/>
                    <a:lstStyle/>
                    <a:p>
                      <a:pPr algn="l"/>
                      <a:r>
                        <a:rPr sz="1150" b="0">
                          <a:solidFill>
                            <a:srgbClr val="1F2937"/>
                          </a:solidFill>
                          <a:latin typeface="Calibri"/>
                        </a:rPr>
                        <a:t>end time minus start time, where the dictionary defines the end as “when the impact on traffic flow was dismissed”. Reported impact, not work done.</a:t>
                      </a:r>
                    </a:p>
                  </a:txBody>
                  <a:tcPr marL="73152" marR="73152" marT="27432" marB="27432" anchor="ctr">
                    <a:solidFill>
                      <a:srgbClr val="FFFFFF"/>
                    </a:solidFill>
                  </a:tcPr>
                </a:tc>
              </a:tr>
              <a:tr h="566928">
                <a:tc>
                  <a:txBody>
                    <a:bodyPr wrap="square"/>
                    <a:lstStyle/>
                    <a:p>
                      <a:pPr algn="l"/>
                      <a:r>
                        <a:rPr sz="1150" b="1">
                          <a:solidFill>
                            <a:srgbClr val="1F2937"/>
                          </a:solidFill>
                          <a:latin typeface="Calibri"/>
                        </a:rPr>
                        <a:t>Event length</a:t>
                      </a:r>
                    </a:p>
                  </a:txBody>
                  <a:tcPr marL="73152" marR="73152" marT="27432" marB="27432" anchor="ctr">
                    <a:solidFill>
                      <a:srgbClr val="FFFFFF"/>
                    </a:solidFill>
                  </a:tcPr>
                </a:tc>
                <a:tc>
                  <a:txBody>
                    <a:bodyPr wrap="square"/>
                    <a:lstStyle/>
                    <a:p>
                      <a:pPr algn="l"/>
                      <a:r>
                        <a:rPr sz="1150" b="0">
                          <a:solidFill>
                            <a:srgbClr val="1F2937"/>
                          </a:solidFill>
                          <a:latin typeface="Calibri"/>
                        </a:rPr>
                        <a:t>“Ranging from fixing pavements to substantial projects that could take months”, in the author's words. Multi-month events are expected, not errors.</a:t>
                      </a:r>
                    </a:p>
                  </a:txBody>
                  <a:tcPr marL="73152" marR="73152" marT="27432" marB="27432" anchor="ctr">
                    <a:solidFill>
                      <a:srgbClr val="FFFFFF"/>
                    </a:solidFill>
                  </a:tcPr>
                </a:tc>
              </a:tr>
            </a:tbl>
          </a:graphicData>
        </a:graphic>
      </p:graphicFrame>
      <p:sp>
        <p:nvSpPr>
          <p:cNvPr id="8" name="TextBox 7"/>
          <p:cNvSpPr txBox="1"/>
          <p:nvPr/>
        </p:nvSpPr>
        <p:spPr>
          <a:xfrm>
            <a:off x="7772400" y="1325880"/>
            <a:ext cx="3840480" cy="365760"/>
          </a:xfrm>
          <a:prstGeom prst="rect">
            <a:avLst/>
          </a:prstGeom>
          <a:noFill/>
        </p:spPr>
        <p:txBody>
          <a:bodyPr wrap="square" lIns="0" rIns="0" tIns="0" bIns="0" anchor="t">
            <a:spAutoFit/>
          </a:bodyPr>
          <a:lstStyle/>
          <a:p>
            <a:pPr algn="l">
              <a:lnSpc>
                <a:spcPct val="110000"/>
              </a:lnSpc>
              <a:spcAft>
                <a:spcPts val="400"/>
              </a:spcAft>
            </a:pPr>
            <a:r>
              <a:rPr sz="1500" b="1" i="0">
                <a:solidFill>
                  <a:srgbClr val="1F2937"/>
                </a:solidFill>
                <a:latin typeface="Calibri"/>
              </a:rPr>
              <a:t>What it is not</a:t>
            </a:r>
          </a:p>
        </p:txBody>
      </p:sp>
      <p:sp>
        <p:nvSpPr>
          <p:cNvPr id="9" name="TextBox 8"/>
          <p:cNvSpPr txBox="1"/>
          <p:nvPr/>
        </p:nvSpPr>
        <p:spPr>
          <a:xfrm>
            <a:off x="7772400" y="1783080"/>
            <a:ext cx="3840480" cy="4114800"/>
          </a:xfrm>
          <a:prstGeom prst="rect">
            <a:avLst/>
          </a:prstGeom>
          <a:noFill/>
        </p:spPr>
        <p:txBody>
          <a:bodyPr wrap="square" lIns="0" rIns="0" tIns="0" bIns="0" anchor="t">
            <a:spAutoFit/>
          </a:bodyPr>
          <a:lstStyle/>
          <a:p>
            <a:pPr algn="l" marL="201168" indent="-201168">
              <a:lnSpc>
                <a:spcPct val="110000"/>
              </a:lnSpc>
              <a:spcAft>
                <a:spcPts val="700"/>
              </a:spcAft>
              <a:buChar char="•"/>
            </a:pPr>
            <a:r>
              <a:rPr sz="1250" b="0" i="0">
                <a:solidFill>
                  <a:srgbClr val="1F2937"/>
                </a:solidFill>
                <a:latin typeface="Calibri"/>
              </a:rPr>
              <a:t>Not a census of construction. It is whatever the feeds broadcast, and feed coverage varies by state and over time.</a:t>
            </a:r>
          </a:p>
          <a:p>
            <a:pPr algn="l" marL="201168" indent="-201168">
              <a:lnSpc>
                <a:spcPct val="110000"/>
              </a:lnSpc>
              <a:spcAft>
                <a:spcPts val="700"/>
              </a:spcAft>
              <a:buChar char="•"/>
            </a:pPr>
            <a:r>
              <a:rPr sz="1250" b="0" i="0">
                <a:solidFill>
                  <a:srgbClr val="1F2937"/>
                </a:solidFill>
                <a:latin typeface="Calibri"/>
              </a:rPr>
              <a:t>Not a road geometry. An event is two points; the road between them is unknown.</a:t>
            </a:r>
          </a:p>
          <a:p>
            <a:pPr algn="l" marL="201168" indent="-201168">
              <a:lnSpc>
                <a:spcPct val="110000"/>
              </a:lnSpc>
              <a:spcAft>
                <a:spcPts val="700"/>
              </a:spcAft>
              <a:buChar char="•"/>
            </a:pPr>
            <a:r>
              <a:rPr sz="1250" b="0" i="0">
                <a:solidFill>
                  <a:srgbClr val="1F2937"/>
                </a:solidFill>
                <a:latin typeface="Calibri"/>
              </a:rPr>
              <a:t>Not observed times on every row. Many starts and ends are administrative stamps shared by thousands of rows.</a:t>
            </a:r>
          </a:p>
          <a:p>
            <a:pPr algn="l" marL="201168" indent="-201168">
              <a:lnSpc>
                <a:spcPct val="110000"/>
              </a:lnSpc>
              <a:spcAft>
                <a:spcPts val="700"/>
              </a:spcAft>
              <a:buChar char="•"/>
            </a:pPr>
            <a:r>
              <a:rPr sz="1250" b="0" i="0">
                <a:solidFill>
                  <a:srgbClr val="1F2937"/>
                </a:solidFill>
                <a:latin typeface="Calibri"/>
              </a:rPr>
              <a:t>Not one record per project. The same closure can be re-published daily as a fresh event.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Three problems found before any question was answered</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Each of these changes an answer. Each came from reading the data before modelling it, and each became a staging rule.</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queries/12, process.md §8  ·  data pulled 2026-10-26   ·   5</a:t>
            </a:r>
          </a:p>
        </p:txBody>
      </p:sp>
      <p:sp>
        <p:nvSpPr>
          <p:cNvPr id="7" name="Rectangle 6"/>
          <p:cNvSpPr/>
          <p:nvPr/>
        </p:nvSpPr>
        <p:spPr>
          <a:xfrm>
            <a:off x="548640" y="1371600"/>
            <a:ext cx="3566160" cy="43434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554480"/>
            <a:ext cx="310896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F2937"/>
                </a:solidFill>
                <a:latin typeface="Calibri"/>
              </a:rPr>
              <a:t>Duplicate reports</a:t>
            </a:r>
          </a:p>
        </p:txBody>
      </p:sp>
      <p:sp>
        <p:nvSpPr>
          <p:cNvPr id="9" name="TextBox 8"/>
          <p:cNvSpPr txBox="1"/>
          <p:nvPr/>
        </p:nvSpPr>
        <p:spPr>
          <a:xfrm>
            <a:off x="777240" y="1920240"/>
            <a:ext cx="3108960" cy="640080"/>
          </a:xfrm>
          <a:prstGeom prst="rect">
            <a:avLst/>
          </a:prstGeom>
          <a:noFill/>
        </p:spPr>
        <p:txBody>
          <a:bodyPr wrap="square" lIns="0" rIns="0" tIns="0" bIns="0" anchor="t">
            <a:spAutoFit/>
          </a:bodyPr>
          <a:lstStyle/>
          <a:p>
            <a:pPr algn="l">
              <a:lnSpc>
                <a:spcPct val="110000"/>
              </a:lnSpc>
              <a:spcAft>
                <a:spcPts val="400"/>
              </a:spcAft>
            </a:pPr>
            <a:r>
              <a:rPr sz="3000" b="1" i="0">
                <a:solidFill>
                  <a:srgbClr val="1368E5"/>
                </a:solidFill>
                <a:latin typeface="Calibri"/>
              </a:rPr>
              <a:t>283,041 rows</a:t>
            </a:r>
          </a:p>
        </p:txBody>
      </p:sp>
      <p:sp>
        <p:nvSpPr>
          <p:cNvPr id="10" name="TextBox 9"/>
          <p:cNvSpPr txBox="1"/>
          <p:nvPr/>
        </p:nvSpPr>
        <p:spPr>
          <a:xfrm>
            <a:off x="777240" y="2606040"/>
            <a:ext cx="3108960" cy="2971800"/>
          </a:xfrm>
          <a:prstGeom prst="rect">
            <a:avLst/>
          </a:prstGeom>
          <a:noFill/>
        </p:spPr>
        <p:txBody>
          <a:bodyPr wrap="square" lIns="0" rIns="0" tIns="0" bIns="0" anchor="t">
            <a:spAutoFit/>
          </a:bodyPr>
          <a:lstStyle/>
          <a:p>
            <a:pPr algn="l">
              <a:lnSpc>
                <a:spcPct val="110000"/>
              </a:lnSpc>
              <a:spcAft>
                <a:spcPts val="500"/>
              </a:spcAft>
            </a:pPr>
            <a:r>
              <a:rPr sz="1250" b="0" i="0">
                <a:solidFill>
                  <a:srgbClr val="1F2937"/>
                </a:solidFill>
                <a:latin typeface="Calibri"/>
              </a:rPr>
              <a:t>4.6% of the file. The same event, re-pulled by the provider on a different day: the weather columns differ, nothing else does.</a:t>
            </a:r>
          </a:p>
          <a:p>
            <a:pPr algn="l">
              <a:lnSpc>
                <a:spcPct val="110000"/>
              </a:lnSpc>
              <a:spcAft>
                <a:spcPts val="500"/>
              </a:spcAft>
            </a:pPr>
            <a:r>
              <a:rPr sz="1250" b="1" i="0">
                <a:solidFill>
                  <a:srgbClr val="1F2937"/>
                </a:solidFill>
                <a:latin typeface="Calibri"/>
              </a:rPr>
              <a:t>Rule: </a:t>
            </a:r>
            <a:r>
              <a:rPr sz="1250" b="0" i="0">
                <a:solidFill>
                  <a:srgbClr val="1F2937"/>
                </a:solidFill>
                <a:latin typeface="Calibri"/>
              </a:rPr>
              <a:t>one row per start, end, start coordinates and description.</a:t>
            </a:r>
          </a:p>
        </p:txBody>
      </p:sp>
      <p:sp>
        <p:nvSpPr>
          <p:cNvPr id="11" name="Rectangle 10"/>
          <p:cNvSpPr/>
          <p:nvPr/>
        </p:nvSpPr>
        <p:spPr>
          <a:xfrm>
            <a:off x="4297680" y="1371600"/>
            <a:ext cx="3566160" cy="43434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26280" y="1554480"/>
            <a:ext cx="310896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F2937"/>
                </a:solidFill>
                <a:latin typeface="Calibri"/>
              </a:rPr>
              <a:t>New York is five cities</a:t>
            </a:r>
          </a:p>
        </p:txBody>
      </p:sp>
      <p:sp>
        <p:nvSpPr>
          <p:cNvPr id="13" name="TextBox 12"/>
          <p:cNvSpPr txBox="1"/>
          <p:nvPr/>
        </p:nvSpPr>
        <p:spPr>
          <a:xfrm>
            <a:off x="4526280" y="1920240"/>
            <a:ext cx="3108960" cy="640080"/>
          </a:xfrm>
          <a:prstGeom prst="rect">
            <a:avLst/>
          </a:prstGeom>
          <a:noFill/>
        </p:spPr>
        <p:txBody>
          <a:bodyPr wrap="square" lIns="0" rIns="0" tIns="0" bIns="0" anchor="t">
            <a:spAutoFit/>
          </a:bodyPr>
          <a:lstStyle/>
          <a:p>
            <a:pPr algn="l">
              <a:lnSpc>
                <a:spcPct val="110000"/>
              </a:lnSpc>
              <a:spcAft>
                <a:spcPts val="400"/>
              </a:spcAft>
            </a:pPr>
            <a:r>
              <a:rPr sz="3000" b="1" i="0">
                <a:solidFill>
                  <a:srgbClr val="1368E5"/>
                </a:solidFill>
                <a:latin typeface="Calibri"/>
              </a:rPr>
              <a:t>Five boroughs</a:t>
            </a:r>
          </a:p>
        </p:txBody>
      </p:sp>
      <p:sp>
        <p:nvSpPr>
          <p:cNvPr id="14" name="TextBox 13"/>
          <p:cNvSpPr txBox="1"/>
          <p:nvPr/>
        </p:nvSpPr>
        <p:spPr>
          <a:xfrm>
            <a:off x="4526280" y="2606040"/>
            <a:ext cx="3108960" cy="2971800"/>
          </a:xfrm>
          <a:prstGeom prst="rect">
            <a:avLst/>
          </a:prstGeom>
          <a:noFill/>
        </p:spPr>
        <p:txBody>
          <a:bodyPr wrap="square" lIns="0" rIns="0" tIns="0" bIns="0" anchor="t">
            <a:spAutoFit/>
          </a:bodyPr>
          <a:lstStyle/>
          <a:p>
            <a:pPr algn="l">
              <a:lnSpc>
                <a:spcPct val="110000"/>
              </a:lnSpc>
              <a:spcAft>
                <a:spcPts val="500"/>
              </a:spcAft>
            </a:pPr>
            <a:r>
              <a:rPr sz="1250" b="0" i="0">
                <a:solidFill>
                  <a:srgbClr val="1F2937"/>
                </a:solidFill>
                <a:latin typeface="Calibri"/>
              </a:rPr>
              <a:t>The boroughs appear as separate cities, so city = “New York” is Manhattan. Each borough is exactly one New York county.</a:t>
            </a:r>
          </a:p>
          <a:p>
            <a:pPr algn="l">
              <a:lnSpc>
                <a:spcPct val="110000"/>
              </a:lnSpc>
              <a:spcAft>
                <a:spcPts val="500"/>
              </a:spcAft>
            </a:pPr>
            <a:r>
              <a:rPr sz="1250" b="1" i="0">
                <a:solidFill>
                  <a:srgbClr val="1F2937"/>
                </a:solidFill>
                <a:latin typeface="Calibri"/>
              </a:rPr>
              <a:t>Rule: </a:t>
            </a:r>
            <a:r>
              <a:rPr sz="1250" b="0" i="0">
                <a:solidFill>
                  <a:srgbClr val="1F2937"/>
                </a:solidFill>
                <a:latin typeface="Calibri"/>
              </a:rPr>
              <a:t>roll up the five county-boroughs to one city; check the other nine for the same trap (Los Angeles is the reverse case).</a:t>
            </a:r>
          </a:p>
        </p:txBody>
      </p:sp>
      <p:sp>
        <p:nvSpPr>
          <p:cNvPr id="15" name="Rectangle 14"/>
          <p:cNvSpPr/>
          <p:nvPr/>
        </p:nvSpPr>
        <p:spPr>
          <a:xfrm>
            <a:off x="8046719" y="1371600"/>
            <a:ext cx="3566160" cy="43434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75319" y="1554480"/>
            <a:ext cx="310896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F2937"/>
                </a:solidFill>
                <a:latin typeface="Calibri"/>
              </a:rPr>
              <a:t>Closures that aren't roadwork</a:t>
            </a:r>
          </a:p>
        </p:txBody>
      </p:sp>
      <p:sp>
        <p:nvSpPr>
          <p:cNvPr id="17" name="TextBox 16"/>
          <p:cNvSpPr txBox="1"/>
          <p:nvPr/>
        </p:nvSpPr>
        <p:spPr>
          <a:xfrm>
            <a:off x="8275319" y="1920240"/>
            <a:ext cx="3108960" cy="640080"/>
          </a:xfrm>
          <a:prstGeom prst="rect">
            <a:avLst/>
          </a:prstGeom>
          <a:noFill/>
        </p:spPr>
        <p:txBody>
          <a:bodyPr wrap="square" lIns="0" rIns="0" tIns="0" bIns="0" anchor="t">
            <a:spAutoFit/>
          </a:bodyPr>
          <a:lstStyle/>
          <a:p>
            <a:pPr algn="l">
              <a:lnSpc>
                <a:spcPct val="110000"/>
              </a:lnSpc>
              <a:spcAft>
                <a:spcPts val="400"/>
              </a:spcAft>
            </a:pPr>
            <a:r>
              <a:rPr sz="3000" b="1" i="0">
                <a:solidFill>
                  <a:srgbClr val="1368E5"/>
                </a:solidFill>
                <a:latin typeface="Calibri"/>
              </a:rPr>
              <a:t>1,452 events</a:t>
            </a:r>
          </a:p>
        </p:txBody>
      </p:sp>
      <p:sp>
        <p:nvSpPr>
          <p:cNvPr id="18" name="TextBox 17"/>
          <p:cNvSpPr txBox="1"/>
          <p:nvPr/>
        </p:nvSpPr>
        <p:spPr>
          <a:xfrm>
            <a:off x="8275319" y="2606040"/>
            <a:ext cx="3108960" cy="2971800"/>
          </a:xfrm>
          <a:prstGeom prst="rect">
            <a:avLst/>
          </a:prstGeom>
          <a:noFill/>
        </p:spPr>
        <p:txBody>
          <a:bodyPr wrap="square" lIns="0" rIns="0" tIns="0" bIns="0" anchor="t">
            <a:spAutoFit/>
          </a:bodyPr>
          <a:lstStyle/>
          <a:p>
            <a:pPr algn="l">
              <a:lnSpc>
                <a:spcPct val="110000"/>
              </a:lnSpc>
              <a:spcAft>
                <a:spcPts val="500"/>
              </a:spcAft>
            </a:pPr>
            <a:r>
              <a:rPr sz="1250" b="0" i="0">
                <a:solidFill>
                  <a:srgbClr val="1F2937"/>
                </a:solidFill>
                <a:latin typeface="Calibri"/>
              </a:rPr>
              <a:t>Mountain passes “closed for the winter”. The first pattern matched the word winter and swept up Winter St and Winter Haven Dr; rebuilt from the real phrasings.</a:t>
            </a:r>
          </a:p>
          <a:p>
            <a:pPr algn="l">
              <a:lnSpc>
                <a:spcPct val="110000"/>
              </a:lnSpc>
              <a:spcAft>
                <a:spcPts val="500"/>
              </a:spcAft>
            </a:pPr>
            <a:r>
              <a:rPr sz="1250" b="1" i="0">
                <a:solidFill>
                  <a:srgbClr val="1F2937"/>
                </a:solidFill>
                <a:latin typeface="Calibri"/>
              </a:rPr>
              <a:t>Rule: </a:t>
            </a:r>
            <a:r>
              <a:rPr sz="1250" b="0" i="0">
                <a:solidFill>
                  <a:srgbClr val="1F2937"/>
                </a:solidFill>
                <a:latin typeface="Calibri"/>
              </a:rPr>
              <a:t>flag as seasonal closure, keep the rows, exclude downstream. Under 0.1% of hours.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Staging: every judgment is a flag, applied downstream</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Nothing is dropped except exact duplicates, so any answer can be re-run with a rule switched off.</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stg_construction, queries/10  ·  data pulled 2026-10-26   ·   6</a:t>
            </a:r>
          </a:p>
        </p:txBody>
      </p:sp>
      <p:graphicFrame>
        <p:nvGraphicFramePr>
          <p:cNvPr id="7" name="Table 6"/>
          <p:cNvGraphicFramePr>
            <a:graphicFrameLocks noGrp="1"/>
          </p:cNvGraphicFramePr>
          <p:nvPr/>
        </p:nvGraphicFramePr>
        <p:xfrm>
          <a:off x="548640" y="1325880"/>
          <a:ext cx="11064240" cy="2944368"/>
        </p:xfrm>
        <a:graphic>
          <a:graphicData uri="http://schemas.openxmlformats.org/drawingml/2006/table">
            <a:tbl>
              <a:tblPr>
                <a:tableStyleId>{2D5ABB26-0587-4C30-8999-92F81FD0307C}</a:tableStyleId>
              </a:tblPr>
              <a:tblGrid>
                <a:gridCol w="2377440"/>
                <a:gridCol w="5760720"/>
                <a:gridCol w="2926080"/>
              </a:tblGrid>
              <a:tr h="420624">
                <a:tc>
                  <a:txBody>
                    <a:bodyPr wrap="square"/>
                    <a:lstStyle/>
                    <a:p>
                      <a:pPr algn="l"/>
                      <a:r>
                        <a:rPr sz="1150" b="1">
                          <a:solidFill>
                            <a:srgbClr val="6B7B8C"/>
                          </a:solidFill>
                          <a:latin typeface="Calibri"/>
                        </a:rPr>
                        <a:t>Column</a:t>
                      </a:r>
                    </a:p>
                  </a:txBody>
                  <a:tcPr marL="73152" marR="73152" marT="27432" marB="27432" anchor="ctr">
                    <a:solidFill>
                      <a:srgbClr val="F1F4F8"/>
                    </a:solidFill>
                    <a:lnB w="12700">
                      <a:solidFill>
                        <a:srgbClr val="DCE3EA"/>
                      </a:solidFill>
                    </a:lnB>
                  </a:tcPr>
                </a:tc>
                <a:tc>
                  <a:txBody>
                    <a:bodyPr wrap="square"/>
                    <a:lstStyle/>
                    <a:p>
                      <a:pPr algn="l"/>
                      <a:r>
                        <a:rPr sz="1150" b="1">
                          <a:solidFill>
                            <a:srgbClr val="6B7B8C"/>
                          </a:solidFill>
                          <a:latin typeface="Calibri"/>
                        </a:rPr>
                        <a:t>What it does</a:t>
                      </a:r>
                    </a:p>
                  </a:txBody>
                  <a:tcPr marL="73152" marR="73152" marT="27432" marB="27432" anchor="ctr">
                    <a:solidFill>
                      <a:srgbClr val="F1F4F8"/>
                    </a:solidFill>
                    <a:lnB w="12700">
                      <a:solidFill>
                        <a:srgbClr val="DCE3EA"/>
                      </a:solidFill>
                    </a:lnB>
                  </a:tcPr>
                </a:tc>
                <a:tc>
                  <a:txBody>
                    <a:bodyPr wrap="square"/>
                    <a:lstStyle/>
                    <a:p>
                      <a:pPr algn="r"/>
                      <a:r>
                        <a:rPr sz="1150" b="1">
                          <a:solidFill>
                            <a:srgbClr val="6B7B8C"/>
                          </a:solidFill>
                          <a:latin typeface="Calibri"/>
                        </a:rPr>
                        <a:t>Rows touched</a:t>
                      </a:r>
                    </a:p>
                  </a:txBody>
                  <a:tcPr marL="73152" marR="73152" marT="27432" marB="27432" anchor="ctr">
                    <a:solidFill>
                      <a:srgbClr val="F1F4F8"/>
                    </a:solidFill>
                    <a:lnB w="12700">
                      <a:solidFill>
                        <a:srgbClr val="DCE3EA"/>
                      </a:solidFill>
                    </a:lnB>
                  </a:tcPr>
                </a:tc>
              </a:tr>
              <a:tr h="420624">
                <a:tc>
                  <a:txBody>
                    <a:bodyPr wrap="square"/>
                    <a:lstStyle/>
                    <a:p>
                      <a:pPr algn="l"/>
                      <a:r>
                        <a:rPr sz="1150" b="0">
                          <a:solidFill>
                            <a:srgbClr val="1F2937"/>
                          </a:solidFill>
                          <a:latin typeface="Calibri"/>
                        </a:rPr>
                        <a:t>dedup (row_number)</a:t>
                      </a:r>
                    </a:p>
                  </a:txBody>
                  <a:tcPr marL="73152" marR="73152" marT="27432" marB="27432" anchor="ctr">
                    <a:solidFill>
                      <a:srgbClr val="FFFFFF"/>
                    </a:solidFill>
                  </a:tcPr>
                </a:tc>
                <a:tc>
                  <a:txBody>
                    <a:bodyPr wrap="square"/>
                    <a:lstStyle/>
                    <a:p>
                      <a:pPr algn="l"/>
                      <a:r>
                        <a:rPr sz="1150" b="0">
                          <a:solidFill>
                            <a:srgbClr val="1F2937"/>
                          </a:solidFill>
                          <a:latin typeface="Calibri"/>
                        </a:rPr>
                        <a:t>Keeps the lowest id per start, end, start coordinates and description</a:t>
                      </a:r>
                    </a:p>
                  </a:txBody>
                  <a:tcPr marL="73152" marR="73152" marT="27432" marB="27432" anchor="ctr">
                    <a:solidFill>
                      <a:srgbClr val="FFFFFF"/>
                    </a:solidFill>
                  </a:tcPr>
                </a:tc>
                <a:tc>
                  <a:txBody>
                    <a:bodyPr wrap="square"/>
                    <a:lstStyle/>
                    <a:p>
                      <a:pPr algn="r"/>
                      <a:r>
                        <a:rPr sz="1150" b="0">
                          <a:solidFill>
                            <a:srgbClr val="1F2937"/>
                          </a:solidFill>
                          <a:latin typeface="Calibri"/>
                        </a:rPr>
                        <a:t>283,041 removed</a:t>
                      </a:r>
                    </a:p>
                  </a:txBody>
                  <a:tcPr marL="73152" marR="73152" marT="27432" marB="27432" anchor="ctr">
                    <a:solidFill>
                      <a:srgbClr val="FFFFFF"/>
                    </a:solidFill>
                  </a:tcPr>
                </a:tc>
              </a:tr>
              <a:tr h="420624">
                <a:tc>
                  <a:txBody>
                    <a:bodyPr wrap="square"/>
                    <a:lstStyle/>
                    <a:p>
                      <a:pPr algn="l"/>
                      <a:r>
                        <a:rPr sz="1150" b="0">
                          <a:solidFill>
                            <a:srgbClr val="1F2937"/>
                          </a:solidFill>
                          <a:latin typeface="Calibri"/>
                        </a:rPr>
                        <a:t>city_normalized</a:t>
                      </a:r>
                    </a:p>
                  </a:txBody>
                  <a:tcPr marL="73152" marR="73152" marT="27432" marB="27432" anchor="ctr">
                    <a:solidFill>
                      <a:srgbClr val="FFFFFF"/>
                    </a:solidFill>
                  </a:tcPr>
                </a:tc>
                <a:tc>
                  <a:txBody>
                    <a:bodyPr wrap="square"/>
                    <a:lstStyle/>
                    <a:p>
                      <a:pPr algn="l"/>
                      <a:r>
                        <a:rPr sz="1150" b="0">
                          <a:solidFill>
                            <a:srgbClr val="1F2937"/>
                          </a:solidFill>
                          <a:latin typeface="Calibri"/>
                        </a:rPr>
                        <a:t>Five NY county-boroughs → New York; every other city as reported</a:t>
                      </a:r>
                    </a:p>
                  </a:txBody>
                  <a:tcPr marL="73152" marR="73152" marT="27432" marB="27432" anchor="ctr">
                    <a:solidFill>
                      <a:srgbClr val="FFFFFF"/>
                    </a:solidFill>
                  </a:tcPr>
                </a:tc>
                <a:tc>
                  <a:txBody>
                    <a:bodyPr wrap="square"/>
                    <a:lstStyle/>
                    <a:p>
                      <a:pPr algn="r"/>
                      <a:r>
                        <a:rPr sz="1150" b="0">
                          <a:solidFill>
                            <a:srgbClr val="1F2937"/>
                          </a:solidFill>
                          <a:latin typeface="Calibri"/>
                        </a:rPr>
                        <a:t>all New York rows</a:t>
                      </a:r>
                    </a:p>
                  </a:txBody>
                  <a:tcPr marL="73152" marR="73152" marT="27432" marB="27432" anchor="ctr">
                    <a:solidFill>
                      <a:srgbClr val="FFFFFF"/>
                    </a:solidFill>
                  </a:tcPr>
                </a:tc>
              </a:tr>
              <a:tr h="420624">
                <a:tc>
                  <a:txBody>
                    <a:bodyPr wrap="square"/>
                    <a:lstStyle/>
                    <a:p>
                      <a:pPr algn="l"/>
                      <a:r>
                        <a:rPr sz="1150" b="0">
                          <a:solidFill>
                            <a:srgbClr val="1F2937"/>
                          </a:solidFill>
                          <a:latin typeface="Calibri"/>
                        </a:rPr>
                        <a:t>event_type</a:t>
                      </a:r>
                    </a:p>
                  </a:txBody>
                  <a:tcPr marL="73152" marR="73152" marT="27432" marB="27432" anchor="ctr">
                    <a:solidFill>
                      <a:srgbClr val="FFFFFF"/>
                    </a:solidFill>
                  </a:tcPr>
                </a:tc>
                <a:tc>
                  <a:txBody>
                    <a:bodyPr wrap="square"/>
                    <a:lstStyle/>
                    <a:p>
                      <a:pPr algn="l"/>
                      <a:r>
                        <a:rPr sz="1150" b="0">
                          <a:solidFill>
                            <a:srgbClr val="1F2937"/>
                          </a:solidFill>
                          <a:latin typeface="Calibri"/>
                        </a:rPr>
                        <a:t>seasonal_closure when the description says so; else construction</a:t>
                      </a:r>
                    </a:p>
                  </a:txBody>
                  <a:tcPr marL="73152" marR="73152" marT="27432" marB="27432" anchor="ctr">
                    <a:solidFill>
                      <a:srgbClr val="FFFFFF"/>
                    </a:solidFill>
                  </a:tcPr>
                </a:tc>
                <a:tc>
                  <a:txBody>
                    <a:bodyPr wrap="square"/>
                    <a:lstStyle/>
                    <a:p>
                      <a:pPr algn="r"/>
                      <a:r>
                        <a:rPr sz="1150" b="0">
                          <a:solidFill>
                            <a:srgbClr val="1F2937"/>
                          </a:solidFill>
                          <a:latin typeface="Calibri"/>
                        </a:rPr>
                        <a:t>1,452 seasonal</a:t>
                      </a:r>
                    </a:p>
                  </a:txBody>
                  <a:tcPr marL="73152" marR="73152" marT="27432" marB="27432" anchor="ctr">
                    <a:solidFill>
                      <a:srgbClr val="FFFFFF"/>
                    </a:solidFill>
                  </a:tcPr>
                </a:tc>
              </a:tr>
              <a:tr h="420624">
                <a:tc>
                  <a:txBody>
                    <a:bodyPr wrap="square"/>
                    <a:lstStyle/>
                    <a:p>
                      <a:pPr algn="l"/>
                      <a:r>
                        <a:rPr sz="1150" b="0">
                          <a:solidFill>
                            <a:srgbClr val="1F2937"/>
                          </a:solidFill>
                          <a:latin typeface="Calibri"/>
                        </a:rPr>
                        <a:t>is_batch_start / end</a:t>
                      </a:r>
                    </a:p>
                  </a:txBody>
                  <a:tcPr marL="73152" marR="73152" marT="27432" marB="27432" anchor="ctr">
                    <a:solidFill>
                      <a:srgbClr val="FFFFFF"/>
                    </a:solidFill>
                  </a:tcPr>
                </a:tc>
                <a:tc>
                  <a:txBody>
                    <a:bodyPr wrap="square"/>
                    <a:lstStyle/>
                    <a:p>
                      <a:pPr algn="l"/>
                      <a:r>
                        <a:rPr sz="1150" b="0">
                          <a:solidFill>
                            <a:srgbClr val="1F2937"/>
                          </a:solidFill>
                          <a:latin typeface="Calibri"/>
                        </a:rPr>
                        <a:t>The exact timestamp is shared by 100+ rows: an administrative stamp, not an observed time</a:t>
                      </a:r>
                    </a:p>
                  </a:txBody>
                  <a:tcPr marL="73152" marR="73152" marT="27432" marB="27432" anchor="ctr">
                    <a:solidFill>
                      <a:srgbClr val="FFFFFF"/>
                    </a:solidFill>
                  </a:tcPr>
                </a:tc>
                <a:tc>
                  <a:txBody>
                    <a:bodyPr wrap="square"/>
                    <a:lstStyle/>
                    <a:p>
                      <a:pPr algn="r"/>
                      <a:r>
                        <a:rPr sz="1150" b="0">
                          <a:solidFill>
                            <a:srgbClr val="1F2937"/>
                          </a:solidFill>
                          <a:latin typeface="Calibri"/>
                        </a:rPr>
                        <a:t>433,466 / 534,664  (7.4% / 9.1%)</a:t>
                      </a:r>
                    </a:p>
                  </a:txBody>
                  <a:tcPr marL="73152" marR="73152" marT="27432" marB="27432" anchor="ctr">
                    <a:solidFill>
                      <a:srgbClr val="FFFFFF"/>
                    </a:solidFill>
                  </a:tcPr>
                </a:tc>
              </a:tr>
              <a:tr h="420624">
                <a:tc>
                  <a:txBody>
                    <a:bodyPr wrap="square"/>
                    <a:lstStyle/>
                    <a:p>
                      <a:pPr algn="l"/>
                      <a:r>
                        <a:rPr sz="1150" b="0">
                          <a:solidFill>
                            <a:srgbClr val="1F2937"/>
                          </a:solidFill>
                          <a:latin typeface="Calibri"/>
                        </a:rPr>
                        <a:t>is_open_at_extract</a:t>
                      </a:r>
                    </a:p>
                  </a:txBody>
                  <a:tcPr marL="73152" marR="73152" marT="27432" marB="27432" anchor="ctr">
                    <a:solidFill>
                      <a:srgbClr val="FFFFFF"/>
                    </a:solidFill>
                  </a:tcPr>
                </a:tc>
                <a:tc>
                  <a:txBody>
                    <a:bodyPr wrap="square"/>
                    <a:lstStyle/>
                    <a:p>
                      <a:pPr algn="l"/>
                      <a:r>
                        <a:rPr sz="1150" b="0">
                          <a:solidFill>
                            <a:srgbClr val="1F2937"/>
                          </a:solidFill>
                          <a:latin typeface="Calibri"/>
                        </a:rPr>
                        <a:t>end time equals the extract cutoff, 2022-01-01</a:t>
                      </a:r>
                    </a:p>
                  </a:txBody>
                  <a:tcPr marL="73152" marR="73152" marT="27432" marB="27432" anchor="ctr">
                    <a:solidFill>
                      <a:srgbClr val="FFFFFF"/>
                    </a:solidFill>
                  </a:tcPr>
                </a:tc>
                <a:tc>
                  <a:txBody>
                    <a:bodyPr wrap="square"/>
                    <a:lstStyle/>
                    <a:p>
                      <a:pPr algn="r"/>
                      <a:r>
                        <a:rPr sz="1150" b="0">
                          <a:solidFill>
                            <a:srgbClr val="1F2937"/>
                          </a:solidFill>
                          <a:latin typeface="Calibri"/>
                        </a:rPr>
                        <a:t>60</a:t>
                      </a:r>
                    </a:p>
                  </a:txBody>
                  <a:tcPr marL="73152" marR="73152" marT="27432" marB="27432" anchor="ctr">
                    <a:solidFill>
                      <a:srgbClr val="FFFFFF"/>
                    </a:solidFill>
                  </a:tcPr>
                </a:tc>
              </a:tr>
              <a:tr h="420624">
                <a:tc>
                  <a:txBody>
                    <a:bodyPr wrap="square"/>
                    <a:lstStyle/>
                    <a:p>
                      <a:pPr algn="l"/>
                      <a:r>
                        <a:rPr sz="1150" b="0">
                          <a:solidFill>
                            <a:srgbClr val="1F2937"/>
                          </a:solidFill>
                          <a:latin typeface="Calibri"/>
                        </a:rPr>
                        <a:t>duration_hours</a:t>
                      </a:r>
                    </a:p>
                  </a:txBody>
                  <a:tcPr marL="73152" marR="73152" marT="27432" marB="27432" anchor="ctr">
                    <a:solidFill>
                      <a:srgbClr val="FFFFFF"/>
                    </a:solidFill>
                  </a:tcPr>
                </a:tc>
                <a:tc>
                  <a:txBody>
                    <a:bodyPr wrap="square"/>
                    <a:lstStyle/>
                    <a:p>
                      <a:pPr algn="l"/>
                      <a:r>
                        <a:rPr sz="1150" b="0">
                          <a:solidFill>
                            <a:srgbClr val="1F2937"/>
                          </a:solidFill>
                          <a:latin typeface="Calibri"/>
                        </a:rPr>
                        <a:t>end minus start, in hours</a:t>
                      </a:r>
                    </a:p>
                  </a:txBody>
                  <a:tcPr marL="73152" marR="73152" marT="27432" marB="27432" anchor="ctr">
                    <a:solidFill>
                      <a:srgbClr val="FFFFFF"/>
                    </a:solidFill>
                  </a:tcPr>
                </a:tc>
                <a:tc>
                  <a:txBody>
                    <a:bodyPr wrap="square"/>
                    <a:lstStyle/>
                    <a:p>
                      <a:pPr algn="r"/>
                      <a:r>
                        <a:rPr sz="1150" b="0">
                          <a:solidFill>
                            <a:srgbClr val="1F2937"/>
                          </a:solidFill>
                          <a:latin typeface="Calibri"/>
                        </a:rPr>
                        <a:t>mean 398, median 7</a:t>
                      </a:r>
                    </a:p>
                  </a:txBody>
                  <a:tcPr marL="73152" marR="73152" marT="27432" marB="27432" anchor="ctr">
                    <a:solidFill>
                      <a:srgbClr val="FFFFFF"/>
                    </a:solidFill>
                  </a:tcPr>
                </a:tc>
              </a:tr>
            </a:tbl>
          </a:graphicData>
        </a:graphic>
      </p:graphicFrame>
      <p:sp>
        <p:nvSpPr>
          <p:cNvPr id="8" name="TextBox 7"/>
          <p:cNvSpPr txBox="1"/>
          <p:nvPr/>
        </p:nvSpPr>
        <p:spPr>
          <a:xfrm>
            <a:off x="548640" y="4480560"/>
            <a:ext cx="11064240" cy="1554480"/>
          </a:xfrm>
          <a:prstGeom prst="rect">
            <a:avLst/>
          </a:prstGeom>
          <a:noFill/>
        </p:spPr>
        <p:txBody>
          <a:bodyPr wrap="square" lIns="0" rIns="0" tIns="0" bIns="0" anchor="t">
            <a:spAutoFit/>
          </a:bodyPr>
          <a:lstStyle/>
          <a:p>
            <a:pPr algn="l" marL="201168" indent="-201168">
              <a:lnSpc>
                <a:spcPct val="110000"/>
              </a:lnSpc>
              <a:spcAft>
                <a:spcPts val="600"/>
              </a:spcAft>
              <a:buChar char="•"/>
            </a:pPr>
            <a:r>
              <a:rPr sz="1250" b="0" i="0">
                <a:solidFill>
                  <a:srgbClr val="1F2937"/>
                </a:solidFill>
                <a:latin typeface="Calibri"/>
              </a:rPr>
              <a:t>Tests on the staged table: unique on the dedup key, not null on time, city and state, severity in 1–4, start before end. No negative durations exist in this extract.</a:t>
            </a:r>
          </a:p>
          <a:p>
            <a:pPr algn="l" marL="201168" indent="-201168">
              <a:lnSpc>
                <a:spcPct val="110000"/>
              </a:lnSpc>
              <a:spcAft>
                <a:spcPts val="600"/>
              </a:spcAft>
              <a:buChar char="•"/>
            </a:pPr>
            <a:r>
              <a:rPr sz="1250" b="0" i="0">
                <a:solidFill>
                  <a:srgbClr val="1F2937"/>
                </a:solidFill>
                <a:latin typeface="Calibri"/>
              </a:rPr>
              <a:t>The mean of 398 hours against a median of 7 says the totals are carried by a long tail of multi-day advisories, not by the typical event. That is why Q1 shows events and hours side by side.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Q1 — New York has the most construction hours, under this definition</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New York averaged about 2,459 active construction advisories at any moment of the five years; Phoenix about 2,105.</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queries/02, int_city_month_hours  ·  data pulled 2026-10-26   ·   7</a:t>
            </a:r>
          </a:p>
        </p:txBody>
      </p:sp>
      <p:pic>
        <p:nvPicPr>
          <p:cNvPr id="7" name="Picture 6" descr="q1_ten_cities.png"/>
          <p:cNvPicPr>
            <a:picLocks noChangeAspect="1"/>
          </p:cNvPicPr>
          <p:nvPr/>
        </p:nvPicPr>
        <p:blipFill>
          <a:blip r:embed="rId3"/>
          <a:stretch>
            <a:fillRect/>
          </a:stretch>
        </p:blipFill>
        <p:spPr>
          <a:xfrm>
            <a:off x="548640" y="1280160"/>
            <a:ext cx="7223760" cy="3002847"/>
          </a:xfrm>
          <a:prstGeom prst="rect">
            <a:avLst/>
          </a:prstGeom>
        </p:spPr>
      </p:pic>
      <p:sp>
        <p:nvSpPr>
          <p:cNvPr id="8" name="TextBox 7"/>
          <p:cNvSpPr txBox="1"/>
          <p:nvPr/>
        </p:nvSpPr>
        <p:spPr>
          <a:xfrm>
            <a:off x="548640" y="4343400"/>
            <a:ext cx="7223760" cy="320040"/>
          </a:xfrm>
          <a:prstGeom prst="rect">
            <a:avLst/>
          </a:prstGeom>
          <a:noFill/>
        </p:spPr>
        <p:txBody>
          <a:bodyPr wrap="square" lIns="0" rIns="0" tIns="0" bIns="0" anchor="t">
            <a:spAutoFit/>
          </a:bodyPr>
          <a:lstStyle/>
          <a:p>
            <a:pPr algn="l">
              <a:lnSpc>
                <a:spcPct val="110000"/>
              </a:lnSpc>
              <a:spcAft>
                <a:spcPts val="400"/>
              </a:spcAft>
            </a:pPr>
            <a:r>
              <a:rPr sz="1000" b="0" i="0">
                <a:solidFill>
                  <a:srgbClr val="6B7B8C"/>
                </a:solidFill>
                <a:latin typeface="Calibri"/>
              </a:rPr>
              <a:t>Ten largest US cities, 2017–2021, deduplicated, seasonal closures excluded. Hours are allocated to the months each event was active.</a:t>
            </a:r>
          </a:p>
        </p:txBody>
      </p:sp>
      <p:sp>
        <p:nvSpPr>
          <p:cNvPr id="9" name="TextBox 8"/>
          <p:cNvSpPr txBox="1"/>
          <p:nvPr/>
        </p:nvSpPr>
        <p:spPr>
          <a:xfrm>
            <a:off x="8138160" y="1325880"/>
            <a:ext cx="347472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F2937"/>
                </a:solidFill>
                <a:latin typeface="Calibri"/>
              </a:rPr>
              <a:t>Two things that change the answer</a:t>
            </a:r>
          </a:p>
        </p:txBody>
      </p:sp>
      <p:sp>
        <p:nvSpPr>
          <p:cNvPr id="10" name="TextBox 9"/>
          <p:cNvSpPr txBox="1"/>
          <p:nvPr/>
        </p:nvSpPr>
        <p:spPr>
          <a:xfrm>
            <a:off x="8138160" y="1783080"/>
            <a:ext cx="3474720" cy="2926080"/>
          </a:xfrm>
          <a:prstGeom prst="rect">
            <a:avLst/>
          </a:prstGeom>
          <a:noFill/>
        </p:spPr>
        <p:txBody>
          <a:bodyPr wrap="square" lIns="0" rIns="0" tIns="0" bIns="0" anchor="t">
            <a:spAutoFit/>
          </a:bodyPr>
          <a:lstStyle/>
          <a:p>
            <a:pPr algn="l" marL="201168" indent="-201168">
              <a:lnSpc>
                <a:spcPct val="110000"/>
              </a:lnSpc>
              <a:spcAft>
                <a:spcPts val="700"/>
              </a:spcAft>
              <a:buChar char="•"/>
            </a:pPr>
            <a:r>
              <a:rPr sz="1250" b="1" i="0">
                <a:solidFill>
                  <a:srgbClr val="1F2937"/>
                </a:solidFill>
                <a:latin typeface="Calibri"/>
              </a:rPr>
              <a:t>Manhattan alone would not lead. </a:t>
            </a:r>
            <a:r>
              <a:rPr sz="1250" b="0" i="0">
                <a:solidFill>
                  <a:srgbClr val="1F2937"/>
                </a:solidFill>
                <a:latin typeface="Calibri"/>
              </a:rPr>
              <a:t>The five-borough rollup is what puts New York first.</a:t>
            </a:r>
          </a:p>
          <a:p>
            <a:pPr algn="l" marL="201168" indent="-201168">
              <a:lnSpc>
                <a:spcPct val="110000"/>
              </a:lnSpc>
              <a:spcAft>
                <a:spcPts val="700"/>
              </a:spcAft>
              <a:buChar char="•"/>
            </a:pPr>
            <a:r>
              <a:rPr sz="1250" b="1" i="0">
                <a:solidFill>
                  <a:srgbClr val="1F2937"/>
                </a:solidFill>
                <a:latin typeface="Calibri"/>
              </a:rPr>
              <a:t>Drop the batch-stamped rows and it is a near tie: </a:t>
            </a:r>
            <a:r>
              <a:rPr sz="1250" b="0" i="0">
                <a:solidFill>
                  <a:srgbClr val="1F2937"/>
                </a:solidFill>
                <a:latin typeface="Calibri"/>
              </a:rPr>
              <a:t>83.1M to 82.0M (1.01×).</a:t>
            </a:r>
          </a:p>
          <a:p>
            <a:pPr algn="l" marL="201168" indent="-201168">
              <a:lnSpc>
                <a:spcPct val="110000"/>
              </a:lnSpc>
              <a:spcAft>
                <a:spcPts val="700"/>
              </a:spcAft>
              <a:buChar char="•"/>
            </a:pPr>
            <a:r>
              <a:rPr sz="1250" b="0" i="0">
                <a:solidFill>
                  <a:srgbClr val="1F2937"/>
                </a:solidFill>
                <a:latin typeface="Calibri"/>
              </a:rPr>
              <a:t>Phoenix outranking Los Angeles and Chicago by this much is more plausibly a reporting effect than a construction one: the feeds aggregate what each state DOT publishes.</a:t>
            </a:r>
          </a:p>
        </p:txBody>
      </p:sp>
      <p:sp>
        <p:nvSpPr>
          <p:cNvPr id="11" name="TextBox 10"/>
          <p:cNvSpPr txBox="1"/>
          <p:nvPr/>
        </p:nvSpPr>
        <p:spPr>
          <a:xfrm>
            <a:off x="8138160" y="4572000"/>
            <a:ext cx="3474720" cy="1371600"/>
          </a:xfrm>
          <a:prstGeom prst="rect">
            <a:avLst/>
          </a:prstGeom>
          <a:noFill/>
        </p:spPr>
        <p:txBody>
          <a:bodyPr wrap="square" lIns="0" rIns="0" tIns="0" bIns="0" anchor="t">
            <a:spAutoFit/>
          </a:bodyPr>
          <a:lstStyle/>
          <a:p>
            <a:pPr algn="l">
              <a:lnSpc>
                <a:spcPct val="110000"/>
              </a:lnSpc>
              <a:spcAft>
                <a:spcPts val="400"/>
              </a:spcAft>
            </a:pPr>
            <a:r>
              <a:rPr sz="1250" b="1" i="0">
                <a:solidFill>
                  <a:srgbClr val="1F2937"/>
                </a:solidFill>
                <a:latin typeface="Calibri"/>
              </a:rPr>
              <a:t>Answer: </a:t>
            </a:r>
            <a:r>
              <a:rPr sz="1250" b="0" i="0">
                <a:solidFill>
                  <a:srgbClr val="1F2937"/>
                </a:solidFill>
                <a:latin typeface="Calibri"/>
              </a:rPr>
              <a:t>New York, with Phoenix close behind and both far ahead of the rest. The order of those two depends on two definitional choices, both stated.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Q2 — every city jumped 3–10× in 2021: the source changed, not the roads</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82% of New York's five-year total is 2021 alone, so “the past five years” is mostly one year of a different feed.</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queries/03, int_city_month_hours  ·  data pulled 2026-10-26   ·   8</a:t>
            </a:r>
          </a:p>
        </p:txBody>
      </p:sp>
      <p:pic>
        <p:nvPicPr>
          <p:cNvPr id="7" name="Picture 6" descr="q2_city_small_multiples.png"/>
          <p:cNvPicPr>
            <a:picLocks noChangeAspect="1"/>
          </p:cNvPicPr>
          <p:nvPr/>
        </p:nvPicPr>
        <p:blipFill>
          <a:blip r:embed="rId3"/>
          <a:stretch>
            <a:fillRect/>
          </a:stretch>
        </p:blipFill>
        <p:spPr>
          <a:xfrm>
            <a:off x="1097280" y="1234439"/>
            <a:ext cx="8845705" cy="4343400"/>
          </a:xfrm>
          <a:prstGeom prst="rect">
            <a:avLst/>
          </a:prstGeom>
        </p:spPr>
      </p:pic>
      <p:sp>
        <p:nvSpPr>
          <p:cNvPr id="8" name="TextBox 7"/>
          <p:cNvSpPr txBox="1"/>
          <p:nvPr/>
        </p:nvSpPr>
        <p:spPr>
          <a:xfrm>
            <a:off x="548640" y="5669279"/>
            <a:ext cx="11064240" cy="320040"/>
          </a:xfrm>
          <a:prstGeom prst="rect">
            <a:avLst/>
          </a:prstGeom>
          <a:noFill/>
        </p:spPr>
        <p:txBody>
          <a:bodyPr wrap="square" lIns="0" rIns="0" tIns="0" bIns="0" anchor="t">
            <a:spAutoFit/>
          </a:bodyPr>
          <a:lstStyle/>
          <a:p>
            <a:pPr algn="l">
              <a:lnSpc>
                <a:spcPct val="110000"/>
              </a:lnSpc>
              <a:spcAft>
                <a:spcPts val="400"/>
              </a:spcAft>
            </a:pPr>
            <a:r>
              <a:rPr sz="1000" b="0" i="0">
                <a:solidFill>
                  <a:srgbClr val="6B7B8C"/>
                </a:solidFill>
                <a:latin typeface="Calibri"/>
              </a:rPr>
              <a:t>Ten cities in ten states under different DOTs do not all have an eight-fold construction boom in the same year. Presenting the 2021 line as “construction increased” would be wrong.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Q2 — three changes in the feed, dated from the data itself</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The trend is readable 2017 to about September 2021; after that the file is missing the events that were still open when it was cut.</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queries/04, queries/05  ·  data pulled 2026-10-26   ·   9</a:t>
            </a:r>
          </a:p>
        </p:txBody>
      </p:sp>
      <p:pic>
        <p:nvPicPr>
          <p:cNvPr id="7" name="Picture 6" descr="q2_national_monthly.png"/>
          <p:cNvPicPr>
            <a:picLocks noChangeAspect="1"/>
          </p:cNvPicPr>
          <p:nvPr/>
        </p:nvPicPr>
        <p:blipFill>
          <a:blip r:embed="rId3"/>
          <a:stretch>
            <a:fillRect/>
          </a:stretch>
        </p:blipFill>
        <p:spPr>
          <a:xfrm>
            <a:off x="548640" y="1234439"/>
            <a:ext cx="6949440" cy="3352701"/>
          </a:xfrm>
          <a:prstGeom prst="rect">
            <a:avLst/>
          </a:prstGeom>
        </p:spPr>
      </p:pic>
      <p:sp>
        <p:nvSpPr>
          <p:cNvPr id="8" name="TextBox 7"/>
          <p:cNvSpPr txBox="1"/>
          <p:nvPr/>
        </p:nvSpPr>
        <p:spPr>
          <a:xfrm>
            <a:off x="7772400" y="1325880"/>
            <a:ext cx="3931920" cy="365760"/>
          </a:xfrm>
          <a:prstGeom prst="rect">
            <a:avLst/>
          </a:prstGeom>
          <a:noFill/>
        </p:spPr>
        <p:txBody>
          <a:bodyPr wrap="square" lIns="0" rIns="0" tIns="0" bIns="0" anchor="t">
            <a:spAutoFit/>
          </a:bodyPr>
          <a:lstStyle/>
          <a:p>
            <a:pPr algn="l">
              <a:lnSpc>
                <a:spcPct val="110000"/>
              </a:lnSpc>
              <a:spcAft>
                <a:spcPts val="400"/>
              </a:spcAft>
            </a:pPr>
            <a:r>
              <a:rPr sz="1300" b="1" i="0">
                <a:solidFill>
                  <a:srgbClr val="1F2937"/>
                </a:solidFill>
                <a:latin typeface="Calibri"/>
              </a:rPr>
              <a:t>By start year, construction events</a:t>
            </a:r>
          </a:p>
        </p:txBody>
      </p:sp>
      <p:graphicFrame>
        <p:nvGraphicFramePr>
          <p:cNvPr id="9" name="Table 8"/>
          <p:cNvGraphicFramePr>
            <a:graphicFrameLocks noGrp="1"/>
          </p:cNvGraphicFramePr>
          <p:nvPr/>
        </p:nvGraphicFramePr>
        <p:xfrm>
          <a:off x="7772400" y="1737360"/>
          <a:ext cx="3931920" cy="1920240"/>
        </p:xfrm>
        <a:graphic>
          <a:graphicData uri="http://schemas.openxmlformats.org/drawingml/2006/table">
            <a:tbl>
              <a:tblPr>
                <a:tableStyleId>{2D5ABB26-0587-4C30-8999-92F81FD0307C}</a:tableStyleId>
              </a:tblPr>
              <a:tblGrid>
                <a:gridCol w="640080"/>
                <a:gridCol w="914400"/>
                <a:gridCol w="777240"/>
                <a:gridCol w="777240"/>
                <a:gridCol w="822960"/>
              </a:tblGrid>
              <a:tr h="274320">
                <a:tc>
                  <a:txBody>
                    <a:bodyPr wrap="square"/>
                    <a:lstStyle/>
                    <a:p>
                      <a:pPr algn="l"/>
                      <a:r>
                        <a:rPr sz="1050" b="1">
                          <a:solidFill>
                            <a:srgbClr val="6B7B8C"/>
                          </a:solidFill>
                          <a:latin typeface="Calibri"/>
                        </a:rPr>
                        <a:t>Year</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Events</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Median h</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 = 96 h</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 &lt; 1 h</a:t>
                      </a:r>
                    </a:p>
                  </a:txBody>
                  <a:tcPr marL="73152" marR="73152" marT="27432" marB="27432" anchor="ctr">
                    <a:solidFill>
                      <a:srgbClr val="F1F4F8"/>
                    </a:solidFill>
                    <a:lnB w="12700">
                      <a:solidFill>
                        <a:srgbClr val="DCE3EA"/>
                      </a:solidFill>
                    </a:lnB>
                  </a:tcPr>
                </a:tc>
              </a:tr>
              <a:tr h="274320">
                <a:tc>
                  <a:txBody>
                    <a:bodyPr wrap="square"/>
                    <a:lstStyle/>
                    <a:p>
                      <a:pPr algn="l"/>
                      <a:r>
                        <a:rPr sz="1050" b="0">
                          <a:solidFill>
                            <a:srgbClr val="1F2937"/>
                          </a:solidFill>
                          <a:latin typeface="Calibri"/>
                        </a:rPr>
                        <a:t>2016</a:t>
                      </a:r>
                    </a:p>
                  </a:txBody>
                  <a:tcPr marL="73152" marR="73152" marT="27432" marB="27432" anchor="ctr">
                    <a:solidFill>
                      <a:srgbClr val="FFFFFF"/>
                    </a:solidFill>
                  </a:tcPr>
                </a:tc>
                <a:tc>
                  <a:txBody>
                    <a:bodyPr wrap="square"/>
                    <a:lstStyle/>
                    <a:p>
                      <a:pPr algn="r"/>
                      <a:r>
                        <a:rPr sz="1050" b="0">
                          <a:solidFill>
                            <a:srgbClr val="1F2937"/>
                          </a:solidFill>
                          <a:latin typeface="Calibri"/>
                        </a:rPr>
                        <a:t>147k</a:t>
                      </a:r>
                    </a:p>
                  </a:txBody>
                  <a:tcPr marL="73152" marR="73152" marT="27432" marB="27432" anchor="ctr">
                    <a:solidFill>
                      <a:srgbClr val="FFFFFF"/>
                    </a:solidFill>
                  </a:tcPr>
                </a:tc>
                <a:tc>
                  <a:txBody>
                    <a:bodyPr wrap="square"/>
                    <a:lstStyle/>
                    <a:p>
                      <a:pPr algn="r"/>
                      <a:r>
                        <a:rPr sz="1050" b="0">
                          <a:solidFill>
                            <a:srgbClr val="1F2937"/>
                          </a:solidFill>
                          <a:latin typeface="Calibri"/>
                        </a:rPr>
                        <a:t>6</a:t>
                      </a:r>
                    </a:p>
                  </a:txBody>
                  <a:tcPr marL="73152" marR="73152" marT="27432" marB="27432" anchor="ctr">
                    <a:solidFill>
                      <a:srgbClr val="FFFFFF"/>
                    </a:solidFill>
                  </a:tcPr>
                </a:tc>
                <a:tc>
                  <a:txBody>
                    <a:bodyPr wrap="square"/>
                    <a:lstStyle/>
                    <a:p>
                      <a:pPr algn="r"/>
                      <a:r>
                        <a:rPr sz="1050" b="0">
                          <a:solidFill>
                            <a:srgbClr val="1F2937"/>
                          </a:solidFill>
                          <a:latin typeface="Calibri"/>
                        </a:rPr>
                        <a:t>0.2</a:t>
                      </a:r>
                    </a:p>
                  </a:txBody>
                  <a:tcPr marL="73152" marR="73152" marT="27432" marB="27432" anchor="ctr">
                    <a:solidFill>
                      <a:srgbClr val="FFFFFF"/>
                    </a:solidFill>
                  </a:tcPr>
                </a:tc>
                <a:tc>
                  <a:txBody>
                    <a:bodyPr wrap="square"/>
                    <a:lstStyle/>
                    <a:p>
                      <a:pPr algn="r"/>
                      <a:r>
                        <a:rPr sz="1050" b="0">
                          <a:solidFill>
                            <a:srgbClr val="1F2937"/>
                          </a:solidFill>
                          <a:latin typeface="Calibri"/>
                        </a:rPr>
                        <a:t>0.6</a:t>
                      </a:r>
                    </a:p>
                  </a:txBody>
                  <a:tcPr marL="73152" marR="73152" marT="27432" marB="27432" anchor="ctr">
                    <a:solidFill>
                      <a:srgbClr val="FFFFFF"/>
                    </a:solidFill>
                  </a:tcPr>
                </a:tc>
              </a:tr>
              <a:tr h="274320">
                <a:tc>
                  <a:txBody>
                    <a:bodyPr wrap="square"/>
                    <a:lstStyle/>
                    <a:p>
                      <a:pPr algn="l"/>
                      <a:r>
                        <a:rPr sz="1050" b="0">
                          <a:solidFill>
                            <a:srgbClr val="1F2937"/>
                          </a:solidFill>
                          <a:latin typeface="Calibri"/>
                        </a:rPr>
                        <a:t>2017</a:t>
                      </a:r>
                    </a:p>
                  </a:txBody>
                  <a:tcPr marL="73152" marR="73152" marT="27432" marB="27432" anchor="ctr">
                    <a:solidFill>
                      <a:srgbClr val="FFFFFF"/>
                    </a:solidFill>
                  </a:tcPr>
                </a:tc>
                <a:tc>
                  <a:txBody>
                    <a:bodyPr wrap="square"/>
                    <a:lstStyle/>
                    <a:p>
                      <a:pPr algn="r"/>
                      <a:r>
                        <a:rPr sz="1050" b="0">
                          <a:solidFill>
                            <a:srgbClr val="1F2937"/>
                          </a:solidFill>
                          <a:latin typeface="Calibri"/>
                        </a:rPr>
                        <a:t>200k</a:t>
                      </a:r>
                    </a:p>
                  </a:txBody>
                  <a:tcPr marL="73152" marR="73152" marT="27432" marB="27432" anchor="ctr">
                    <a:solidFill>
                      <a:srgbClr val="FFFFFF"/>
                    </a:solidFill>
                  </a:tcPr>
                </a:tc>
                <a:tc>
                  <a:txBody>
                    <a:bodyPr wrap="square"/>
                    <a:lstStyle/>
                    <a:p>
                      <a:pPr algn="r"/>
                      <a:r>
                        <a:rPr sz="1050" b="0">
                          <a:solidFill>
                            <a:srgbClr val="1F2937"/>
                          </a:solidFill>
                          <a:latin typeface="Calibri"/>
                        </a:rPr>
                        <a:t>6</a:t>
                      </a:r>
                    </a:p>
                  </a:txBody>
                  <a:tcPr marL="73152" marR="73152" marT="27432" marB="27432" anchor="ctr">
                    <a:solidFill>
                      <a:srgbClr val="FFFFFF"/>
                    </a:solidFill>
                  </a:tcPr>
                </a:tc>
                <a:tc>
                  <a:txBody>
                    <a:bodyPr wrap="square"/>
                    <a:lstStyle/>
                    <a:p>
                      <a:pPr algn="r"/>
                      <a:r>
                        <a:rPr sz="1050" b="0">
                          <a:solidFill>
                            <a:srgbClr val="1F2937"/>
                          </a:solidFill>
                          <a:latin typeface="Calibri"/>
                        </a:rPr>
                        <a:t>0.1</a:t>
                      </a:r>
                    </a:p>
                  </a:txBody>
                  <a:tcPr marL="73152" marR="73152" marT="27432" marB="27432" anchor="ctr">
                    <a:solidFill>
                      <a:srgbClr val="FFFFFF"/>
                    </a:solidFill>
                  </a:tcPr>
                </a:tc>
                <a:tc>
                  <a:txBody>
                    <a:bodyPr wrap="square"/>
                    <a:lstStyle/>
                    <a:p>
                      <a:pPr algn="r"/>
                      <a:r>
                        <a:rPr sz="1050" b="0">
                          <a:solidFill>
                            <a:srgbClr val="1F2937"/>
                          </a:solidFill>
                          <a:latin typeface="Calibri"/>
                        </a:rPr>
                        <a:t>1.2</a:t>
                      </a:r>
                    </a:p>
                  </a:txBody>
                  <a:tcPr marL="73152" marR="73152" marT="27432" marB="27432" anchor="ctr">
                    <a:solidFill>
                      <a:srgbClr val="FFFFFF"/>
                    </a:solidFill>
                  </a:tcPr>
                </a:tc>
              </a:tr>
              <a:tr h="274320">
                <a:tc>
                  <a:txBody>
                    <a:bodyPr wrap="square"/>
                    <a:lstStyle/>
                    <a:p>
                      <a:pPr algn="l"/>
                      <a:r>
                        <a:rPr sz="1050" b="0">
                          <a:solidFill>
                            <a:srgbClr val="1F2937"/>
                          </a:solidFill>
                          <a:latin typeface="Calibri"/>
                        </a:rPr>
                        <a:t>2018</a:t>
                      </a:r>
                    </a:p>
                  </a:txBody>
                  <a:tcPr marL="73152" marR="73152" marT="27432" marB="27432" anchor="ctr">
                    <a:solidFill>
                      <a:srgbClr val="FFFFFF"/>
                    </a:solidFill>
                  </a:tcPr>
                </a:tc>
                <a:tc>
                  <a:txBody>
                    <a:bodyPr wrap="square"/>
                    <a:lstStyle/>
                    <a:p>
                      <a:pPr algn="r"/>
                      <a:r>
                        <a:rPr sz="1050" b="0">
                          <a:solidFill>
                            <a:srgbClr val="1F2937"/>
                          </a:solidFill>
                          <a:latin typeface="Calibri"/>
                        </a:rPr>
                        <a:t>307k</a:t>
                      </a:r>
                    </a:p>
                  </a:txBody>
                  <a:tcPr marL="73152" marR="73152" marT="27432" marB="27432" anchor="ctr">
                    <a:solidFill>
                      <a:srgbClr val="FFFFFF"/>
                    </a:solidFill>
                  </a:tcPr>
                </a:tc>
                <a:tc>
                  <a:txBody>
                    <a:bodyPr wrap="square"/>
                    <a:lstStyle/>
                    <a:p>
                      <a:pPr algn="r"/>
                      <a:r>
                        <a:rPr sz="1050" b="0">
                          <a:solidFill>
                            <a:srgbClr val="1F2937"/>
                          </a:solidFill>
                          <a:latin typeface="Calibri"/>
                        </a:rPr>
                        <a:t>8</a:t>
                      </a:r>
                    </a:p>
                  </a:txBody>
                  <a:tcPr marL="73152" marR="73152" marT="27432" marB="27432" anchor="ctr">
                    <a:solidFill>
                      <a:srgbClr val="FFFFFF"/>
                    </a:solidFill>
                  </a:tcPr>
                </a:tc>
                <a:tc>
                  <a:txBody>
                    <a:bodyPr wrap="square"/>
                    <a:lstStyle/>
                    <a:p>
                      <a:pPr algn="r"/>
                      <a:r>
                        <a:rPr sz="1050" b="0">
                          <a:solidFill>
                            <a:srgbClr val="1F2937"/>
                          </a:solidFill>
                          <a:latin typeface="Calibri"/>
                        </a:rPr>
                        <a:t>14.5</a:t>
                      </a:r>
                    </a:p>
                  </a:txBody>
                  <a:tcPr marL="73152" marR="73152" marT="27432" marB="27432" anchor="ctr">
                    <a:solidFill>
                      <a:srgbClr val="FFFFFF"/>
                    </a:solidFill>
                  </a:tcPr>
                </a:tc>
                <a:tc>
                  <a:txBody>
                    <a:bodyPr wrap="square"/>
                    <a:lstStyle/>
                    <a:p>
                      <a:pPr algn="r"/>
                      <a:r>
                        <a:rPr sz="1050" b="0">
                          <a:solidFill>
                            <a:srgbClr val="1F2937"/>
                          </a:solidFill>
                          <a:latin typeface="Calibri"/>
                        </a:rPr>
                        <a:t>1.8</a:t>
                      </a:r>
                    </a:p>
                  </a:txBody>
                  <a:tcPr marL="73152" marR="73152" marT="27432" marB="27432" anchor="ctr">
                    <a:solidFill>
                      <a:srgbClr val="FFFFFF"/>
                    </a:solidFill>
                  </a:tcPr>
                </a:tc>
              </a:tr>
              <a:tr h="274320">
                <a:tc>
                  <a:txBody>
                    <a:bodyPr wrap="square"/>
                    <a:lstStyle/>
                    <a:p>
                      <a:pPr algn="l"/>
                      <a:r>
                        <a:rPr sz="1050" b="0">
                          <a:solidFill>
                            <a:srgbClr val="1F2937"/>
                          </a:solidFill>
                          <a:latin typeface="Calibri"/>
                        </a:rPr>
                        <a:t>2019</a:t>
                      </a:r>
                    </a:p>
                  </a:txBody>
                  <a:tcPr marL="73152" marR="73152" marT="27432" marB="27432" anchor="ctr">
                    <a:solidFill>
                      <a:srgbClr val="FFFFFF"/>
                    </a:solidFill>
                  </a:tcPr>
                </a:tc>
                <a:tc>
                  <a:txBody>
                    <a:bodyPr wrap="square"/>
                    <a:lstStyle/>
                    <a:p>
                      <a:pPr algn="r"/>
                      <a:r>
                        <a:rPr sz="1050" b="0">
                          <a:solidFill>
                            <a:srgbClr val="1F2937"/>
                          </a:solidFill>
                          <a:latin typeface="Calibri"/>
                        </a:rPr>
                        <a:t>556k</a:t>
                      </a:r>
                    </a:p>
                  </a:txBody>
                  <a:tcPr marL="73152" marR="73152" marT="27432" marB="27432" anchor="ctr">
                    <a:solidFill>
                      <a:srgbClr val="FFFFFF"/>
                    </a:solidFill>
                  </a:tcPr>
                </a:tc>
                <a:tc>
                  <a:txBody>
                    <a:bodyPr wrap="square"/>
                    <a:lstStyle/>
                    <a:p>
                      <a:pPr algn="r"/>
                      <a:r>
                        <a:rPr sz="1050" b="0">
                          <a:solidFill>
                            <a:srgbClr val="1F2937"/>
                          </a:solidFill>
                          <a:latin typeface="Calibri"/>
                        </a:rPr>
                        <a:t>82</a:t>
                      </a:r>
                    </a:p>
                  </a:txBody>
                  <a:tcPr marL="73152" marR="73152" marT="27432" marB="27432" anchor="ctr">
                    <a:solidFill>
                      <a:srgbClr val="FFFFFF"/>
                    </a:solidFill>
                  </a:tcPr>
                </a:tc>
                <a:tc>
                  <a:txBody>
                    <a:bodyPr wrap="square"/>
                    <a:lstStyle/>
                    <a:p>
                      <a:pPr algn="r"/>
                      <a:r>
                        <a:rPr sz="1050" b="0">
                          <a:solidFill>
                            <a:srgbClr val="1F2937"/>
                          </a:solidFill>
                          <a:latin typeface="Calibri"/>
                        </a:rPr>
                        <a:t>27.7</a:t>
                      </a:r>
                    </a:p>
                  </a:txBody>
                  <a:tcPr marL="73152" marR="73152" marT="27432" marB="27432" anchor="ctr">
                    <a:solidFill>
                      <a:srgbClr val="FFFFFF"/>
                    </a:solidFill>
                  </a:tcPr>
                </a:tc>
                <a:tc>
                  <a:txBody>
                    <a:bodyPr wrap="square"/>
                    <a:lstStyle/>
                    <a:p>
                      <a:pPr algn="r"/>
                      <a:r>
                        <a:rPr sz="1050" b="0">
                          <a:solidFill>
                            <a:srgbClr val="1F2937"/>
                          </a:solidFill>
                          <a:latin typeface="Calibri"/>
                        </a:rPr>
                        <a:t>1.4</a:t>
                      </a:r>
                    </a:p>
                  </a:txBody>
                  <a:tcPr marL="73152" marR="73152" marT="27432" marB="27432" anchor="ctr">
                    <a:solidFill>
                      <a:srgbClr val="FFFFFF"/>
                    </a:solidFill>
                  </a:tcPr>
                </a:tc>
              </a:tr>
              <a:tr h="274320">
                <a:tc>
                  <a:txBody>
                    <a:bodyPr wrap="square"/>
                    <a:lstStyle/>
                    <a:p>
                      <a:pPr algn="l"/>
                      <a:r>
                        <a:rPr sz="1050" b="0">
                          <a:solidFill>
                            <a:srgbClr val="1F2937"/>
                          </a:solidFill>
                          <a:latin typeface="Calibri"/>
                        </a:rPr>
                        <a:t>2020</a:t>
                      </a:r>
                    </a:p>
                  </a:txBody>
                  <a:tcPr marL="73152" marR="73152" marT="27432" marB="27432" anchor="ctr">
                    <a:solidFill>
                      <a:srgbClr val="FFFFFF"/>
                    </a:solidFill>
                  </a:tcPr>
                </a:tc>
                <a:tc>
                  <a:txBody>
                    <a:bodyPr wrap="square"/>
                    <a:lstStyle/>
                    <a:p>
                      <a:pPr algn="r"/>
                      <a:r>
                        <a:rPr sz="1050" b="0">
                          <a:solidFill>
                            <a:srgbClr val="1F2937"/>
                          </a:solidFill>
                          <a:latin typeface="Calibri"/>
                        </a:rPr>
                        <a:t>1.6M</a:t>
                      </a:r>
                    </a:p>
                  </a:txBody>
                  <a:tcPr marL="73152" marR="73152" marT="27432" marB="27432" anchor="ctr">
                    <a:solidFill>
                      <a:srgbClr val="FFFFFF"/>
                    </a:solidFill>
                  </a:tcPr>
                </a:tc>
                <a:tc>
                  <a:txBody>
                    <a:bodyPr wrap="square"/>
                    <a:lstStyle/>
                    <a:p>
                      <a:pPr algn="r"/>
                      <a:r>
                        <a:rPr sz="1050" b="0">
                          <a:solidFill>
                            <a:srgbClr val="1F2937"/>
                          </a:solidFill>
                          <a:latin typeface="Calibri"/>
                        </a:rPr>
                        <a:t>10</a:t>
                      </a:r>
                    </a:p>
                  </a:txBody>
                  <a:tcPr marL="73152" marR="73152" marT="27432" marB="27432" anchor="ctr">
                    <a:solidFill>
                      <a:srgbClr val="FFFFFF"/>
                    </a:solidFill>
                  </a:tcPr>
                </a:tc>
                <a:tc>
                  <a:txBody>
                    <a:bodyPr wrap="square"/>
                    <a:lstStyle/>
                    <a:p>
                      <a:pPr algn="r"/>
                      <a:r>
                        <a:rPr sz="1050" b="0">
                          <a:solidFill>
                            <a:srgbClr val="1F2937"/>
                          </a:solidFill>
                          <a:latin typeface="Calibri"/>
                        </a:rPr>
                        <a:t>3.2</a:t>
                      </a:r>
                    </a:p>
                  </a:txBody>
                  <a:tcPr marL="73152" marR="73152" marT="27432" marB="27432" anchor="ctr">
                    <a:solidFill>
                      <a:srgbClr val="FFFFFF"/>
                    </a:solidFill>
                  </a:tcPr>
                </a:tc>
                <a:tc>
                  <a:txBody>
                    <a:bodyPr wrap="square"/>
                    <a:lstStyle/>
                    <a:p>
                      <a:pPr algn="r"/>
                      <a:r>
                        <a:rPr sz="1050" b="0">
                          <a:solidFill>
                            <a:srgbClr val="1F2937"/>
                          </a:solidFill>
                          <a:latin typeface="Calibri"/>
                        </a:rPr>
                        <a:t>5.9</a:t>
                      </a:r>
                    </a:p>
                  </a:txBody>
                  <a:tcPr marL="73152" marR="73152" marT="27432" marB="27432" anchor="ctr">
                    <a:solidFill>
                      <a:srgbClr val="FFFFFF"/>
                    </a:solidFill>
                  </a:tcPr>
                </a:tc>
              </a:tr>
              <a:tr h="274320">
                <a:tc>
                  <a:txBody>
                    <a:bodyPr wrap="square"/>
                    <a:lstStyle/>
                    <a:p>
                      <a:pPr algn="l"/>
                      <a:r>
                        <a:rPr sz="1050" b="0">
                          <a:solidFill>
                            <a:srgbClr val="1F2937"/>
                          </a:solidFill>
                          <a:latin typeface="Calibri"/>
                        </a:rPr>
                        <a:t>2021</a:t>
                      </a:r>
                    </a:p>
                  </a:txBody>
                  <a:tcPr marL="73152" marR="73152" marT="27432" marB="27432" anchor="ctr">
                    <a:solidFill>
                      <a:srgbClr val="FFFFFF"/>
                    </a:solidFill>
                  </a:tcPr>
                </a:tc>
                <a:tc>
                  <a:txBody>
                    <a:bodyPr wrap="square"/>
                    <a:lstStyle/>
                    <a:p>
                      <a:pPr algn="r"/>
                      <a:r>
                        <a:rPr sz="1050" b="0">
                          <a:solidFill>
                            <a:srgbClr val="1F2937"/>
                          </a:solidFill>
                          <a:latin typeface="Calibri"/>
                        </a:rPr>
                        <a:t>3.1M</a:t>
                      </a:r>
                    </a:p>
                  </a:txBody>
                  <a:tcPr marL="73152" marR="73152" marT="27432" marB="27432" anchor="ctr">
                    <a:solidFill>
                      <a:srgbClr val="FFFFFF"/>
                    </a:solidFill>
                  </a:tcPr>
                </a:tc>
                <a:tc>
                  <a:txBody>
                    <a:bodyPr wrap="square"/>
                    <a:lstStyle/>
                    <a:p>
                      <a:pPr algn="r"/>
                      <a:r>
                        <a:rPr sz="1050" b="0">
                          <a:solidFill>
                            <a:srgbClr val="1F2937"/>
                          </a:solidFill>
                          <a:latin typeface="Calibri"/>
                        </a:rPr>
                        <a:t>3</a:t>
                      </a:r>
                    </a:p>
                  </a:txBody>
                  <a:tcPr marL="73152" marR="73152" marT="27432" marB="27432" anchor="ctr">
                    <a:solidFill>
                      <a:srgbClr val="FFFFFF"/>
                    </a:solidFill>
                  </a:tcPr>
                </a:tc>
                <a:tc>
                  <a:txBody>
                    <a:bodyPr wrap="square"/>
                    <a:lstStyle/>
                    <a:p>
                      <a:pPr algn="r"/>
                      <a:r>
                        <a:rPr sz="1050" b="0">
                          <a:solidFill>
                            <a:srgbClr val="1F2937"/>
                          </a:solidFill>
                          <a:latin typeface="Calibri"/>
                        </a:rPr>
                        <a:t>0.0</a:t>
                      </a:r>
                    </a:p>
                  </a:txBody>
                  <a:tcPr marL="73152" marR="73152" marT="27432" marB="27432" anchor="ctr">
                    <a:solidFill>
                      <a:srgbClr val="FFFFFF"/>
                    </a:solidFill>
                  </a:tcPr>
                </a:tc>
                <a:tc>
                  <a:txBody>
                    <a:bodyPr wrap="square"/>
                    <a:lstStyle/>
                    <a:p>
                      <a:pPr algn="r"/>
                      <a:r>
                        <a:rPr sz="1050" b="0">
                          <a:solidFill>
                            <a:srgbClr val="1F2937"/>
                          </a:solidFill>
                          <a:latin typeface="Calibri"/>
                        </a:rPr>
                        <a:t>26.7</a:t>
                      </a:r>
                    </a:p>
                  </a:txBody>
                  <a:tcPr marL="73152" marR="73152" marT="27432" marB="27432" anchor="ctr">
                    <a:solidFill>
                      <a:srgbClr val="FFFFFF"/>
                    </a:solidFill>
                  </a:tcPr>
                </a:tc>
              </a:tr>
            </a:tbl>
          </a:graphicData>
        </a:graphic>
      </p:graphicFrame>
      <p:sp>
        <p:nvSpPr>
          <p:cNvPr id="10" name="TextBox 9"/>
          <p:cNvSpPr txBox="1"/>
          <p:nvPr/>
        </p:nvSpPr>
        <p:spPr>
          <a:xfrm>
            <a:off x="7772400" y="3703320"/>
            <a:ext cx="3931920" cy="2468880"/>
          </a:xfrm>
          <a:prstGeom prst="rect">
            <a:avLst/>
          </a:prstGeom>
          <a:noFill/>
        </p:spPr>
        <p:txBody>
          <a:bodyPr wrap="square" lIns="0" rIns="0" tIns="0" bIns="0" anchor="t">
            <a:spAutoFit/>
          </a:bodyPr>
          <a:lstStyle/>
          <a:p>
            <a:pPr algn="l" marL="201168" indent="-201168">
              <a:lnSpc>
                <a:spcPct val="110000"/>
              </a:lnSpc>
              <a:spcAft>
                <a:spcPts val="500"/>
              </a:spcAft>
              <a:buChar char="•"/>
            </a:pPr>
            <a:r>
              <a:rPr sz="1150" b="1" i="0">
                <a:solidFill>
                  <a:srgbClr val="1F2937"/>
                </a:solidFill>
                <a:latin typeface="Calibri"/>
              </a:rPr>
              <a:t>2018–19: a 96-hour template. </a:t>
            </a:r>
            <a:r>
              <a:rPr sz="1150" b="0" i="0">
                <a:solidFill>
                  <a:srgbClr val="1F2937"/>
                </a:solidFill>
                <a:latin typeface="Calibri"/>
              </a:rPr>
              <a:t>Up to 28% of events carry a default four-day lifespan. Gone by 2021.</a:t>
            </a:r>
          </a:p>
          <a:p>
            <a:pPr algn="l" marL="201168" indent="-201168">
              <a:lnSpc>
                <a:spcPct val="110000"/>
              </a:lnSpc>
              <a:spcAft>
                <a:spcPts val="500"/>
              </a:spcAft>
              <a:buChar char="•"/>
            </a:pPr>
            <a:r>
              <a:rPr sz="1150" b="1" i="0">
                <a:solidFill>
                  <a:srgbClr val="1F2937"/>
                </a:solidFill>
                <a:latin typeface="Calibri"/>
              </a:rPr>
              <a:t>Sep 2020: a short-event feed. </a:t>
            </a:r>
            <a:r>
              <a:rPr sz="1150" b="0" i="0">
                <a:solidFill>
                  <a:srgbClr val="1F2937"/>
                </a:solidFill>
                <a:latin typeface="Calibri"/>
              </a:rPr>
              <a:t>Events ×1.8 in a month, hours flat; by 2021 one event in four is under an hour.</a:t>
            </a:r>
          </a:p>
          <a:p>
            <a:pPr algn="l" marL="201168" indent="-201168">
              <a:lnSpc>
                <a:spcPct val="110000"/>
              </a:lnSpc>
              <a:spcAft>
                <a:spcPts val="500"/>
              </a:spcAft>
              <a:buChar char="•"/>
            </a:pPr>
            <a:r>
              <a:rPr sz="1150" b="1" i="0">
                <a:solidFill>
                  <a:srgbClr val="1F2937"/>
                </a:solidFill>
                <a:latin typeface="Calibri"/>
              </a:rPr>
              <a:t>Mar–Apr 2021: the hours step. </a:t>
            </a:r>
            <a:r>
              <a:rPr sz="1150" b="0" i="0">
                <a:solidFill>
                  <a:srgbClr val="1F2937"/>
                </a:solidFill>
                <a:latin typeface="Calibri"/>
              </a:rPr>
              <a:t>Monthly hours double twice. Short events don't carry hours; this is a feed of long advisories, concentrated in big metros.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Q2 — in New York, 2021 brought twenty times the month-long advisories of 2019</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Two feeds with two signatures arrived in the same year: one publishing long advisories that carry the hours, one publishing congestion pings that carry almost none.</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queries/06, stg_construction  ·  data pulled 2026-10-26   ·   10</a:t>
            </a:r>
          </a:p>
        </p:txBody>
      </p:sp>
      <p:graphicFrame>
        <p:nvGraphicFramePr>
          <p:cNvPr id="7" name="Table 6"/>
          <p:cNvGraphicFramePr>
            <a:graphicFrameLocks noGrp="1"/>
          </p:cNvGraphicFramePr>
          <p:nvPr/>
        </p:nvGraphicFramePr>
        <p:xfrm>
          <a:off x="548640" y="1325880"/>
          <a:ext cx="7132320" cy="2560320"/>
        </p:xfrm>
        <a:graphic>
          <a:graphicData uri="http://schemas.openxmlformats.org/drawingml/2006/table">
            <a:tbl>
              <a:tblPr>
                <a:tableStyleId>{2D5ABB26-0587-4C30-8999-92F81FD0307C}</a:tableStyleId>
              </a:tblPr>
              <a:tblGrid>
                <a:gridCol w="822960"/>
                <a:gridCol w="1188720"/>
                <a:gridCol w="1097280"/>
                <a:gridCol w="1188720"/>
                <a:gridCol w="1371600"/>
                <a:gridCol w="1463040"/>
              </a:tblGrid>
              <a:tr h="365760">
                <a:tc>
                  <a:txBody>
                    <a:bodyPr wrap="square"/>
                    <a:lstStyle/>
                    <a:p>
                      <a:pPr algn="l"/>
                      <a:r>
                        <a:rPr sz="1200" b="1">
                          <a:solidFill>
                            <a:srgbClr val="6B7B8C"/>
                          </a:solidFill>
                          <a:latin typeface="Calibri"/>
                        </a:rPr>
                        <a:t>Year</a:t>
                      </a:r>
                    </a:p>
                  </a:txBody>
                  <a:tcPr marL="73152" marR="73152" marT="27432" marB="27432" anchor="ctr">
                    <a:solidFill>
                      <a:srgbClr val="F1F4F8"/>
                    </a:solidFill>
                    <a:lnB w="12700">
                      <a:solidFill>
                        <a:srgbClr val="DCE3EA"/>
                      </a:solidFill>
                    </a:lnB>
                  </a:tcPr>
                </a:tc>
                <a:tc>
                  <a:txBody>
                    <a:bodyPr wrap="square"/>
                    <a:lstStyle/>
                    <a:p>
                      <a:pPr algn="r"/>
                      <a:r>
                        <a:rPr sz="1200" b="1">
                          <a:solidFill>
                            <a:srgbClr val="6B7B8C"/>
                          </a:solidFill>
                          <a:latin typeface="Calibri"/>
                        </a:rPr>
                        <a:t>Events</a:t>
                      </a:r>
                    </a:p>
                  </a:txBody>
                  <a:tcPr marL="73152" marR="73152" marT="27432" marB="27432" anchor="ctr">
                    <a:solidFill>
                      <a:srgbClr val="F1F4F8"/>
                    </a:solidFill>
                    <a:lnB w="12700">
                      <a:solidFill>
                        <a:srgbClr val="DCE3EA"/>
                      </a:solidFill>
                    </a:lnB>
                  </a:tcPr>
                </a:tc>
                <a:tc>
                  <a:txBody>
                    <a:bodyPr wrap="square"/>
                    <a:lstStyle/>
                    <a:p>
                      <a:pPr algn="r"/>
                      <a:r>
                        <a:rPr sz="1200" b="1">
                          <a:solidFill>
                            <a:srgbClr val="6B7B8C"/>
                          </a:solidFill>
                          <a:latin typeface="Calibri"/>
                        </a:rPr>
                        <a:t>Mean hours</a:t>
                      </a:r>
                    </a:p>
                  </a:txBody>
                  <a:tcPr marL="73152" marR="73152" marT="27432" marB="27432" anchor="ctr">
                    <a:solidFill>
                      <a:srgbClr val="F1F4F8"/>
                    </a:solidFill>
                    <a:lnB w="12700">
                      <a:solidFill>
                        <a:srgbClr val="DCE3EA"/>
                      </a:solidFill>
                    </a:lnB>
                  </a:tcPr>
                </a:tc>
                <a:tc>
                  <a:txBody>
                    <a:bodyPr wrap="square"/>
                    <a:lstStyle/>
                    <a:p>
                      <a:pPr algn="r"/>
                      <a:r>
                        <a:rPr sz="1200" b="1">
                          <a:solidFill>
                            <a:srgbClr val="6B7B8C"/>
                          </a:solidFill>
                          <a:latin typeface="Calibri"/>
                        </a:rPr>
                        <a:t>% under 1 h</a:t>
                      </a:r>
                    </a:p>
                  </a:txBody>
                  <a:tcPr marL="73152" marR="73152" marT="27432" marB="27432" anchor="ctr">
                    <a:solidFill>
                      <a:srgbClr val="F1F4F8"/>
                    </a:solidFill>
                    <a:lnB w="12700">
                      <a:solidFill>
                        <a:srgbClr val="DCE3EA"/>
                      </a:solidFill>
                    </a:lnB>
                  </a:tcPr>
                </a:tc>
                <a:tc>
                  <a:txBody>
                    <a:bodyPr wrap="square"/>
                    <a:lstStyle/>
                    <a:p>
                      <a:pPr algn="r"/>
                      <a:r>
                        <a:rPr sz="1200" b="1">
                          <a:solidFill>
                            <a:srgbClr val="6B7B8C"/>
                          </a:solidFill>
                          <a:latin typeface="Calibri"/>
                        </a:rPr>
                        <a:t>% over 30 days</a:t>
                      </a:r>
                    </a:p>
                  </a:txBody>
                  <a:tcPr marL="73152" marR="73152" marT="27432" marB="27432" anchor="ctr">
                    <a:solidFill>
                      <a:srgbClr val="F1F4F8"/>
                    </a:solidFill>
                    <a:lnB w="12700">
                      <a:solidFill>
                        <a:srgbClr val="DCE3EA"/>
                      </a:solidFill>
                    </a:lnB>
                  </a:tcPr>
                </a:tc>
                <a:tc>
                  <a:txBody>
                    <a:bodyPr wrap="square"/>
                    <a:lstStyle/>
                    <a:p>
                      <a:pPr algn="r"/>
                      <a:r>
                        <a:rPr sz="1200" b="1">
                          <a:solidFill>
                            <a:srgbClr val="6B7B8C"/>
                          </a:solidFill>
                          <a:latin typeface="Calibri"/>
                        </a:rPr>
                        <a:t>Events over 30 days</a:t>
                      </a:r>
                    </a:p>
                  </a:txBody>
                  <a:tcPr marL="73152" marR="73152" marT="27432" marB="27432" anchor="ctr">
                    <a:solidFill>
                      <a:srgbClr val="F1F4F8"/>
                    </a:solidFill>
                    <a:lnB w="12700">
                      <a:solidFill>
                        <a:srgbClr val="DCE3EA"/>
                      </a:solidFill>
                    </a:lnB>
                  </a:tcPr>
                </a:tc>
              </a:tr>
              <a:tr h="365760">
                <a:tc>
                  <a:txBody>
                    <a:bodyPr wrap="square"/>
                    <a:lstStyle/>
                    <a:p>
                      <a:pPr algn="l"/>
                      <a:r>
                        <a:rPr sz="1200" b="0">
                          <a:solidFill>
                            <a:srgbClr val="1F2937"/>
                          </a:solidFill>
                          <a:latin typeface="Calibri"/>
                        </a:rPr>
                        <a:t>2016</a:t>
                      </a:r>
                    </a:p>
                  </a:txBody>
                  <a:tcPr marL="73152" marR="73152" marT="27432" marB="27432" anchor="ctr">
                    <a:solidFill>
                      <a:srgbClr val="FFFFFF"/>
                    </a:solidFill>
                  </a:tcPr>
                </a:tc>
                <a:tc>
                  <a:txBody>
                    <a:bodyPr wrap="square"/>
                    <a:lstStyle/>
                    <a:p>
                      <a:pPr algn="r"/>
                      <a:r>
                        <a:rPr sz="1200" b="0">
                          <a:solidFill>
                            <a:srgbClr val="1F2937"/>
                          </a:solidFill>
                          <a:latin typeface="Calibri"/>
                        </a:rPr>
                        <a:t>5,429</a:t>
                      </a:r>
                    </a:p>
                  </a:txBody>
                  <a:tcPr marL="73152" marR="73152" marT="27432" marB="27432" anchor="ctr">
                    <a:solidFill>
                      <a:srgbClr val="FFFFFF"/>
                    </a:solidFill>
                  </a:tcPr>
                </a:tc>
                <a:tc>
                  <a:txBody>
                    <a:bodyPr wrap="square"/>
                    <a:lstStyle/>
                    <a:p>
                      <a:pPr algn="r"/>
                      <a:r>
                        <a:rPr sz="1200" b="0">
                          <a:solidFill>
                            <a:srgbClr val="1F2937"/>
                          </a:solidFill>
                          <a:latin typeface="Calibri"/>
                        </a:rPr>
                        <a:t>230</a:t>
                      </a:r>
                    </a:p>
                  </a:txBody>
                  <a:tcPr marL="73152" marR="73152" marT="27432" marB="27432" anchor="ctr">
                    <a:solidFill>
                      <a:srgbClr val="FFFFFF"/>
                    </a:solidFill>
                  </a:tcPr>
                </a:tc>
                <a:tc>
                  <a:txBody>
                    <a:bodyPr wrap="square"/>
                    <a:lstStyle/>
                    <a:p>
                      <a:pPr algn="r"/>
                      <a:r>
                        <a:rPr sz="1200" b="0">
                          <a:solidFill>
                            <a:srgbClr val="1F2937"/>
                          </a:solidFill>
                          <a:latin typeface="Calibri"/>
                        </a:rPr>
                        <a:t>1.0</a:t>
                      </a:r>
                    </a:p>
                  </a:txBody>
                  <a:tcPr marL="73152" marR="73152" marT="27432" marB="27432" anchor="ctr">
                    <a:solidFill>
                      <a:srgbClr val="FFFFFF"/>
                    </a:solidFill>
                  </a:tcPr>
                </a:tc>
                <a:tc>
                  <a:txBody>
                    <a:bodyPr wrap="square"/>
                    <a:lstStyle/>
                    <a:p>
                      <a:pPr algn="r"/>
                      <a:r>
                        <a:rPr sz="1200" b="0">
                          <a:solidFill>
                            <a:srgbClr val="1F2937"/>
                          </a:solidFill>
                          <a:latin typeface="Calibri"/>
                        </a:rPr>
                        <a:t>6.0</a:t>
                      </a:r>
                    </a:p>
                  </a:txBody>
                  <a:tcPr marL="73152" marR="73152" marT="27432" marB="27432" anchor="ctr">
                    <a:solidFill>
                      <a:srgbClr val="FFFFFF"/>
                    </a:solidFill>
                  </a:tcPr>
                </a:tc>
                <a:tc>
                  <a:txBody>
                    <a:bodyPr wrap="square"/>
                    <a:lstStyle/>
                    <a:p>
                      <a:pPr algn="r"/>
                      <a:r>
                        <a:rPr sz="1200" b="0">
                          <a:solidFill>
                            <a:srgbClr val="1F2937"/>
                          </a:solidFill>
                          <a:latin typeface="Calibri"/>
                        </a:rPr>
                        <a:t>326</a:t>
                      </a:r>
                    </a:p>
                  </a:txBody>
                  <a:tcPr marL="73152" marR="73152" marT="27432" marB="27432" anchor="ctr">
                    <a:solidFill>
                      <a:srgbClr val="FFFFFF"/>
                    </a:solidFill>
                  </a:tcPr>
                </a:tc>
              </a:tr>
              <a:tr h="365760">
                <a:tc>
                  <a:txBody>
                    <a:bodyPr wrap="square"/>
                    <a:lstStyle/>
                    <a:p>
                      <a:pPr algn="l"/>
                      <a:r>
                        <a:rPr sz="1200" b="0">
                          <a:solidFill>
                            <a:srgbClr val="1F2937"/>
                          </a:solidFill>
                          <a:latin typeface="Calibri"/>
                        </a:rPr>
                        <a:t>2017</a:t>
                      </a:r>
                    </a:p>
                  </a:txBody>
                  <a:tcPr marL="73152" marR="73152" marT="27432" marB="27432" anchor="ctr">
                    <a:solidFill>
                      <a:srgbClr val="FFFFFF"/>
                    </a:solidFill>
                  </a:tcPr>
                </a:tc>
                <a:tc>
                  <a:txBody>
                    <a:bodyPr wrap="square"/>
                    <a:lstStyle/>
                    <a:p>
                      <a:pPr algn="r"/>
                      <a:r>
                        <a:rPr sz="1200" b="0">
                          <a:solidFill>
                            <a:srgbClr val="1F2937"/>
                          </a:solidFill>
                          <a:latin typeface="Calibri"/>
                        </a:rPr>
                        <a:t>14,835</a:t>
                      </a:r>
                    </a:p>
                  </a:txBody>
                  <a:tcPr marL="73152" marR="73152" marT="27432" marB="27432" anchor="ctr">
                    <a:solidFill>
                      <a:srgbClr val="FFFFFF"/>
                    </a:solidFill>
                  </a:tcPr>
                </a:tc>
                <a:tc>
                  <a:txBody>
                    <a:bodyPr wrap="square"/>
                    <a:lstStyle/>
                    <a:p>
                      <a:pPr algn="r"/>
                      <a:r>
                        <a:rPr sz="1200" b="0">
                          <a:solidFill>
                            <a:srgbClr val="1F2937"/>
                          </a:solidFill>
                          <a:latin typeface="Calibri"/>
                        </a:rPr>
                        <a:t>237</a:t>
                      </a:r>
                    </a:p>
                  </a:txBody>
                  <a:tcPr marL="73152" marR="73152" marT="27432" marB="27432" anchor="ctr">
                    <a:solidFill>
                      <a:srgbClr val="FFFFFF"/>
                    </a:solidFill>
                  </a:tcPr>
                </a:tc>
                <a:tc>
                  <a:txBody>
                    <a:bodyPr wrap="square"/>
                    <a:lstStyle/>
                    <a:p>
                      <a:pPr algn="r"/>
                      <a:r>
                        <a:rPr sz="1200" b="0">
                          <a:solidFill>
                            <a:srgbClr val="1F2937"/>
                          </a:solidFill>
                          <a:latin typeface="Calibri"/>
                        </a:rPr>
                        <a:t>0.5</a:t>
                      </a:r>
                    </a:p>
                  </a:txBody>
                  <a:tcPr marL="73152" marR="73152" marT="27432" marB="27432" anchor="ctr">
                    <a:solidFill>
                      <a:srgbClr val="FFFFFF"/>
                    </a:solidFill>
                  </a:tcPr>
                </a:tc>
                <a:tc>
                  <a:txBody>
                    <a:bodyPr wrap="square"/>
                    <a:lstStyle/>
                    <a:p>
                      <a:pPr algn="r"/>
                      <a:r>
                        <a:rPr sz="1200" b="0">
                          <a:solidFill>
                            <a:srgbClr val="1F2937"/>
                          </a:solidFill>
                          <a:latin typeface="Calibri"/>
                        </a:rPr>
                        <a:t>2.9</a:t>
                      </a:r>
                    </a:p>
                  </a:txBody>
                  <a:tcPr marL="73152" marR="73152" marT="27432" marB="27432" anchor="ctr">
                    <a:solidFill>
                      <a:srgbClr val="FFFFFF"/>
                    </a:solidFill>
                  </a:tcPr>
                </a:tc>
                <a:tc>
                  <a:txBody>
                    <a:bodyPr wrap="square"/>
                    <a:lstStyle/>
                    <a:p>
                      <a:pPr algn="r"/>
                      <a:r>
                        <a:rPr sz="1200" b="0">
                          <a:solidFill>
                            <a:srgbClr val="1F2937"/>
                          </a:solidFill>
                          <a:latin typeface="Calibri"/>
                        </a:rPr>
                        <a:t>425</a:t>
                      </a:r>
                    </a:p>
                  </a:txBody>
                  <a:tcPr marL="73152" marR="73152" marT="27432" marB="27432" anchor="ctr">
                    <a:solidFill>
                      <a:srgbClr val="FFFFFF"/>
                    </a:solidFill>
                  </a:tcPr>
                </a:tc>
              </a:tr>
              <a:tr h="365760">
                <a:tc>
                  <a:txBody>
                    <a:bodyPr wrap="square"/>
                    <a:lstStyle/>
                    <a:p>
                      <a:pPr algn="l"/>
                      <a:r>
                        <a:rPr sz="1200" b="0">
                          <a:solidFill>
                            <a:srgbClr val="1F2937"/>
                          </a:solidFill>
                          <a:latin typeface="Calibri"/>
                        </a:rPr>
                        <a:t>2018</a:t>
                      </a:r>
                    </a:p>
                  </a:txBody>
                  <a:tcPr marL="73152" marR="73152" marT="27432" marB="27432" anchor="ctr">
                    <a:solidFill>
                      <a:srgbClr val="FFFFFF"/>
                    </a:solidFill>
                  </a:tcPr>
                </a:tc>
                <a:tc>
                  <a:txBody>
                    <a:bodyPr wrap="square"/>
                    <a:lstStyle/>
                    <a:p>
                      <a:pPr algn="r"/>
                      <a:r>
                        <a:rPr sz="1200" b="0">
                          <a:solidFill>
                            <a:srgbClr val="1F2937"/>
                          </a:solidFill>
                          <a:latin typeface="Calibri"/>
                        </a:rPr>
                        <a:t>17,870</a:t>
                      </a:r>
                    </a:p>
                  </a:txBody>
                  <a:tcPr marL="73152" marR="73152" marT="27432" marB="27432" anchor="ctr">
                    <a:solidFill>
                      <a:srgbClr val="FFFFFF"/>
                    </a:solidFill>
                  </a:tcPr>
                </a:tc>
                <a:tc>
                  <a:txBody>
                    <a:bodyPr wrap="square"/>
                    <a:lstStyle/>
                    <a:p>
                      <a:pPr algn="r"/>
                      <a:r>
                        <a:rPr sz="1200" b="0">
                          <a:solidFill>
                            <a:srgbClr val="1F2937"/>
                          </a:solidFill>
                          <a:latin typeface="Calibri"/>
                        </a:rPr>
                        <a:t>132</a:t>
                      </a:r>
                    </a:p>
                  </a:txBody>
                  <a:tcPr marL="73152" marR="73152" marT="27432" marB="27432" anchor="ctr">
                    <a:solidFill>
                      <a:srgbClr val="FFFFFF"/>
                    </a:solidFill>
                  </a:tcPr>
                </a:tc>
                <a:tc>
                  <a:txBody>
                    <a:bodyPr wrap="square"/>
                    <a:lstStyle/>
                    <a:p>
                      <a:pPr algn="r"/>
                      <a:r>
                        <a:rPr sz="1200" b="0">
                          <a:solidFill>
                            <a:srgbClr val="1F2937"/>
                          </a:solidFill>
                          <a:latin typeface="Calibri"/>
                        </a:rPr>
                        <a:t>4.4</a:t>
                      </a:r>
                    </a:p>
                  </a:txBody>
                  <a:tcPr marL="73152" marR="73152" marT="27432" marB="27432" anchor="ctr">
                    <a:solidFill>
                      <a:srgbClr val="FFFFFF"/>
                    </a:solidFill>
                  </a:tcPr>
                </a:tc>
                <a:tc>
                  <a:txBody>
                    <a:bodyPr wrap="square"/>
                    <a:lstStyle/>
                    <a:p>
                      <a:pPr algn="r"/>
                      <a:r>
                        <a:rPr sz="1200" b="0">
                          <a:solidFill>
                            <a:srgbClr val="1F2937"/>
                          </a:solidFill>
                          <a:latin typeface="Calibri"/>
                        </a:rPr>
                        <a:t>2.1</a:t>
                      </a:r>
                    </a:p>
                  </a:txBody>
                  <a:tcPr marL="73152" marR="73152" marT="27432" marB="27432" anchor="ctr">
                    <a:solidFill>
                      <a:srgbClr val="FFFFFF"/>
                    </a:solidFill>
                  </a:tcPr>
                </a:tc>
                <a:tc>
                  <a:txBody>
                    <a:bodyPr wrap="square"/>
                    <a:lstStyle/>
                    <a:p>
                      <a:pPr algn="r"/>
                      <a:r>
                        <a:rPr sz="1200" b="0">
                          <a:solidFill>
                            <a:srgbClr val="1F2937"/>
                          </a:solidFill>
                          <a:latin typeface="Calibri"/>
                        </a:rPr>
                        <a:t>367</a:t>
                      </a:r>
                    </a:p>
                  </a:txBody>
                  <a:tcPr marL="73152" marR="73152" marT="27432" marB="27432" anchor="ctr">
                    <a:solidFill>
                      <a:srgbClr val="FFFFFF"/>
                    </a:solidFill>
                  </a:tcPr>
                </a:tc>
              </a:tr>
              <a:tr h="365760">
                <a:tc>
                  <a:txBody>
                    <a:bodyPr wrap="square"/>
                    <a:lstStyle/>
                    <a:p>
                      <a:pPr algn="l"/>
                      <a:r>
                        <a:rPr sz="1200" b="0">
                          <a:solidFill>
                            <a:srgbClr val="1F2937"/>
                          </a:solidFill>
                          <a:latin typeface="Calibri"/>
                        </a:rPr>
                        <a:t>2019</a:t>
                      </a:r>
                    </a:p>
                  </a:txBody>
                  <a:tcPr marL="73152" marR="73152" marT="27432" marB="27432" anchor="ctr">
                    <a:solidFill>
                      <a:srgbClr val="FFFFFF"/>
                    </a:solidFill>
                  </a:tcPr>
                </a:tc>
                <a:tc>
                  <a:txBody>
                    <a:bodyPr wrap="square"/>
                    <a:lstStyle/>
                    <a:p>
                      <a:pPr algn="r"/>
                      <a:r>
                        <a:rPr sz="1200" b="0">
                          <a:solidFill>
                            <a:srgbClr val="1F2937"/>
                          </a:solidFill>
                          <a:latin typeface="Calibri"/>
                        </a:rPr>
                        <a:t>18,042</a:t>
                      </a:r>
                    </a:p>
                  </a:txBody>
                  <a:tcPr marL="73152" marR="73152" marT="27432" marB="27432" anchor="ctr">
                    <a:solidFill>
                      <a:srgbClr val="FFFFFF"/>
                    </a:solidFill>
                  </a:tcPr>
                </a:tc>
                <a:tc>
                  <a:txBody>
                    <a:bodyPr wrap="square"/>
                    <a:lstStyle/>
                    <a:p>
                      <a:pPr algn="r"/>
                      <a:r>
                        <a:rPr sz="1200" b="0">
                          <a:solidFill>
                            <a:srgbClr val="1F2937"/>
                          </a:solidFill>
                          <a:latin typeface="Calibri"/>
                        </a:rPr>
                        <a:t>426</a:t>
                      </a:r>
                    </a:p>
                  </a:txBody>
                  <a:tcPr marL="73152" marR="73152" marT="27432" marB="27432" anchor="ctr">
                    <a:solidFill>
                      <a:srgbClr val="FFFFFF"/>
                    </a:solidFill>
                  </a:tcPr>
                </a:tc>
                <a:tc>
                  <a:txBody>
                    <a:bodyPr wrap="square"/>
                    <a:lstStyle/>
                    <a:p>
                      <a:pPr algn="r"/>
                      <a:r>
                        <a:rPr sz="1200" b="0">
                          <a:solidFill>
                            <a:srgbClr val="1F2937"/>
                          </a:solidFill>
                          <a:latin typeface="Calibri"/>
                        </a:rPr>
                        <a:t>1.6</a:t>
                      </a:r>
                    </a:p>
                  </a:txBody>
                  <a:tcPr marL="73152" marR="73152" marT="27432" marB="27432" anchor="ctr">
                    <a:solidFill>
                      <a:srgbClr val="FFFFFF"/>
                    </a:solidFill>
                  </a:tcPr>
                </a:tc>
                <a:tc>
                  <a:txBody>
                    <a:bodyPr wrap="square"/>
                    <a:lstStyle/>
                    <a:p>
                      <a:pPr algn="r"/>
                      <a:r>
                        <a:rPr sz="1200" b="0">
                          <a:solidFill>
                            <a:srgbClr val="1F2937"/>
                          </a:solidFill>
                          <a:latin typeface="Calibri"/>
                        </a:rPr>
                        <a:t>6.1</a:t>
                      </a:r>
                    </a:p>
                  </a:txBody>
                  <a:tcPr marL="73152" marR="73152" marT="27432" marB="27432" anchor="ctr">
                    <a:solidFill>
                      <a:srgbClr val="FFFFFF"/>
                    </a:solidFill>
                  </a:tcPr>
                </a:tc>
                <a:tc>
                  <a:txBody>
                    <a:bodyPr wrap="square"/>
                    <a:lstStyle/>
                    <a:p>
                      <a:pPr algn="r"/>
                      <a:r>
                        <a:rPr sz="1200" b="0">
                          <a:solidFill>
                            <a:srgbClr val="1F2937"/>
                          </a:solidFill>
                          <a:latin typeface="Calibri"/>
                        </a:rPr>
                        <a:t>1,108</a:t>
                      </a:r>
                    </a:p>
                  </a:txBody>
                  <a:tcPr marL="73152" marR="73152" marT="27432" marB="27432" anchor="ctr">
                    <a:solidFill>
                      <a:srgbClr val="FFFFFF"/>
                    </a:solidFill>
                  </a:tcPr>
                </a:tc>
              </a:tr>
              <a:tr h="365760">
                <a:tc>
                  <a:txBody>
                    <a:bodyPr wrap="square"/>
                    <a:lstStyle/>
                    <a:p>
                      <a:pPr algn="l"/>
                      <a:r>
                        <a:rPr sz="1200" b="0">
                          <a:solidFill>
                            <a:srgbClr val="1F2937"/>
                          </a:solidFill>
                          <a:latin typeface="Calibri"/>
                        </a:rPr>
                        <a:t>2020</a:t>
                      </a:r>
                    </a:p>
                  </a:txBody>
                  <a:tcPr marL="73152" marR="73152" marT="27432" marB="27432" anchor="ctr">
                    <a:solidFill>
                      <a:srgbClr val="FFFFFF"/>
                    </a:solidFill>
                  </a:tcPr>
                </a:tc>
                <a:tc>
                  <a:txBody>
                    <a:bodyPr wrap="square"/>
                    <a:lstStyle/>
                    <a:p>
                      <a:pPr algn="r"/>
                      <a:r>
                        <a:rPr sz="1200" b="0">
                          <a:solidFill>
                            <a:srgbClr val="1F2937"/>
                          </a:solidFill>
                          <a:latin typeface="Calibri"/>
                        </a:rPr>
                        <a:t>99,035</a:t>
                      </a:r>
                    </a:p>
                  </a:txBody>
                  <a:tcPr marL="73152" marR="73152" marT="27432" marB="27432" anchor="ctr">
                    <a:solidFill>
                      <a:srgbClr val="FFFFFF"/>
                    </a:solidFill>
                  </a:tcPr>
                </a:tc>
                <a:tc>
                  <a:txBody>
                    <a:bodyPr wrap="square"/>
                    <a:lstStyle/>
                    <a:p>
                      <a:pPr algn="r"/>
                      <a:r>
                        <a:rPr sz="1200" b="0">
                          <a:solidFill>
                            <a:srgbClr val="1F2937"/>
                          </a:solidFill>
                          <a:latin typeface="Calibri"/>
                        </a:rPr>
                        <a:t>110</a:t>
                      </a:r>
                    </a:p>
                  </a:txBody>
                  <a:tcPr marL="73152" marR="73152" marT="27432" marB="27432" anchor="ctr">
                    <a:solidFill>
                      <a:srgbClr val="FFFFFF"/>
                    </a:solidFill>
                  </a:tcPr>
                </a:tc>
                <a:tc>
                  <a:txBody>
                    <a:bodyPr wrap="square"/>
                    <a:lstStyle/>
                    <a:p>
                      <a:pPr algn="r"/>
                      <a:r>
                        <a:rPr sz="1200" b="0">
                          <a:solidFill>
                            <a:srgbClr val="1F2937"/>
                          </a:solidFill>
                          <a:latin typeface="Calibri"/>
                        </a:rPr>
                        <a:t>20.7</a:t>
                      </a:r>
                    </a:p>
                  </a:txBody>
                  <a:tcPr marL="73152" marR="73152" marT="27432" marB="27432" anchor="ctr">
                    <a:solidFill>
                      <a:srgbClr val="FFFFFF"/>
                    </a:solidFill>
                  </a:tcPr>
                </a:tc>
                <a:tc>
                  <a:txBody>
                    <a:bodyPr wrap="square"/>
                    <a:lstStyle/>
                    <a:p>
                      <a:pPr algn="r"/>
                      <a:r>
                        <a:rPr sz="1200" b="0">
                          <a:solidFill>
                            <a:srgbClr val="1F2937"/>
                          </a:solidFill>
                          <a:latin typeface="Calibri"/>
                        </a:rPr>
                        <a:t>2.6</a:t>
                      </a:r>
                    </a:p>
                  </a:txBody>
                  <a:tcPr marL="73152" marR="73152" marT="27432" marB="27432" anchor="ctr">
                    <a:solidFill>
                      <a:srgbClr val="FFFFFF"/>
                    </a:solidFill>
                  </a:tcPr>
                </a:tc>
                <a:tc>
                  <a:txBody>
                    <a:bodyPr wrap="square"/>
                    <a:lstStyle/>
                    <a:p>
                      <a:pPr algn="r"/>
                      <a:r>
                        <a:rPr sz="1200" b="0">
                          <a:solidFill>
                            <a:srgbClr val="1F2937"/>
                          </a:solidFill>
                          <a:latin typeface="Calibri"/>
                        </a:rPr>
                        <a:t>2,571</a:t>
                      </a:r>
                    </a:p>
                  </a:txBody>
                  <a:tcPr marL="73152" marR="73152" marT="27432" marB="27432" anchor="ctr">
                    <a:solidFill>
                      <a:srgbClr val="FFFFFF"/>
                    </a:solidFill>
                  </a:tcPr>
                </a:tc>
              </a:tr>
              <a:tr h="365760">
                <a:tc>
                  <a:txBody>
                    <a:bodyPr wrap="square"/>
                    <a:lstStyle/>
                    <a:p>
                      <a:pPr algn="l"/>
                      <a:r>
                        <a:rPr sz="1200" b="1">
                          <a:solidFill>
                            <a:srgbClr val="1F2937"/>
                          </a:solidFill>
                          <a:latin typeface="Calibri"/>
                        </a:rPr>
                        <a:t>2021</a:t>
                      </a:r>
                    </a:p>
                  </a:txBody>
                  <a:tcPr marL="73152" marR="73152" marT="27432" marB="27432" anchor="ctr">
                    <a:solidFill>
                      <a:srgbClr val="E6F0FD"/>
                    </a:solidFill>
                  </a:tcPr>
                </a:tc>
                <a:tc>
                  <a:txBody>
                    <a:bodyPr wrap="square"/>
                    <a:lstStyle/>
                    <a:p>
                      <a:pPr algn="r"/>
                      <a:r>
                        <a:rPr sz="1200" b="1">
                          <a:solidFill>
                            <a:srgbClr val="1F2937"/>
                          </a:solidFill>
                          <a:latin typeface="Calibri"/>
                        </a:rPr>
                        <a:t>222,852</a:t>
                      </a:r>
                    </a:p>
                  </a:txBody>
                  <a:tcPr marL="73152" marR="73152" marT="27432" marB="27432" anchor="ctr">
                    <a:solidFill>
                      <a:srgbClr val="E6F0FD"/>
                    </a:solidFill>
                  </a:tcPr>
                </a:tc>
                <a:tc>
                  <a:txBody>
                    <a:bodyPr wrap="square"/>
                    <a:lstStyle/>
                    <a:p>
                      <a:pPr algn="r"/>
                      <a:r>
                        <a:rPr sz="1200" b="1">
                          <a:solidFill>
                            <a:srgbClr val="1F2937"/>
                          </a:solidFill>
                          <a:latin typeface="Calibri"/>
                        </a:rPr>
                        <a:t>371</a:t>
                      </a:r>
                    </a:p>
                  </a:txBody>
                  <a:tcPr marL="73152" marR="73152" marT="27432" marB="27432" anchor="ctr">
                    <a:solidFill>
                      <a:srgbClr val="E6F0FD"/>
                    </a:solidFill>
                  </a:tcPr>
                </a:tc>
                <a:tc>
                  <a:txBody>
                    <a:bodyPr wrap="square"/>
                    <a:lstStyle/>
                    <a:p>
                      <a:pPr algn="r"/>
                      <a:r>
                        <a:rPr sz="1200" b="1">
                          <a:solidFill>
                            <a:srgbClr val="1F2937"/>
                          </a:solidFill>
                          <a:latin typeface="Calibri"/>
                        </a:rPr>
                        <a:t>41.2</a:t>
                      </a:r>
                    </a:p>
                  </a:txBody>
                  <a:tcPr marL="73152" marR="73152" marT="27432" marB="27432" anchor="ctr">
                    <a:solidFill>
                      <a:srgbClr val="E6F0FD"/>
                    </a:solidFill>
                  </a:tcPr>
                </a:tc>
                <a:tc>
                  <a:txBody>
                    <a:bodyPr wrap="square"/>
                    <a:lstStyle/>
                    <a:p>
                      <a:pPr algn="r"/>
                      <a:r>
                        <a:rPr sz="1200" b="1">
                          <a:solidFill>
                            <a:srgbClr val="1F2937"/>
                          </a:solidFill>
                          <a:latin typeface="Calibri"/>
                        </a:rPr>
                        <a:t>9.6</a:t>
                      </a:r>
                    </a:p>
                  </a:txBody>
                  <a:tcPr marL="73152" marR="73152" marT="27432" marB="27432" anchor="ctr">
                    <a:solidFill>
                      <a:srgbClr val="E6F0FD"/>
                    </a:solidFill>
                  </a:tcPr>
                </a:tc>
                <a:tc>
                  <a:txBody>
                    <a:bodyPr wrap="square"/>
                    <a:lstStyle/>
                    <a:p>
                      <a:pPr algn="r"/>
                      <a:r>
                        <a:rPr sz="1200" b="1">
                          <a:solidFill>
                            <a:srgbClr val="1F2937"/>
                          </a:solidFill>
                          <a:latin typeface="Calibri"/>
                        </a:rPr>
                        <a:t>21,311</a:t>
                      </a:r>
                    </a:p>
                  </a:txBody>
                  <a:tcPr marL="73152" marR="73152" marT="27432" marB="27432" anchor="ctr">
                    <a:solidFill>
                      <a:srgbClr val="E6F0FD"/>
                    </a:solidFill>
                  </a:tcPr>
                </a:tc>
              </a:tr>
            </a:tbl>
          </a:graphicData>
        </a:graphic>
      </p:graphicFrame>
      <p:sp>
        <p:nvSpPr>
          <p:cNvPr id="8" name="TextBox 7"/>
          <p:cNvSpPr txBox="1"/>
          <p:nvPr/>
        </p:nvSpPr>
        <p:spPr>
          <a:xfrm>
            <a:off x="548640" y="3931920"/>
            <a:ext cx="7132320" cy="320040"/>
          </a:xfrm>
          <a:prstGeom prst="rect">
            <a:avLst/>
          </a:prstGeom>
          <a:noFill/>
        </p:spPr>
        <p:txBody>
          <a:bodyPr wrap="square" lIns="0" rIns="0" tIns="0" bIns="0" anchor="t">
            <a:spAutoFit/>
          </a:bodyPr>
          <a:lstStyle/>
          <a:p>
            <a:pPr algn="l">
              <a:lnSpc>
                <a:spcPct val="110000"/>
              </a:lnSpc>
              <a:spcAft>
                <a:spcPts val="400"/>
              </a:spcAft>
            </a:pPr>
            <a:r>
              <a:rPr sz="1000" b="0" i="0">
                <a:solidFill>
                  <a:srgbClr val="6B7B8C"/>
                </a:solidFill>
                <a:latin typeface="Calibri"/>
              </a:rPr>
              <a:t>New York, five boroughs, construction events by start year.</a:t>
            </a:r>
          </a:p>
        </p:txBody>
      </p:sp>
      <p:sp>
        <p:nvSpPr>
          <p:cNvPr id="9" name="TextBox 8"/>
          <p:cNvSpPr txBox="1"/>
          <p:nvPr/>
        </p:nvSpPr>
        <p:spPr>
          <a:xfrm>
            <a:off x="8229600" y="1417320"/>
            <a:ext cx="3383280" cy="594360"/>
          </a:xfrm>
          <a:prstGeom prst="rect">
            <a:avLst/>
          </a:prstGeom>
          <a:noFill/>
        </p:spPr>
        <p:txBody>
          <a:bodyPr wrap="square" lIns="0" rIns="0" tIns="0" bIns="0" anchor="t">
            <a:spAutoFit/>
          </a:bodyPr>
          <a:lstStyle/>
          <a:p>
            <a:pPr algn="l">
              <a:lnSpc>
                <a:spcPct val="110000"/>
              </a:lnSpc>
              <a:spcAft>
                <a:spcPts val="400"/>
              </a:spcAft>
            </a:pPr>
            <a:r>
              <a:rPr sz="2800" b="1" i="0">
                <a:solidFill>
                  <a:srgbClr val="1368E5"/>
                </a:solidFill>
                <a:latin typeface="Calibri"/>
              </a:rPr>
              <a:t>1,108 → 21,311</a:t>
            </a:r>
          </a:p>
        </p:txBody>
      </p:sp>
      <p:sp>
        <p:nvSpPr>
          <p:cNvPr id="10" name="TextBox 9"/>
          <p:cNvSpPr txBox="1"/>
          <p:nvPr/>
        </p:nvSpPr>
        <p:spPr>
          <a:xfrm>
            <a:off x="8229600" y="1984248"/>
            <a:ext cx="3383280" cy="457200"/>
          </a:xfrm>
          <a:prstGeom prst="rect">
            <a:avLst/>
          </a:prstGeom>
          <a:noFill/>
        </p:spPr>
        <p:txBody>
          <a:bodyPr wrap="square" lIns="0" rIns="0" tIns="0" bIns="0" anchor="t">
            <a:spAutoFit/>
          </a:bodyPr>
          <a:lstStyle/>
          <a:p>
            <a:pPr algn="l">
              <a:lnSpc>
                <a:spcPct val="110000"/>
              </a:lnSpc>
              <a:spcAft>
                <a:spcPts val="400"/>
              </a:spcAft>
            </a:pPr>
            <a:r>
              <a:rPr sz="1200" b="0" i="0">
                <a:solidFill>
                  <a:srgbClr val="6B7B8C"/>
                </a:solidFill>
                <a:latin typeface="Calibri"/>
              </a:rPr>
              <a:t>advisories lasting 30+ days, 2019 → 2021. These carry the hours.</a:t>
            </a:r>
          </a:p>
        </p:txBody>
      </p:sp>
      <p:sp>
        <p:nvSpPr>
          <p:cNvPr id="11" name="TextBox 10"/>
          <p:cNvSpPr txBox="1"/>
          <p:nvPr/>
        </p:nvSpPr>
        <p:spPr>
          <a:xfrm>
            <a:off x="8229600" y="2880360"/>
            <a:ext cx="3383280" cy="594360"/>
          </a:xfrm>
          <a:prstGeom prst="rect">
            <a:avLst/>
          </a:prstGeom>
          <a:noFill/>
        </p:spPr>
        <p:txBody>
          <a:bodyPr wrap="square" lIns="0" rIns="0" tIns="0" bIns="0" anchor="t">
            <a:spAutoFit/>
          </a:bodyPr>
          <a:lstStyle/>
          <a:p>
            <a:pPr algn="l">
              <a:lnSpc>
                <a:spcPct val="110000"/>
              </a:lnSpc>
              <a:spcAft>
                <a:spcPts val="400"/>
              </a:spcAft>
            </a:pPr>
            <a:r>
              <a:rPr sz="2800" b="1" i="0">
                <a:solidFill>
                  <a:srgbClr val="1368E5"/>
                </a:solidFill>
                <a:latin typeface="Calibri"/>
              </a:rPr>
              <a:t>41.2%</a:t>
            </a:r>
          </a:p>
        </p:txBody>
      </p:sp>
      <p:sp>
        <p:nvSpPr>
          <p:cNvPr id="12" name="TextBox 11"/>
          <p:cNvSpPr txBox="1"/>
          <p:nvPr/>
        </p:nvSpPr>
        <p:spPr>
          <a:xfrm>
            <a:off x="8229600" y="3447288"/>
            <a:ext cx="3383280" cy="457200"/>
          </a:xfrm>
          <a:prstGeom prst="rect">
            <a:avLst/>
          </a:prstGeom>
          <a:noFill/>
        </p:spPr>
        <p:txBody>
          <a:bodyPr wrap="square" lIns="0" rIns="0" tIns="0" bIns="0" anchor="t">
            <a:spAutoFit/>
          </a:bodyPr>
          <a:lstStyle/>
          <a:p>
            <a:pPr algn="l">
              <a:lnSpc>
                <a:spcPct val="110000"/>
              </a:lnSpc>
              <a:spcAft>
                <a:spcPts val="400"/>
              </a:spcAft>
            </a:pPr>
            <a:r>
              <a:rPr sz="1200" b="0" i="0">
                <a:solidFill>
                  <a:srgbClr val="6B7B8C"/>
                </a:solidFill>
                <a:latin typeface="Calibri"/>
              </a:rPr>
              <a:t>of 2021 events are under an hour: congestion pings, almost no hours.</a:t>
            </a:r>
          </a:p>
        </p:txBody>
      </p:sp>
      <p:sp>
        <p:nvSpPr>
          <p:cNvPr id="13" name="TextBox 12"/>
          <p:cNvSpPr txBox="1"/>
          <p:nvPr/>
        </p:nvSpPr>
        <p:spPr>
          <a:xfrm>
            <a:off x="548640" y="4343400"/>
            <a:ext cx="11064240" cy="1737360"/>
          </a:xfrm>
          <a:prstGeom prst="rect">
            <a:avLst/>
          </a:prstGeom>
          <a:noFill/>
        </p:spPr>
        <p:txBody>
          <a:bodyPr wrap="square" lIns="0" rIns="0" tIns="0" bIns="0" anchor="t">
            <a:spAutoFit/>
          </a:bodyPr>
          <a:lstStyle/>
          <a:p>
            <a:pPr algn="l" marL="201168" indent="-201168">
              <a:lnSpc>
                <a:spcPct val="110000"/>
              </a:lnSpc>
              <a:spcAft>
                <a:spcPts val="400"/>
              </a:spcAft>
              <a:buChar char="•"/>
            </a:pPr>
            <a:r>
              <a:rPr sz="1200" b="1" i="0">
                <a:solidFill>
                  <a:srgbClr val="1F2937"/>
                </a:solidFill>
                <a:latin typeface="Calibri"/>
              </a:rPr>
              <a:t>A conclusion corrected along the way. </a:t>
            </a:r>
            <a:r>
              <a:rPr sz="1200" b="0" i="0">
                <a:solidFill>
                  <a:srgbClr val="1F2937"/>
                </a:solidFill>
                <a:latin typeface="Calibri"/>
              </a:rPr>
              <a:t>Only 60 rows end on the extract date, so right-censoring was first judged negligible. But November–December 2021 events stay high while hours fall 58% from the October peak, against a seasonal dip of about 20% in earlier years. The likelier reading: events still open at extraction are absent from the file, not truncated. The last two to three months are missing their long-running advisories.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Q3 — accounting for city size does not change the ranking</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Normalizing moves one city one place. The spread is the finding, and the spread is about reporting, which this dataset cannot prove on its own.</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queries/07, fct_city_comparison  ·  data pulled 2026-10-26   ·   11</a:t>
            </a:r>
          </a:p>
        </p:txBody>
      </p:sp>
      <p:pic>
        <p:nvPicPr>
          <p:cNvPr id="7" name="Picture 6" descr="q3_rank_bump.png"/>
          <p:cNvPicPr>
            <a:picLocks noChangeAspect="1"/>
          </p:cNvPicPr>
          <p:nvPr/>
        </p:nvPicPr>
        <p:blipFill>
          <a:blip r:embed="rId3"/>
          <a:stretch>
            <a:fillRect/>
          </a:stretch>
        </p:blipFill>
        <p:spPr>
          <a:xfrm>
            <a:off x="548640" y="1234439"/>
            <a:ext cx="5266193" cy="4206240"/>
          </a:xfrm>
          <a:prstGeom prst="rect">
            <a:avLst/>
          </a:prstGeom>
        </p:spPr>
      </p:pic>
      <p:graphicFrame>
        <p:nvGraphicFramePr>
          <p:cNvPr id="8" name="Table 7"/>
          <p:cNvGraphicFramePr>
            <a:graphicFrameLocks noGrp="1"/>
          </p:cNvGraphicFramePr>
          <p:nvPr/>
        </p:nvGraphicFramePr>
        <p:xfrm>
          <a:off x="6172200" y="1325880"/>
          <a:ext cx="5212080" cy="2866633"/>
        </p:xfrm>
        <a:graphic>
          <a:graphicData uri="http://schemas.openxmlformats.org/drawingml/2006/table">
            <a:tbl>
              <a:tblPr>
                <a:tableStyleId>{2D5ABB26-0587-4C30-8999-92F81FD0307C}</a:tableStyleId>
              </a:tblPr>
              <a:tblGrid>
                <a:gridCol w="1417320"/>
                <a:gridCol w="1097280"/>
                <a:gridCol w="1280160"/>
                <a:gridCol w="1417320"/>
              </a:tblGrid>
              <a:tr h="260603">
                <a:tc>
                  <a:txBody>
                    <a:bodyPr wrap="square"/>
                    <a:lstStyle/>
                    <a:p>
                      <a:pPr algn="l"/>
                      <a:r>
                        <a:rPr sz="1050" b="1">
                          <a:solidFill>
                            <a:srgbClr val="6B7B8C"/>
                          </a:solidFill>
                          <a:latin typeface="Calibri"/>
                        </a:rPr>
                        <a:t>City</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Hours</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per sq mile</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per 100k residents</a:t>
                      </a:r>
                    </a:p>
                  </a:txBody>
                  <a:tcPr marL="73152" marR="73152" marT="27432" marB="27432" anchor="ctr">
                    <a:solidFill>
                      <a:srgbClr val="F1F4F8"/>
                    </a:solidFill>
                    <a:lnB w="12700">
                      <a:solidFill>
                        <a:srgbClr val="DCE3EA"/>
                      </a:solidFill>
                    </a:lnB>
                  </a:tcPr>
                </a:tc>
              </a:tr>
              <a:tr h="260603">
                <a:tc>
                  <a:txBody>
                    <a:bodyPr wrap="square"/>
                    <a:lstStyle/>
                    <a:p>
                      <a:pPr algn="l"/>
                      <a:r>
                        <a:rPr sz="1050" b="0">
                          <a:solidFill>
                            <a:srgbClr val="1F2937"/>
                          </a:solidFill>
                          <a:latin typeface="Calibri"/>
                        </a:rPr>
                        <a:t>New York</a:t>
                      </a:r>
                    </a:p>
                  </a:txBody>
                  <a:tcPr marL="73152" marR="73152" marT="27432" marB="27432" anchor="ctr">
                    <a:solidFill>
                      <a:srgbClr val="FFFFFF"/>
                    </a:solidFill>
                  </a:tcPr>
                </a:tc>
                <a:tc>
                  <a:txBody>
                    <a:bodyPr wrap="square"/>
                    <a:lstStyle/>
                    <a:p>
                      <a:pPr algn="r"/>
                      <a:r>
                        <a:rPr sz="1050" b="0">
                          <a:solidFill>
                            <a:srgbClr val="1F2937"/>
                          </a:solidFill>
                          <a:latin typeface="Calibri"/>
                        </a:rPr>
                        <a:t>108M</a:t>
                      </a:r>
                    </a:p>
                  </a:txBody>
                  <a:tcPr marL="73152" marR="73152" marT="27432" marB="27432" anchor="ctr">
                    <a:solidFill>
                      <a:srgbClr val="FFFFFF"/>
                    </a:solidFill>
                  </a:tcPr>
                </a:tc>
                <a:tc>
                  <a:txBody>
                    <a:bodyPr wrap="square"/>
                    <a:lstStyle/>
                    <a:p>
                      <a:pPr algn="r"/>
                      <a:r>
                        <a:rPr sz="1050" b="0">
                          <a:solidFill>
                            <a:srgbClr val="1F2937"/>
                          </a:solidFill>
                          <a:latin typeface="Calibri"/>
                        </a:rPr>
                        <a:t>358k</a:t>
                      </a:r>
                    </a:p>
                  </a:txBody>
                  <a:tcPr marL="73152" marR="73152" marT="27432" marB="27432" anchor="ctr">
                    <a:solidFill>
                      <a:srgbClr val="FFFFFF"/>
                    </a:solidFill>
                  </a:tcPr>
                </a:tc>
                <a:tc>
                  <a:txBody>
                    <a:bodyPr wrap="square"/>
                    <a:lstStyle/>
                    <a:p>
                      <a:pPr algn="r"/>
                      <a:r>
                        <a:rPr sz="1050" b="0">
                          <a:solidFill>
                            <a:srgbClr val="1F2937"/>
                          </a:solidFill>
                          <a:latin typeface="Calibri"/>
                        </a:rPr>
                        <a:t>1.2M</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Phoenix</a:t>
                      </a:r>
                    </a:p>
                  </a:txBody>
                  <a:tcPr marL="73152" marR="73152" marT="27432" marB="27432" anchor="ctr">
                    <a:solidFill>
                      <a:srgbClr val="FFFFFF"/>
                    </a:solidFill>
                  </a:tcPr>
                </a:tc>
                <a:tc>
                  <a:txBody>
                    <a:bodyPr wrap="square"/>
                    <a:lstStyle/>
                    <a:p>
                      <a:pPr algn="r"/>
                      <a:r>
                        <a:rPr sz="1050" b="0">
                          <a:solidFill>
                            <a:srgbClr val="1F2937"/>
                          </a:solidFill>
                          <a:latin typeface="Calibri"/>
                        </a:rPr>
                        <a:t>92.2M</a:t>
                      </a:r>
                    </a:p>
                  </a:txBody>
                  <a:tcPr marL="73152" marR="73152" marT="27432" marB="27432" anchor="ctr">
                    <a:solidFill>
                      <a:srgbClr val="FFFFFF"/>
                    </a:solidFill>
                  </a:tcPr>
                </a:tc>
                <a:tc>
                  <a:txBody>
                    <a:bodyPr wrap="square"/>
                    <a:lstStyle/>
                    <a:p>
                      <a:pPr algn="r"/>
                      <a:r>
                        <a:rPr sz="1050" b="0">
                          <a:solidFill>
                            <a:srgbClr val="1F2937"/>
                          </a:solidFill>
                          <a:latin typeface="Calibri"/>
                        </a:rPr>
                        <a:t>178k</a:t>
                      </a:r>
                    </a:p>
                  </a:txBody>
                  <a:tcPr marL="73152" marR="73152" marT="27432" marB="27432" anchor="ctr">
                    <a:solidFill>
                      <a:srgbClr val="FFFFFF"/>
                    </a:solidFill>
                  </a:tcPr>
                </a:tc>
                <a:tc>
                  <a:txBody>
                    <a:bodyPr wrap="square"/>
                    <a:lstStyle/>
                    <a:p>
                      <a:pPr algn="r"/>
                      <a:r>
                        <a:rPr sz="1050" b="0">
                          <a:solidFill>
                            <a:srgbClr val="1F2937"/>
                          </a:solidFill>
                          <a:latin typeface="Calibri"/>
                        </a:rPr>
                        <a:t>5.7M</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Chicago</a:t>
                      </a:r>
                    </a:p>
                  </a:txBody>
                  <a:tcPr marL="73152" marR="73152" marT="27432" marB="27432" anchor="ctr">
                    <a:solidFill>
                      <a:srgbClr val="FFFFFF"/>
                    </a:solidFill>
                  </a:tcPr>
                </a:tc>
                <a:tc>
                  <a:txBody>
                    <a:bodyPr wrap="square"/>
                    <a:lstStyle/>
                    <a:p>
                      <a:pPr algn="r"/>
                      <a:r>
                        <a:rPr sz="1050" b="0">
                          <a:solidFill>
                            <a:srgbClr val="1F2937"/>
                          </a:solidFill>
                          <a:latin typeface="Calibri"/>
                        </a:rPr>
                        <a:t>25.7M</a:t>
                      </a:r>
                    </a:p>
                  </a:txBody>
                  <a:tcPr marL="73152" marR="73152" marT="27432" marB="27432" anchor="ctr">
                    <a:solidFill>
                      <a:srgbClr val="FFFFFF"/>
                    </a:solidFill>
                  </a:tcPr>
                </a:tc>
                <a:tc>
                  <a:txBody>
                    <a:bodyPr wrap="square"/>
                    <a:lstStyle/>
                    <a:p>
                      <a:pPr algn="r"/>
                      <a:r>
                        <a:rPr sz="1050" b="0">
                          <a:solidFill>
                            <a:srgbClr val="1F2937"/>
                          </a:solidFill>
                          <a:latin typeface="Calibri"/>
                        </a:rPr>
                        <a:t>113k</a:t>
                      </a:r>
                    </a:p>
                  </a:txBody>
                  <a:tcPr marL="73152" marR="73152" marT="27432" marB="27432" anchor="ctr">
                    <a:solidFill>
                      <a:srgbClr val="FFFFFF"/>
                    </a:solidFill>
                  </a:tcPr>
                </a:tc>
                <a:tc>
                  <a:txBody>
                    <a:bodyPr wrap="square"/>
                    <a:lstStyle/>
                    <a:p>
                      <a:pPr algn="r"/>
                      <a:r>
                        <a:rPr sz="1050" b="0">
                          <a:solidFill>
                            <a:srgbClr val="1F2937"/>
                          </a:solidFill>
                          <a:latin typeface="Calibri"/>
                        </a:rPr>
                        <a:t>934k</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Houston</a:t>
                      </a:r>
                    </a:p>
                  </a:txBody>
                  <a:tcPr marL="73152" marR="73152" marT="27432" marB="27432" anchor="ctr">
                    <a:solidFill>
                      <a:srgbClr val="FFFFFF"/>
                    </a:solidFill>
                  </a:tcPr>
                </a:tc>
                <a:tc>
                  <a:txBody>
                    <a:bodyPr wrap="square"/>
                    <a:lstStyle/>
                    <a:p>
                      <a:pPr algn="r"/>
                      <a:r>
                        <a:rPr sz="1050" b="0">
                          <a:solidFill>
                            <a:srgbClr val="1F2937"/>
                          </a:solidFill>
                          <a:latin typeface="Calibri"/>
                        </a:rPr>
                        <a:t>18.2M</a:t>
                      </a:r>
                    </a:p>
                  </a:txBody>
                  <a:tcPr marL="73152" marR="73152" marT="27432" marB="27432" anchor="ctr">
                    <a:solidFill>
                      <a:srgbClr val="FFFFFF"/>
                    </a:solidFill>
                  </a:tcPr>
                </a:tc>
                <a:tc>
                  <a:txBody>
                    <a:bodyPr wrap="square"/>
                    <a:lstStyle/>
                    <a:p>
                      <a:pPr algn="r"/>
                      <a:r>
                        <a:rPr sz="1050" b="0">
                          <a:solidFill>
                            <a:srgbClr val="1F2937"/>
                          </a:solidFill>
                          <a:latin typeface="Calibri"/>
                        </a:rPr>
                        <a:t>28k</a:t>
                      </a:r>
                    </a:p>
                  </a:txBody>
                  <a:tcPr marL="73152" marR="73152" marT="27432" marB="27432" anchor="ctr">
                    <a:solidFill>
                      <a:srgbClr val="FFFFFF"/>
                    </a:solidFill>
                  </a:tcPr>
                </a:tc>
                <a:tc>
                  <a:txBody>
                    <a:bodyPr wrap="square"/>
                    <a:lstStyle/>
                    <a:p>
                      <a:pPr algn="r"/>
                      <a:r>
                        <a:rPr sz="1050" b="0">
                          <a:solidFill>
                            <a:srgbClr val="1F2937"/>
                          </a:solidFill>
                          <a:latin typeface="Calibri"/>
                        </a:rPr>
                        <a:t>790k</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Philadelphia</a:t>
                      </a:r>
                    </a:p>
                  </a:txBody>
                  <a:tcPr marL="73152" marR="73152" marT="27432" marB="27432" anchor="ctr">
                    <a:solidFill>
                      <a:srgbClr val="FFFFFF"/>
                    </a:solidFill>
                  </a:tcPr>
                </a:tc>
                <a:tc>
                  <a:txBody>
                    <a:bodyPr wrap="square"/>
                    <a:lstStyle/>
                    <a:p>
                      <a:pPr algn="r"/>
                      <a:r>
                        <a:rPr sz="1050" b="0">
                          <a:solidFill>
                            <a:srgbClr val="1F2937"/>
                          </a:solidFill>
                          <a:latin typeface="Calibri"/>
                        </a:rPr>
                        <a:t>11.9M</a:t>
                      </a:r>
                    </a:p>
                  </a:txBody>
                  <a:tcPr marL="73152" marR="73152" marT="27432" marB="27432" anchor="ctr">
                    <a:solidFill>
                      <a:srgbClr val="FFFFFF"/>
                    </a:solidFill>
                  </a:tcPr>
                </a:tc>
                <a:tc>
                  <a:txBody>
                    <a:bodyPr wrap="square"/>
                    <a:lstStyle/>
                    <a:p>
                      <a:pPr algn="r"/>
                      <a:r>
                        <a:rPr sz="1050" b="0">
                          <a:solidFill>
                            <a:srgbClr val="1F2937"/>
                          </a:solidFill>
                          <a:latin typeface="Calibri"/>
                        </a:rPr>
                        <a:t>88k</a:t>
                      </a:r>
                    </a:p>
                  </a:txBody>
                  <a:tcPr marL="73152" marR="73152" marT="27432" marB="27432" anchor="ctr">
                    <a:solidFill>
                      <a:srgbClr val="FFFFFF"/>
                    </a:solidFill>
                  </a:tcPr>
                </a:tc>
                <a:tc>
                  <a:txBody>
                    <a:bodyPr wrap="square"/>
                    <a:lstStyle/>
                    <a:p>
                      <a:pPr algn="r"/>
                      <a:r>
                        <a:rPr sz="1050" b="0">
                          <a:solidFill>
                            <a:srgbClr val="1F2937"/>
                          </a:solidFill>
                          <a:latin typeface="Calibri"/>
                        </a:rPr>
                        <a:t>741k</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Dallas</a:t>
                      </a:r>
                    </a:p>
                  </a:txBody>
                  <a:tcPr marL="73152" marR="73152" marT="27432" marB="27432" anchor="ctr">
                    <a:solidFill>
                      <a:srgbClr val="FFFFFF"/>
                    </a:solidFill>
                  </a:tcPr>
                </a:tc>
                <a:tc>
                  <a:txBody>
                    <a:bodyPr wrap="square"/>
                    <a:lstStyle/>
                    <a:p>
                      <a:pPr algn="r"/>
                      <a:r>
                        <a:rPr sz="1050" b="0">
                          <a:solidFill>
                            <a:srgbClr val="1F2937"/>
                          </a:solidFill>
                          <a:latin typeface="Calibri"/>
                        </a:rPr>
                        <a:t>9.6M</a:t>
                      </a:r>
                    </a:p>
                  </a:txBody>
                  <a:tcPr marL="73152" marR="73152" marT="27432" marB="27432" anchor="ctr">
                    <a:solidFill>
                      <a:srgbClr val="FFFFFF"/>
                    </a:solidFill>
                  </a:tcPr>
                </a:tc>
                <a:tc>
                  <a:txBody>
                    <a:bodyPr wrap="square"/>
                    <a:lstStyle/>
                    <a:p>
                      <a:pPr algn="r"/>
                      <a:r>
                        <a:rPr sz="1050" b="0">
                          <a:solidFill>
                            <a:srgbClr val="1F2937"/>
                          </a:solidFill>
                          <a:latin typeface="Calibri"/>
                        </a:rPr>
                        <a:t>28k</a:t>
                      </a:r>
                    </a:p>
                  </a:txBody>
                  <a:tcPr marL="73152" marR="73152" marT="27432" marB="27432" anchor="ctr">
                    <a:solidFill>
                      <a:srgbClr val="FFFFFF"/>
                    </a:solidFill>
                  </a:tcPr>
                </a:tc>
                <a:tc>
                  <a:txBody>
                    <a:bodyPr wrap="square"/>
                    <a:lstStyle/>
                    <a:p>
                      <a:pPr algn="r"/>
                      <a:r>
                        <a:rPr sz="1050" b="0">
                          <a:solidFill>
                            <a:srgbClr val="1F2937"/>
                          </a:solidFill>
                          <a:latin typeface="Calibri"/>
                        </a:rPr>
                        <a:t>736k</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Los Angeles</a:t>
                      </a:r>
                    </a:p>
                  </a:txBody>
                  <a:tcPr marL="73152" marR="73152" marT="27432" marB="27432" anchor="ctr">
                    <a:solidFill>
                      <a:srgbClr val="FFFFFF"/>
                    </a:solidFill>
                  </a:tcPr>
                </a:tc>
                <a:tc>
                  <a:txBody>
                    <a:bodyPr wrap="square"/>
                    <a:lstStyle/>
                    <a:p>
                      <a:pPr algn="r"/>
                      <a:r>
                        <a:rPr sz="1050" b="0">
                          <a:solidFill>
                            <a:srgbClr val="1F2937"/>
                          </a:solidFill>
                          <a:latin typeface="Calibri"/>
                        </a:rPr>
                        <a:t>7.8M</a:t>
                      </a:r>
                    </a:p>
                  </a:txBody>
                  <a:tcPr marL="73152" marR="73152" marT="27432" marB="27432" anchor="ctr">
                    <a:solidFill>
                      <a:srgbClr val="FFFFFF"/>
                    </a:solidFill>
                  </a:tcPr>
                </a:tc>
                <a:tc>
                  <a:txBody>
                    <a:bodyPr wrap="square"/>
                    <a:lstStyle/>
                    <a:p>
                      <a:pPr algn="r"/>
                      <a:r>
                        <a:rPr sz="1050" b="0">
                          <a:solidFill>
                            <a:srgbClr val="1F2937"/>
                          </a:solidFill>
                          <a:latin typeface="Calibri"/>
                        </a:rPr>
                        <a:t>17k</a:t>
                      </a:r>
                    </a:p>
                  </a:txBody>
                  <a:tcPr marL="73152" marR="73152" marT="27432" marB="27432" anchor="ctr">
                    <a:solidFill>
                      <a:srgbClr val="FFFFFF"/>
                    </a:solidFill>
                  </a:tcPr>
                </a:tc>
                <a:tc>
                  <a:txBody>
                    <a:bodyPr wrap="square"/>
                    <a:lstStyle/>
                    <a:p>
                      <a:pPr algn="r"/>
                      <a:r>
                        <a:rPr sz="1050" b="0">
                          <a:solidFill>
                            <a:srgbClr val="1F2937"/>
                          </a:solidFill>
                          <a:latin typeface="Calibri"/>
                        </a:rPr>
                        <a:t>200k</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San Antonio</a:t>
                      </a:r>
                    </a:p>
                  </a:txBody>
                  <a:tcPr marL="73152" marR="73152" marT="27432" marB="27432" anchor="ctr">
                    <a:solidFill>
                      <a:srgbClr val="FFFFFF"/>
                    </a:solidFill>
                  </a:tcPr>
                </a:tc>
                <a:tc>
                  <a:txBody>
                    <a:bodyPr wrap="square"/>
                    <a:lstStyle/>
                    <a:p>
                      <a:pPr algn="r"/>
                      <a:r>
                        <a:rPr sz="1050" b="0">
                          <a:solidFill>
                            <a:srgbClr val="1F2937"/>
                          </a:solidFill>
                          <a:latin typeface="Calibri"/>
                        </a:rPr>
                        <a:t>3.9M</a:t>
                      </a:r>
                    </a:p>
                  </a:txBody>
                  <a:tcPr marL="73152" marR="73152" marT="27432" marB="27432" anchor="ctr">
                    <a:solidFill>
                      <a:srgbClr val="FFFFFF"/>
                    </a:solidFill>
                  </a:tcPr>
                </a:tc>
                <a:tc>
                  <a:txBody>
                    <a:bodyPr wrap="square"/>
                    <a:lstStyle/>
                    <a:p>
                      <a:pPr algn="r"/>
                      <a:r>
                        <a:rPr sz="1050" b="0">
                          <a:solidFill>
                            <a:srgbClr val="1F2937"/>
                          </a:solidFill>
                          <a:latin typeface="Calibri"/>
                        </a:rPr>
                        <a:t>7,771</a:t>
                      </a:r>
                    </a:p>
                  </a:txBody>
                  <a:tcPr marL="73152" marR="73152" marT="27432" marB="27432" anchor="ctr">
                    <a:solidFill>
                      <a:srgbClr val="FFFFFF"/>
                    </a:solidFill>
                  </a:tcPr>
                </a:tc>
                <a:tc>
                  <a:txBody>
                    <a:bodyPr wrap="square"/>
                    <a:lstStyle/>
                    <a:p>
                      <a:pPr algn="r"/>
                      <a:r>
                        <a:rPr sz="1050" b="0">
                          <a:solidFill>
                            <a:srgbClr val="1F2937"/>
                          </a:solidFill>
                          <a:latin typeface="Calibri"/>
                        </a:rPr>
                        <a:t>270k</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Austin</a:t>
                      </a:r>
                    </a:p>
                  </a:txBody>
                  <a:tcPr marL="73152" marR="73152" marT="27432" marB="27432" anchor="ctr">
                    <a:solidFill>
                      <a:srgbClr val="FFFFFF"/>
                    </a:solidFill>
                  </a:tcPr>
                </a:tc>
                <a:tc>
                  <a:txBody>
                    <a:bodyPr wrap="square"/>
                    <a:lstStyle/>
                    <a:p>
                      <a:pPr algn="r"/>
                      <a:r>
                        <a:rPr sz="1050" b="0">
                          <a:solidFill>
                            <a:srgbClr val="1F2937"/>
                          </a:solidFill>
                          <a:latin typeface="Calibri"/>
                        </a:rPr>
                        <a:t>2.6M</a:t>
                      </a:r>
                    </a:p>
                  </a:txBody>
                  <a:tcPr marL="73152" marR="73152" marT="27432" marB="27432" anchor="ctr">
                    <a:solidFill>
                      <a:srgbClr val="FFFFFF"/>
                    </a:solidFill>
                  </a:tcPr>
                </a:tc>
                <a:tc>
                  <a:txBody>
                    <a:bodyPr wrap="square"/>
                    <a:lstStyle/>
                    <a:p>
                      <a:pPr algn="r"/>
                      <a:r>
                        <a:rPr sz="1050" b="0">
                          <a:solidFill>
                            <a:srgbClr val="1F2937"/>
                          </a:solidFill>
                          <a:latin typeface="Calibri"/>
                        </a:rPr>
                        <a:t>8,057</a:t>
                      </a:r>
                    </a:p>
                  </a:txBody>
                  <a:tcPr marL="73152" marR="73152" marT="27432" marB="27432" anchor="ctr">
                    <a:solidFill>
                      <a:srgbClr val="FFFFFF"/>
                    </a:solidFill>
                  </a:tcPr>
                </a:tc>
                <a:tc>
                  <a:txBody>
                    <a:bodyPr wrap="square"/>
                    <a:lstStyle/>
                    <a:p>
                      <a:pPr algn="r"/>
                      <a:r>
                        <a:rPr sz="1050" b="0">
                          <a:solidFill>
                            <a:srgbClr val="1F2937"/>
                          </a:solidFill>
                          <a:latin typeface="Calibri"/>
                        </a:rPr>
                        <a:t>268k</a:t>
                      </a:r>
                    </a:p>
                  </a:txBody>
                  <a:tcPr marL="73152" marR="73152" marT="27432" marB="27432" anchor="ctr">
                    <a:solidFill>
                      <a:srgbClr val="FFFFFF"/>
                    </a:solidFill>
                  </a:tcPr>
                </a:tc>
              </a:tr>
              <a:tr h="260603">
                <a:tc>
                  <a:txBody>
                    <a:bodyPr wrap="square"/>
                    <a:lstStyle/>
                    <a:p>
                      <a:pPr algn="l"/>
                      <a:r>
                        <a:rPr sz="1050" b="0">
                          <a:solidFill>
                            <a:srgbClr val="1F2937"/>
                          </a:solidFill>
                          <a:latin typeface="Calibri"/>
                        </a:rPr>
                        <a:t>San Diego</a:t>
                      </a:r>
                    </a:p>
                  </a:txBody>
                  <a:tcPr marL="73152" marR="73152" marT="27432" marB="27432" anchor="ctr">
                    <a:solidFill>
                      <a:srgbClr val="FFFFFF"/>
                    </a:solidFill>
                  </a:tcPr>
                </a:tc>
                <a:tc>
                  <a:txBody>
                    <a:bodyPr wrap="square"/>
                    <a:lstStyle/>
                    <a:p>
                      <a:pPr algn="r"/>
                      <a:r>
                        <a:rPr sz="1050" b="0">
                          <a:solidFill>
                            <a:srgbClr val="1F2937"/>
                          </a:solidFill>
                          <a:latin typeface="Calibri"/>
                        </a:rPr>
                        <a:t>1.4M</a:t>
                      </a:r>
                    </a:p>
                  </a:txBody>
                  <a:tcPr marL="73152" marR="73152" marT="27432" marB="27432" anchor="ctr">
                    <a:solidFill>
                      <a:srgbClr val="FFFFFF"/>
                    </a:solidFill>
                  </a:tcPr>
                </a:tc>
                <a:tc>
                  <a:txBody>
                    <a:bodyPr wrap="square"/>
                    <a:lstStyle/>
                    <a:p>
                      <a:pPr algn="r"/>
                      <a:r>
                        <a:rPr sz="1050" b="0">
                          <a:solidFill>
                            <a:srgbClr val="1F2937"/>
                          </a:solidFill>
                          <a:latin typeface="Calibri"/>
                        </a:rPr>
                        <a:t>4,430</a:t>
                      </a:r>
                    </a:p>
                  </a:txBody>
                  <a:tcPr marL="73152" marR="73152" marT="27432" marB="27432" anchor="ctr">
                    <a:solidFill>
                      <a:srgbClr val="FFFFFF"/>
                    </a:solidFill>
                  </a:tcPr>
                </a:tc>
                <a:tc>
                  <a:txBody>
                    <a:bodyPr wrap="square"/>
                    <a:lstStyle/>
                    <a:p>
                      <a:pPr algn="r"/>
                      <a:r>
                        <a:rPr sz="1050" b="0">
                          <a:solidFill>
                            <a:srgbClr val="1F2937"/>
                          </a:solidFill>
                          <a:latin typeface="Calibri"/>
                        </a:rPr>
                        <a:t>104k</a:t>
                      </a:r>
                    </a:p>
                  </a:txBody>
                  <a:tcPr marL="73152" marR="73152" marT="27432" marB="27432" anchor="ctr">
                    <a:solidFill>
                      <a:srgbClr val="FFFFFF"/>
                    </a:solidFill>
                  </a:tcPr>
                </a:tc>
              </a:tr>
            </a:tbl>
          </a:graphicData>
        </a:graphic>
      </p:graphicFrame>
      <p:sp>
        <p:nvSpPr>
          <p:cNvPr id="9" name="Rectangle 8"/>
          <p:cNvSpPr/>
          <p:nvPr/>
        </p:nvSpPr>
        <p:spPr>
          <a:xfrm>
            <a:off x="6172200" y="4343400"/>
            <a:ext cx="5440680" cy="1691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55080" y="4434840"/>
            <a:ext cx="5120640" cy="1554480"/>
          </a:xfrm>
          <a:prstGeom prst="rect">
            <a:avLst/>
          </a:prstGeom>
          <a:noFill/>
        </p:spPr>
        <p:txBody>
          <a:bodyPr wrap="square" lIns="0" rIns="0" tIns="0" bIns="0" anchor="t">
            <a:spAutoFit/>
          </a:bodyPr>
          <a:lstStyle/>
          <a:p>
            <a:pPr algn="l">
              <a:lnSpc>
                <a:spcPct val="110000"/>
              </a:lnSpc>
              <a:spcAft>
                <a:spcPts val="400"/>
              </a:spcAft>
            </a:pPr>
            <a:r>
              <a:rPr sz="1100" b="1" i="0">
                <a:solidFill>
                  <a:srgbClr val="1F2937"/>
                </a:solidFill>
                <a:latin typeface="Calibri"/>
              </a:rPr>
              <a:t>Hypothesis, not shown by the table. </a:t>
            </a:r>
            <a:r>
              <a:rPr sz="1100" b="0" i="0">
                <a:solidFill>
                  <a:srgbClr val="1F2937"/>
                </a:solidFill>
                <a:latin typeface="Calibri"/>
              </a:rPr>
              <a:t>New York has 81× San Diego's hours per square mile. No two large US cities plausibly differ 80-fold in roadwork; the likelier explanation is that feed coverage varies by state DOT. </a:t>
            </a:r>
            <a:r>
              <a:rPr sz="1100" b="1" i="0">
                <a:solidFill>
                  <a:srgbClr val="1F2937"/>
                </a:solidFill>
                <a:latin typeface="Calibri"/>
              </a:rPr>
              <a:t>What would test it: </a:t>
            </a:r>
            <a:r>
              <a:rPr sz="1100" b="0" i="0">
                <a:solidFill>
                  <a:srgbClr val="1F2937"/>
                </a:solidFill>
                <a:latin typeface="Calibri"/>
              </a:rPr>
              <a:t>a provider fingerprint by state (two spellings of the wind column mark two feeds), description templates by state, and an outside benchmark such as FHWA state DOT outlay per lane-mile.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Q4 — SF → Berkeley carries the most construction per mile, and the leader has changed every two years</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Stable: the three bridge routes are always the top three and Pacifica is at or near the bottom every year. Unstable: which bridge route leads.</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queries/08, fct_route_exposure  ·  data pulled 2026-10-26   ·   12</a:t>
            </a:r>
          </a:p>
        </p:txBody>
      </p:sp>
      <p:pic>
        <p:nvPicPr>
          <p:cNvPr id="7" name="Picture 6" descr="q4_routes.png"/>
          <p:cNvPicPr>
            <a:picLocks noChangeAspect="1"/>
          </p:cNvPicPr>
          <p:nvPr/>
        </p:nvPicPr>
        <p:blipFill>
          <a:blip r:embed="rId3"/>
          <a:stretch>
            <a:fillRect/>
          </a:stretch>
        </p:blipFill>
        <p:spPr>
          <a:xfrm>
            <a:off x="548640" y="1234439"/>
            <a:ext cx="7589520" cy="3378641"/>
          </a:xfrm>
          <a:prstGeom prst="rect">
            <a:avLst/>
          </a:prstGeom>
        </p:spPr>
      </p:pic>
      <p:sp>
        <p:nvSpPr>
          <p:cNvPr id="8" name="TextBox 7"/>
          <p:cNvSpPr txBox="1"/>
          <p:nvPr/>
        </p:nvSpPr>
        <p:spPr>
          <a:xfrm>
            <a:off x="8503920" y="1325880"/>
            <a:ext cx="3108960" cy="365760"/>
          </a:xfrm>
          <a:prstGeom prst="rect">
            <a:avLst/>
          </a:prstGeom>
          <a:noFill/>
        </p:spPr>
        <p:txBody>
          <a:bodyPr wrap="square" lIns="0" rIns="0" tIns="0" bIns="0" anchor="t">
            <a:spAutoFit/>
          </a:bodyPr>
          <a:lstStyle/>
          <a:p>
            <a:pPr algn="l">
              <a:lnSpc>
                <a:spcPct val="110000"/>
              </a:lnSpc>
              <a:spcAft>
                <a:spcPts val="400"/>
              </a:spcAft>
            </a:pPr>
            <a:r>
              <a:rPr sz="1300" b="1" i="0">
                <a:solidFill>
                  <a:srgbClr val="1F2937"/>
                </a:solidFill>
                <a:latin typeface="Calibri"/>
              </a:rPr>
              <a:t>Leader by year, hours per mile</a:t>
            </a:r>
          </a:p>
        </p:txBody>
      </p:sp>
      <p:graphicFrame>
        <p:nvGraphicFramePr>
          <p:cNvPr id="9" name="Table 8"/>
          <p:cNvGraphicFramePr>
            <a:graphicFrameLocks noGrp="1"/>
          </p:cNvGraphicFramePr>
          <p:nvPr/>
        </p:nvGraphicFramePr>
        <p:xfrm>
          <a:off x="8503920" y="1737360"/>
          <a:ext cx="3108960" cy="1755648"/>
        </p:xfrm>
        <a:graphic>
          <a:graphicData uri="http://schemas.openxmlformats.org/drawingml/2006/table">
            <a:tbl>
              <a:tblPr>
                <a:tableStyleId>{2D5ABB26-0587-4C30-8999-92F81FD0307C}</a:tableStyleId>
              </a:tblPr>
              <a:tblGrid>
                <a:gridCol w="640080"/>
                <a:gridCol w="1234440"/>
                <a:gridCol w="1234440"/>
              </a:tblGrid>
              <a:tr h="292608">
                <a:tc>
                  <a:txBody>
                    <a:bodyPr wrap="square"/>
                    <a:lstStyle/>
                    <a:p>
                      <a:pPr algn="l"/>
                      <a:r>
                        <a:rPr sz="1050" b="1">
                          <a:solidFill>
                            <a:srgbClr val="6B7B8C"/>
                          </a:solidFill>
                          <a:latin typeface="Calibri"/>
                        </a:rPr>
                        <a:t>Year</a:t>
                      </a:r>
                    </a:p>
                  </a:txBody>
                  <a:tcPr marL="73152" marR="73152" marT="27432" marB="27432" anchor="ctr">
                    <a:solidFill>
                      <a:srgbClr val="F1F4F8"/>
                    </a:solidFill>
                    <a:lnB w="12700">
                      <a:solidFill>
                        <a:srgbClr val="DCE3EA"/>
                      </a:solidFill>
                    </a:lnB>
                  </a:tcPr>
                </a:tc>
                <a:tc>
                  <a:txBody>
                    <a:bodyPr wrap="square"/>
                    <a:lstStyle/>
                    <a:p>
                      <a:pPr algn="l"/>
                      <a:r>
                        <a:rPr sz="1050" b="1">
                          <a:solidFill>
                            <a:srgbClr val="6B7B8C"/>
                          </a:solidFill>
                          <a:latin typeface="Calibri"/>
                        </a:rPr>
                        <a:t>1st</a:t>
                      </a:r>
                    </a:p>
                  </a:txBody>
                  <a:tcPr marL="73152" marR="73152" marT="27432" marB="27432" anchor="ctr">
                    <a:solidFill>
                      <a:srgbClr val="F1F4F8"/>
                    </a:solidFill>
                    <a:lnB w="12700">
                      <a:solidFill>
                        <a:srgbClr val="DCE3EA"/>
                      </a:solidFill>
                    </a:lnB>
                  </a:tcPr>
                </a:tc>
                <a:tc>
                  <a:txBody>
                    <a:bodyPr wrap="square"/>
                    <a:lstStyle/>
                    <a:p>
                      <a:pPr algn="l"/>
                      <a:r>
                        <a:rPr sz="1050" b="1">
                          <a:solidFill>
                            <a:srgbClr val="6B7B8C"/>
                          </a:solidFill>
                          <a:latin typeface="Calibri"/>
                        </a:rPr>
                        <a:t>2nd</a:t>
                      </a:r>
                    </a:p>
                  </a:txBody>
                  <a:tcPr marL="73152" marR="73152" marT="27432" marB="27432" anchor="ctr">
                    <a:solidFill>
                      <a:srgbClr val="F1F4F8"/>
                    </a:solidFill>
                    <a:lnB w="12700">
                      <a:solidFill>
                        <a:srgbClr val="DCE3EA"/>
                      </a:solidFill>
                    </a:lnB>
                  </a:tcPr>
                </a:tc>
              </a:tr>
              <a:tr h="292608">
                <a:tc>
                  <a:txBody>
                    <a:bodyPr wrap="square"/>
                    <a:lstStyle/>
                    <a:p>
                      <a:pPr algn="l"/>
                      <a:r>
                        <a:rPr sz="1100" b="0">
                          <a:solidFill>
                            <a:srgbClr val="1F2937"/>
                          </a:solidFill>
                          <a:latin typeface="Calibri"/>
                        </a:rPr>
                        <a:t>2017</a:t>
                      </a:r>
                    </a:p>
                  </a:txBody>
                  <a:tcPr marL="73152" marR="73152" marT="27432" marB="27432" anchor="ctr">
                    <a:solidFill>
                      <a:srgbClr val="FFFFFF"/>
                    </a:solidFill>
                  </a:tcPr>
                </a:tc>
                <a:tc>
                  <a:txBody>
                    <a:bodyPr wrap="square"/>
                    <a:lstStyle/>
                    <a:p>
                      <a:pPr algn="l"/>
                      <a:r>
                        <a:rPr sz="1100" b="0">
                          <a:solidFill>
                            <a:srgbClr val="1F2937"/>
                          </a:solidFill>
                          <a:latin typeface="Calibri"/>
                        </a:rPr>
                        <a:t>San Leandro</a:t>
                      </a:r>
                    </a:p>
                  </a:txBody>
                  <a:tcPr marL="73152" marR="73152" marT="27432" marB="27432" anchor="ctr">
                    <a:solidFill>
                      <a:srgbClr val="FFFFFF"/>
                    </a:solidFill>
                  </a:tcPr>
                </a:tc>
                <a:tc>
                  <a:txBody>
                    <a:bodyPr wrap="square"/>
                    <a:lstStyle/>
                    <a:p>
                      <a:pPr algn="l"/>
                      <a:r>
                        <a:rPr sz="1100" b="0">
                          <a:solidFill>
                            <a:srgbClr val="1F2937"/>
                          </a:solidFill>
                          <a:latin typeface="Calibri"/>
                        </a:rPr>
                        <a:t>Berkeley</a:t>
                      </a:r>
                    </a:p>
                  </a:txBody>
                  <a:tcPr marL="73152" marR="73152" marT="27432" marB="27432" anchor="ctr">
                    <a:solidFill>
                      <a:srgbClr val="FFFFFF"/>
                    </a:solidFill>
                  </a:tcPr>
                </a:tc>
              </a:tr>
              <a:tr h="292608">
                <a:tc>
                  <a:txBody>
                    <a:bodyPr wrap="square"/>
                    <a:lstStyle/>
                    <a:p>
                      <a:pPr algn="l"/>
                      <a:r>
                        <a:rPr sz="1100" b="0">
                          <a:solidFill>
                            <a:srgbClr val="1F2937"/>
                          </a:solidFill>
                          <a:latin typeface="Calibri"/>
                        </a:rPr>
                        <a:t>2018</a:t>
                      </a:r>
                    </a:p>
                  </a:txBody>
                  <a:tcPr marL="73152" marR="73152" marT="27432" marB="27432" anchor="ctr">
                    <a:solidFill>
                      <a:srgbClr val="FFFFFF"/>
                    </a:solidFill>
                  </a:tcPr>
                </a:tc>
                <a:tc>
                  <a:txBody>
                    <a:bodyPr wrap="square"/>
                    <a:lstStyle/>
                    <a:p>
                      <a:pPr algn="l"/>
                      <a:r>
                        <a:rPr sz="1100" b="0">
                          <a:solidFill>
                            <a:srgbClr val="1F2937"/>
                          </a:solidFill>
                          <a:latin typeface="Calibri"/>
                        </a:rPr>
                        <a:t>San Leandro</a:t>
                      </a:r>
                    </a:p>
                  </a:txBody>
                  <a:tcPr marL="73152" marR="73152" marT="27432" marB="27432" anchor="ctr">
                    <a:solidFill>
                      <a:srgbClr val="FFFFFF"/>
                    </a:solidFill>
                  </a:tcPr>
                </a:tc>
                <a:tc>
                  <a:txBody>
                    <a:bodyPr wrap="square"/>
                    <a:lstStyle/>
                    <a:p>
                      <a:pPr algn="l"/>
                      <a:r>
                        <a:rPr sz="1100" b="0">
                          <a:solidFill>
                            <a:srgbClr val="1F2937"/>
                          </a:solidFill>
                          <a:latin typeface="Calibri"/>
                        </a:rPr>
                        <a:t>Berkeley</a:t>
                      </a:r>
                    </a:p>
                  </a:txBody>
                  <a:tcPr marL="73152" marR="73152" marT="27432" marB="27432" anchor="ctr">
                    <a:solidFill>
                      <a:srgbClr val="FFFFFF"/>
                    </a:solidFill>
                  </a:tcPr>
                </a:tc>
              </a:tr>
              <a:tr h="292608">
                <a:tc>
                  <a:txBody>
                    <a:bodyPr wrap="square"/>
                    <a:lstStyle/>
                    <a:p>
                      <a:pPr algn="l"/>
                      <a:r>
                        <a:rPr sz="1100" b="0">
                          <a:solidFill>
                            <a:srgbClr val="1F2937"/>
                          </a:solidFill>
                          <a:latin typeface="Calibri"/>
                        </a:rPr>
                        <a:t>2019</a:t>
                      </a:r>
                    </a:p>
                  </a:txBody>
                  <a:tcPr marL="73152" marR="73152" marT="27432" marB="27432" anchor="ctr">
                    <a:solidFill>
                      <a:srgbClr val="FFFFFF"/>
                    </a:solidFill>
                  </a:tcPr>
                </a:tc>
                <a:tc>
                  <a:txBody>
                    <a:bodyPr wrap="square"/>
                    <a:lstStyle/>
                    <a:p>
                      <a:pPr algn="l"/>
                      <a:r>
                        <a:rPr sz="1100" b="0">
                          <a:solidFill>
                            <a:srgbClr val="1F2937"/>
                          </a:solidFill>
                          <a:latin typeface="Calibri"/>
                        </a:rPr>
                        <a:t>San Rafael</a:t>
                      </a:r>
                    </a:p>
                  </a:txBody>
                  <a:tcPr marL="73152" marR="73152" marT="27432" marB="27432" anchor="ctr">
                    <a:solidFill>
                      <a:srgbClr val="FFFFFF"/>
                    </a:solidFill>
                  </a:tcPr>
                </a:tc>
                <a:tc>
                  <a:txBody>
                    <a:bodyPr wrap="square"/>
                    <a:lstStyle/>
                    <a:p>
                      <a:pPr algn="l"/>
                      <a:r>
                        <a:rPr sz="1100" b="0">
                          <a:solidFill>
                            <a:srgbClr val="1F2937"/>
                          </a:solidFill>
                          <a:latin typeface="Calibri"/>
                        </a:rPr>
                        <a:t>Berkeley</a:t>
                      </a:r>
                    </a:p>
                  </a:txBody>
                  <a:tcPr marL="73152" marR="73152" marT="27432" marB="27432" anchor="ctr">
                    <a:solidFill>
                      <a:srgbClr val="FFFFFF"/>
                    </a:solidFill>
                  </a:tcPr>
                </a:tc>
              </a:tr>
              <a:tr h="292608">
                <a:tc>
                  <a:txBody>
                    <a:bodyPr wrap="square"/>
                    <a:lstStyle/>
                    <a:p>
                      <a:pPr algn="l"/>
                      <a:r>
                        <a:rPr sz="1100" b="0">
                          <a:solidFill>
                            <a:srgbClr val="1F2937"/>
                          </a:solidFill>
                          <a:latin typeface="Calibri"/>
                        </a:rPr>
                        <a:t>2020</a:t>
                      </a:r>
                    </a:p>
                  </a:txBody>
                  <a:tcPr marL="73152" marR="73152" marT="27432" marB="27432" anchor="ctr">
                    <a:solidFill>
                      <a:srgbClr val="FFFFFF"/>
                    </a:solidFill>
                  </a:tcPr>
                </a:tc>
                <a:tc>
                  <a:txBody>
                    <a:bodyPr wrap="square"/>
                    <a:lstStyle/>
                    <a:p>
                      <a:pPr algn="l"/>
                      <a:r>
                        <a:rPr sz="1100" b="0">
                          <a:solidFill>
                            <a:srgbClr val="1F2937"/>
                          </a:solidFill>
                          <a:latin typeface="Calibri"/>
                        </a:rPr>
                        <a:t>San Rafael</a:t>
                      </a:r>
                    </a:p>
                  </a:txBody>
                  <a:tcPr marL="73152" marR="73152" marT="27432" marB="27432" anchor="ctr">
                    <a:solidFill>
                      <a:srgbClr val="FFFFFF"/>
                    </a:solidFill>
                  </a:tcPr>
                </a:tc>
                <a:tc>
                  <a:txBody>
                    <a:bodyPr wrap="square"/>
                    <a:lstStyle/>
                    <a:p>
                      <a:pPr algn="l"/>
                      <a:r>
                        <a:rPr sz="1100" b="0">
                          <a:solidFill>
                            <a:srgbClr val="1F2937"/>
                          </a:solidFill>
                          <a:latin typeface="Calibri"/>
                        </a:rPr>
                        <a:t>San Leandro</a:t>
                      </a:r>
                    </a:p>
                  </a:txBody>
                  <a:tcPr marL="73152" marR="73152" marT="27432" marB="27432" anchor="ctr">
                    <a:solidFill>
                      <a:srgbClr val="FFFFFF"/>
                    </a:solidFill>
                  </a:tcPr>
                </a:tc>
              </a:tr>
              <a:tr h="292608">
                <a:tc>
                  <a:txBody>
                    <a:bodyPr wrap="square"/>
                    <a:lstStyle/>
                    <a:p>
                      <a:pPr algn="l"/>
                      <a:r>
                        <a:rPr sz="1100" b="0">
                          <a:solidFill>
                            <a:srgbClr val="1F2937"/>
                          </a:solidFill>
                          <a:latin typeface="Calibri"/>
                        </a:rPr>
                        <a:t>2021</a:t>
                      </a:r>
                    </a:p>
                  </a:txBody>
                  <a:tcPr marL="73152" marR="73152" marT="27432" marB="27432" anchor="ctr">
                    <a:solidFill>
                      <a:srgbClr val="FFFFFF"/>
                    </a:solidFill>
                  </a:tcPr>
                </a:tc>
                <a:tc>
                  <a:txBody>
                    <a:bodyPr wrap="square"/>
                    <a:lstStyle/>
                    <a:p>
                      <a:pPr algn="l"/>
                      <a:r>
                        <a:rPr sz="1100" b="0">
                          <a:solidFill>
                            <a:srgbClr val="1F2937"/>
                          </a:solidFill>
                          <a:latin typeface="Calibri"/>
                        </a:rPr>
                        <a:t>Berkeley</a:t>
                      </a:r>
                    </a:p>
                  </a:txBody>
                  <a:tcPr marL="73152" marR="73152" marT="27432" marB="27432" anchor="ctr">
                    <a:solidFill>
                      <a:srgbClr val="FFFFFF"/>
                    </a:solidFill>
                  </a:tcPr>
                </a:tc>
                <a:tc>
                  <a:txBody>
                    <a:bodyPr wrap="square"/>
                    <a:lstStyle/>
                    <a:p>
                      <a:pPr algn="l"/>
                      <a:r>
                        <a:rPr sz="1100" b="0">
                          <a:solidFill>
                            <a:srgbClr val="1F2937"/>
                          </a:solidFill>
                          <a:latin typeface="Calibri"/>
                        </a:rPr>
                        <a:t>San Rafael</a:t>
                      </a:r>
                    </a:p>
                  </a:txBody>
                  <a:tcPr marL="73152" marR="73152" marT="27432" marB="27432" anchor="ctr">
                    <a:solidFill>
                      <a:srgbClr val="FFFFFF"/>
                    </a:solidFill>
                  </a:tcPr>
                </a:tc>
              </a:tr>
            </a:tbl>
          </a:graphicData>
        </a:graphic>
      </p:graphicFrame>
      <p:sp>
        <p:nvSpPr>
          <p:cNvPr id="10" name="TextBox 9"/>
          <p:cNvSpPr txBox="1"/>
          <p:nvPr/>
        </p:nvSpPr>
        <p:spPr>
          <a:xfrm>
            <a:off x="8503920" y="3703320"/>
            <a:ext cx="3108960" cy="2468880"/>
          </a:xfrm>
          <a:prstGeom prst="rect">
            <a:avLst/>
          </a:prstGeom>
          <a:noFill/>
        </p:spPr>
        <p:txBody>
          <a:bodyPr wrap="square" lIns="0" rIns="0" tIns="0" bIns="0" anchor="t">
            <a:spAutoFit/>
          </a:bodyPr>
          <a:lstStyle/>
          <a:p>
            <a:pPr algn="l" marL="201168" indent="-201168">
              <a:lnSpc>
                <a:spcPct val="110000"/>
              </a:lnSpc>
              <a:spcAft>
                <a:spcPts val="500"/>
              </a:spcAft>
              <a:buChar char="•"/>
            </a:pPr>
            <a:r>
              <a:rPr sz="1150" b="0" i="0">
                <a:solidFill>
                  <a:srgbClr val="1F2937"/>
                </a:solidFill>
                <a:latin typeface="Calibri"/>
              </a:rPr>
              <a:t>Five-year: Berkeley 29k hours per mile; severity-weighting gives the same order.</a:t>
            </a:r>
          </a:p>
          <a:p>
            <a:pPr algn="l" marL="201168" indent="-201168">
              <a:lnSpc>
                <a:spcPct val="110000"/>
              </a:lnSpc>
              <a:spcAft>
                <a:spcPts val="500"/>
              </a:spcAft>
              <a:buChar char="•"/>
            </a:pPr>
            <a:r>
              <a:rPr sz="1150" b="0" i="0">
                <a:solidFill>
                  <a:srgbClr val="1F2937"/>
                </a:solidFill>
                <a:latin typeface="Calibri"/>
              </a:rPr>
              <a:t>Berkeley's 2021 is 71% of its five-year total: the same feed change as the cities.</a:t>
            </a:r>
          </a:p>
          <a:p>
            <a:pPr algn="l" marL="201168" indent="-201168">
              <a:lnSpc>
                <a:spcPct val="110000"/>
              </a:lnSpc>
              <a:spcAft>
                <a:spcPts val="500"/>
              </a:spcAft>
              <a:buChar char="•"/>
            </a:pPr>
            <a:r>
              <a:rPr sz="1150" b="0" i="0">
                <a:solidFill>
                  <a:srgbClr val="1F2937"/>
                </a:solidFill>
                <a:latin typeface="Calibri"/>
              </a:rPr>
              <a:t>San Leandro has 334 long events to Berkeley's 126 and is the route most likely undercounted.</a:t>
            </a:r>
          </a:p>
        </p:txBody>
      </p:sp>
      <p:sp>
        <p:nvSpPr>
          <p:cNvPr id="11" name="TextBox 10"/>
          <p:cNvSpPr txBox="1"/>
          <p:nvPr/>
        </p:nvSpPr>
        <p:spPr>
          <a:xfrm>
            <a:off x="548640" y="4983480"/>
            <a:ext cx="7589520" cy="320040"/>
          </a:xfrm>
          <a:prstGeom prst="rect">
            <a:avLst/>
          </a:prstGeom>
          <a:noFill/>
        </p:spPr>
        <p:txBody>
          <a:bodyPr wrap="square" lIns="0" rIns="0" tIns="0" bIns="0" anchor="t">
            <a:spAutoFit/>
          </a:bodyPr>
          <a:lstStyle/>
          <a:p>
            <a:pPr algn="l">
              <a:lnSpc>
                <a:spcPct val="110000"/>
              </a:lnSpc>
              <a:spcAft>
                <a:spcPts val="400"/>
              </a:spcAft>
            </a:pPr>
            <a:r>
              <a:rPr sz="1000" b="0" i="0">
                <a:solidFill>
                  <a:srgbClr val="6B7B8C"/>
                </a:solidFill>
                <a:latin typeface="Calibri"/>
              </a:rPr>
              <a:t>Hours per route-mile = construction hours of matched events ÷ route length. Berkeley and San Leandro share the Bay Bridge approach, so bridge work counts for both.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Q4 — what the model matched: the Berkeley route, 2021</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I-80 at Ashby, Cleveland St, the Bay Bridge piers, Treasure Island, the Yerba Buena tunnel: the events a person would expect, found without a spatial extension.</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queries/09, int_route_events  ·  data pulled 2026-10-26   ·   13</a:t>
            </a:r>
          </a:p>
        </p:txBody>
      </p:sp>
      <p:graphicFrame>
        <p:nvGraphicFramePr>
          <p:cNvPr id="7" name="Table 6"/>
          <p:cNvGraphicFramePr>
            <a:graphicFrameLocks noGrp="1"/>
          </p:cNvGraphicFramePr>
          <p:nvPr/>
        </p:nvGraphicFramePr>
        <p:xfrm>
          <a:off x="548640" y="1325880"/>
          <a:ext cx="7772400" cy="3950208"/>
        </p:xfrm>
        <a:graphic>
          <a:graphicData uri="http://schemas.openxmlformats.org/drawingml/2006/table">
            <a:tbl>
              <a:tblPr>
                <a:tableStyleId>{2D5ABB26-0587-4C30-8999-92F81FD0307C}</a:tableStyleId>
              </a:tblPr>
              <a:tblGrid>
                <a:gridCol w="6035040"/>
                <a:gridCol w="822960"/>
                <a:gridCol w="914400"/>
              </a:tblGrid>
              <a:tr h="329184">
                <a:tc>
                  <a:txBody>
                    <a:bodyPr wrap="square"/>
                    <a:lstStyle/>
                    <a:p>
                      <a:pPr algn="l"/>
                      <a:r>
                        <a:rPr sz="1050" b="1">
                          <a:solidFill>
                            <a:srgbClr val="6B7B8C"/>
                          </a:solidFill>
                          <a:latin typeface="Calibri"/>
                        </a:rPr>
                        <a:t>Description (as published)</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Events</a:t>
                      </a:r>
                    </a:p>
                  </a:txBody>
                  <a:tcPr marL="73152" marR="73152" marT="27432" marB="27432" anchor="ctr">
                    <a:solidFill>
                      <a:srgbClr val="F1F4F8"/>
                    </a:solidFill>
                    <a:lnB w="12700">
                      <a:solidFill>
                        <a:srgbClr val="DCE3EA"/>
                      </a:solidFill>
                    </a:lnB>
                  </a:tcPr>
                </a:tc>
                <a:tc>
                  <a:txBody>
                    <a:bodyPr wrap="square"/>
                    <a:lstStyle/>
                    <a:p>
                      <a:pPr algn="r"/>
                      <a:r>
                        <a:rPr sz="1050" b="1">
                          <a:solidFill>
                            <a:srgbClr val="6B7B8C"/>
                          </a:solidFill>
                          <a:latin typeface="Calibri"/>
                        </a:rPr>
                        <a:t>Hours</a:t>
                      </a:r>
                    </a:p>
                  </a:txBody>
                  <a:tcPr marL="73152" marR="73152" marT="27432" marB="27432" anchor="ctr">
                    <a:solidFill>
                      <a:srgbClr val="F1F4F8"/>
                    </a:solidFill>
                    <a:lnB w="12700">
                      <a:solidFill>
                        <a:srgbClr val="DCE3EA"/>
                      </a:solidFill>
                    </a:lnB>
                  </a:tcPr>
                </a:tc>
              </a:tr>
              <a:tr h="329184">
                <a:tc>
                  <a:txBody>
                    <a:bodyPr wrap="square"/>
                    <a:lstStyle/>
                    <a:p>
                      <a:pPr algn="l"/>
                      <a:r>
                        <a:rPr sz="1050" b="0">
                          <a:solidFill>
                            <a:srgbClr val="1F2937"/>
                          </a:solidFill>
                          <a:latin typeface="Calibri"/>
                        </a:rPr>
                        <a:t>Construction on I-80 EB near CA-13 Drive with caution.</a:t>
                      </a:r>
                    </a:p>
                  </a:txBody>
                  <a:tcPr marL="73152" marR="73152" marT="27432" marB="27432" anchor="ctr">
                    <a:solidFill>
                      <a:srgbClr val="FFFFFF"/>
                    </a:solidFill>
                  </a:tcPr>
                </a:tc>
                <a:tc>
                  <a:txBody>
                    <a:bodyPr wrap="square"/>
                    <a:lstStyle/>
                    <a:p>
                      <a:pPr algn="r"/>
                      <a:r>
                        <a:rPr sz="1050" b="0">
                          <a:solidFill>
                            <a:srgbClr val="1F2937"/>
                          </a:solidFill>
                          <a:latin typeface="Calibri"/>
                        </a:rPr>
                        <a:t>57</a:t>
                      </a:r>
                    </a:p>
                  </a:txBody>
                  <a:tcPr marL="73152" marR="73152" marT="27432" marB="27432" anchor="ctr">
                    <a:solidFill>
                      <a:srgbClr val="FFFFFF"/>
                    </a:solidFill>
                  </a:tcPr>
                </a:tc>
                <a:tc>
                  <a:txBody>
                    <a:bodyPr wrap="square"/>
                    <a:lstStyle/>
                    <a:p>
                      <a:pPr algn="r"/>
                      <a:r>
                        <a:rPr sz="1050" b="0">
                          <a:solidFill>
                            <a:srgbClr val="1F2937"/>
                          </a:solidFill>
                          <a:latin typeface="Calibri"/>
                        </a:rPr>
                        <a:t>30k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Alternating Lanes closure due to Highway Construction between Cleveland St and Route 13 (Ashby </a:t>
                      </a:r>
                    </a:p>
                  </a:txBody>
                  <a:tcPr marL="73152" marR="73152" marT="27432" marB="27432" anchor="ctr">
                    <a:solidFill>
                      <a:srgbClr val="FFFFFF"/>
                    </a:solidFill>
                  </a:tcPr>
                </a:tc>
                <a:tc>
                  <a:txBody>
                    <a:bodyPr wrap="square"/>
                    <a:lstStyle/>
                    <a:p>
                      <a:pPr algn="r"/>
                      <a:r>
                        <a:rPr sz="1050" b="0">
                          <a:solidFill>
                            <a:srgbClr val="1F2937"/>
                          </a:solidFill>
                          <a:latin typeface="Calibri"/>
                        </a:rPr>
                        <a:t>44</a:t>
                      </a:r>
                    </a:p>
                  </a:txBody>
                  <a:tcPr marL="73152" marR="73152" marT="27432" marB="27432" anchor="ctr">
                    <a:solidFill>
                      <a:srgbClr val="FFFFFF"/>
                    </a:solidFill>
                  </a:tcPr>
                </a:tc>
                <a:tc>
                  <a:txBody>
                    <a:bodyPr wrap="square"/>
                    <a:lstStyle/>
                    <a:p>
                      <a:pPr algn="r"/>
                      <a:r>
                        <a:rPr sz="1050" b="0">
                          <a:solidFill>
                            <a:srgbClr val="1F2937"/>
                          </a:solidFill>
                          <a:latin typeface="Calibri"/>
                        </a:rPr>
                        <a:t>29k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Construction on I-80 WB near CLEVELAND ST Drive with caution.</a:t>
                      </a:r>
                    </a:p>
                  </a:txBody>
                  <a:tcPr marL="73152" marR="73152" marT="27432" marB="27432" anchor="ctr">
                    <a:solidFill>
                      <a:srgbClr val="FFFFFF"/>
                    </a:solidFill>
                  </a:tcPr>
                </a:tc>
                <a:tc>
                  <a:txBody>
                    <a:bodyPr wrap="square"/>
                    <a:lstStyle/>
                    <a:p>
                      <a:pPr algn="r"/>
                      <a:r>
                        <a:rPr sz="1050" b="0">
                          <a:solidFill>
                            <a:srgbClr val="1F2937"/>
                          </a:solidFill>
                          <a:latin typeface="Calibri"/>
                        </a:rPr>
                        <a:t>42</a:t>
                      </a:r>
                    </a:p>
                  </a:txBody>
                  <a:tcPr marL="73152" marR="73152" marT="27432" marB="27432" anchor="ctr">
                    <a:solidFill>
                      <a:srgbClr val="FFFFFF"/>
                    </a:solidFill>
                  </a:tcPr>
                </a:tc>
                <a:tc>
                  <a:txBody>
                    <a:bodyPr wrap="square"/>
                    <a:lstStyle/>
                    <a:p>
                      <a:pPr algn="r"/>
                      <a:r>
                        <a:rPr sz="1050" b="0">
                          <a:solidFill>
                            <a:srgbClr val="1F2937"/>
                          </a:solidFill>
                          <a:latin typeface="Calibri"/>
                        </a:rPr>
                        <a:t>24k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Bridge closure from Harrison St / 1st St to I-80 E.</a:t>
                      </a:r>
                    </a:p>
                  </a:txBody>
                  <a:tcPr marL="73152" marR="73152" marT="27432" marB="27432" anchor="ctr">
                    <a:solidFill>
                      <a:srgbClr val="FFFFFF"/>
                    </a:solidFill>
                  </a:tcPr>
                </a:tc>
                <a:tc>
                  <a:txBody>
                    <a:bodyPr wrap="square"/>
                    <a:lstStyle/>
                    <a:p>
                      <a:pPr algn="r"/>
                      <a:r>
                        <a:rPr sz="1050" b="0">
                          <a:solidFill>
                            <a:srgbClr val="1F2937"/>
                          </a:solidFill>
                          <a:latin typeface="Calibri"/>
                        </a:rPr>
                        <a:t>6</a:t>
                      </a:r>
                    </a:p>
                  </a:txBody>
                  <a:tcPr marL="73152" marR="73152" marT="27432" marB="27432" anchor="ctr">
                    <a:solidFill>
                      <a:srgbClr val="FFFFFF"/>
                    </a:solidFill>
                  </a:tcPr>
                </a:tc>
                <a:tc>
                  <a:txBody>
                    <a:bodyPr wrap="square"/>
                    <a:lstStyle/>
                    <a:p>
                      <a:pPr algn="r"/>
                      <a:r>
                        <a:rPr sz="1050" b="0">
                          <a:solidFill>
                            <a:srgbClr val="1F2937"/>
                          </a:solidFill>
                          <a:latin typeface="Calibri"/>
                        </a:rPr>
                        <a:t>17k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Construction on I-80 WB near TREASURE ISLAND Construction. Expect long delays.</a:t>
                      </a:r>
                    </a:p>
                  </a:txBody>
                  <a:tcPr marL="73152" marR="73152" marT="27432" marB="27432" anchor="ctr">
                    <a:solidFill>
                      <a:srgbClr val="FFFFFF"/>
                    </a:solidFill>
                  </a:tcPr>
                </a:tc>
                <a:tc>
                  <a:txBody>
                    <a:bodyPr wrap="square"/>
                    <a:lstStyle/>
                    <a:p>
                      <a:pPr algn="r"/>
                      <a:r>
                        <a:rPr sz="1050" b="0">
                          <a:solidFill>
                            <a:srgbClr val="1F2937"/>
                          </a:solidFill>
                          <a:latin typeface="Calibri"/>
                        </a:rPr>
                        <a:t>5</a:t>
                      </a:r>
                    </a:p>
                  </a:txBody>
                  <a:tcPr marL="73152" marR="73152" marT="27432" marB="27432" anchor="ctr">
                    <a:solidFill>
                      <a:srgbClr val="FFFFFF"/>
                    </a:solidFill>
                  </a:tcPr>
                </a:tc>
                <a:tc>
                  <a:txBody>
                    <a:bodyPr wrap="square"/>
                    <a:lstStyle/>
                    <a:p>
                      <a:pPr algn="r"/>
                      <a:r>
                        <a:rPr sz="1050" b="0">
                          <a:solidFill>
                            <a:srgbClr val="1F2937"/>
                          </a:solidFill>
                          <a:latin typeface="Calibri"/>
                        </a:rPr>
                        <a:t>12k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Alternating Lanes closure due to Highway Construction between Route 13 (Ashby Ave) and Clevelan</a:t>
                      </a:r>
                    </a:p>
                  </a:txBody>
                  <a:tcPr marL="73152" marR="73152" marT="27432" marB="27432" anchor="ctr">
                    <a:solidFill>
                      <a:srgbClr val="FFFFFF"/>
                    </a:solidFill>
                  </a:tcPr>
                </a:tc>
                <a:tc>
                  <a:txBody>
                    <a:bodyPr wrap="square"/>
                    <a:lstStyle/>
                    <a:p>
                      <a:pPr algn="r"/>
                      <a:r>
                        <a:rPr sz="1050" b="0">
                          <a:solidFill>
                            <a:srgbClr val="1F2937"/>
                          </a:solidFill>
                          <a:latin typeface="Calibri"/>
                        </a:rPr>
                        <a:t>33</a:t>
                      </a:r>
                    </a:p>
                  </a:txBody>
                  <a:tcPr marL="73152" marR="73152" marT="27432" marB="27432" anchor="ctr">
                    <a:solidFill>
                      <a:srgbClr val="FFFFFF"/>
                    </a:solidFill>
                  </a:tcPr>
                </a:tc>
                <a:tc>
                  <a:txBody>
                    <a:bodyPr wrap="square"/>
                    <a:lstStyle/>
                    <a:p>
                      <a:pPr algn="r"/>
                      <a:r>
                        <a:rPr sz="1050" b="0">
                          <a:solidFill>
                            <a:srgbClr val="1F2937"/>
                          </a:solidFill>
                          <a:latin typeface="Calibri"/>
                        </a:rPr>
                        <a:t>11k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Construction on I-80 EB near SFOBB PIER 1 Drive with caution.</a:t>
                      </a:r>
                    </a:p>
                  </a:txBody>
                  <a:tcPr marL="73152" marR="73152" marT="27432" marB="27432" anchor="ctr">
                    <a:solidFill>
                      <a:srgbClr val="FFFFFF"/>
                    </a:solidFill>
                  </a:tcPr>
                </a:tc>
                <a:tc>
                  <a:txBody>
                    <a:bodyPr wrap="square"/>
                    <a:lstStyle/>
                    <a:p>
                      <a:pPr algn="r"/>
                      <a:r>
                        <a:rPr sz="1050" b="0">
                          <a:solidFill>
                            <a:srgbClr val="1F2937"/>
                          </a:solidFill>
                          <a:latin typeface="Calibri"/>
                        </a:rPr>
                        <a:t>21</a:t>
                      </a:r>
                    </a:p>
                  </a:txBody>
                  <a:tcPr marL="73152" marR="73152" marT="27432" marB="27432" anchor="ctr">
                    <a:solidFill>
                      <a:srgbClr val="FFFFFF"/>
                    </a:solidFill>
                  </a:tcPr>
                </a:tc>
                <a:tc>
                  <a:txBody>
                    <a:bodyPr wrap="square"/>
                    <a:lstStyle/>
                    <a:p>
                      <a:pPr algn="r"/>
                      <a:r>
                        <a:rPr sz="1050" b="0">
                          <a:solidFill>
                            <a:srgbClr val="1F2937"/>
                          </a:solidFill>
                          <a:latin typeface="Calibri"/>
                        </a:rPr>
                        <a:t>11k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Lane closure due to Bridge Construction between SFOBB Pier 1 (W-1) and SFOBB TOWER 6 (W-6)</a:t>
                      </a:r>
                    </a:p>
                  </a:txBody>
                  <a:tcPr marL="73152" marR="73152" marT="27432" marB="27432" anchor="ctr">
                    <a:solidFill>
                      <a:srgbClr val="FFFFFF"/>
                    </a:solidFill>
                  </a:tcPr>
                </a:tc>
                <a:tc>
                  <a:txBody>
                    <a:bodyPr wrap="square"/>
                    <a:lstStyle/>
                    <a:p>
                      <a:pPr algn="r"/>
                      <a:r>
                        <a:rPr sz="1050" b="0">
                          <a:solidFill>
                            <a:srgbClr val="1F2937"/>
                          </a:solidFill>
                          <a:latin typeface="Calibri"/>
                        </a:rPr>
                        <a:t>23</a:t>
                      </a:r>
                    </a:p>
                  </a:txBody>
                  <a:tcPr marL="73152" marR="73152" marT="27432" marB="27432" anchor="ctr">
                    <a:solidFill>
                      <a:srgbClr val="FFFFFF"/>
                    </a:solidFill>
                  </a:tcPr>
                </a:tc>
                <a:tc>
                  <a:txBody>
                    <a:bodyPr wrap="square"/>
                    <a:lstStyle/>
                    <a:p>
                      <a:pPr algn="r"/>
                      <a:r>
                        <a:rPr sz="1050" b="0">
                          <a:solidFill>
                            <a:srgbClr val="1F2937"/>
                          </a:solidFill>
                          <a:latin typeface="Calibri"/>
                        </a:rPr>
                        <a:t>11k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Construction on US-101 SB near LOMBARD ST Drive with caution.</a:t>
                      </a:r>
                    </a:p>
                  </a:txBody>
                  <a:tcPr marL="73152" marR="73152" marT="27432" marB="27432" anchor="ctr">
                    <a:solidFill>
                      <a:srgbClr val="FFFFFF"/>
                    </a:solidFill>
                  </a:tcPr>
                </a:tc>
                <a:tc>
                  <a:txBody>
                    <a:bodyPr wrap="square"/>
                    <a:lstStyle/>
                    <a:p>
                      <a:pPr algn="r"/>
                      <a:r>
                        <a:rPr sz="1050" b="0">
                          <a:solidFill>
                            <a:srgbClr val="1F2937"/>
                          </a:solidFill>
                          <a:latin typeface="Calibri"/>
                        </a:rPr>
                        <a:t>18</a:t>
                      </a:r>
                    </a:p>
                  </a:txBody>
                  <a:tcPr marL="73152" marR="73152" marT="27432" marB="27432" anchor="ctr">
                    <a:solidFill>
                      <a:srgbClr val="FFFFFF"/>
                    </a:solidFill>
                  </a:tcPr>
                </a:tc>
                <a:tc>
                  <a:txBody>
                    <a:bodyPr wrap="square"/>
                    <a:lstStyle/>
                    <a:p>
                      <a:pPr algn="r"/>
                      <a:r>
                        <a:rPr sz="1050" b="0">
                          <a:solidFill>
                            <a:srgbClr val="1F2937"/>
                          </a:solidFill>
                          <a:latin typeface="Calibri"/>
                        </a:rPr>
                        <a:t>11k</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Closed road from Mission St to S Van Ness Ave due to roadwork.</a:t>
                      </a:r>
                    </a:p>
                  </a:txBody>
                  <a:tcPr marL="73152" marR="73152" marT="27432" marB="27432" anchor="ctr">
                    <a:solidFill>
                      <a:srgbClr val="FFFFFF"/>
                    </a:solidFill>
                  </a:tcPr>
                </a:tc>
                <a:tc>
                  <a:txBody>
                    <a:bodyPr wrap="square"/>
                    <a:lstStyle/>
                    <a:p>
                      <a:pPr algn="r"/>
                      <a:r>
                        <a:rPr sz="1050" b="0">
                          <a:solidFill>
                            <a:srgbClr val="1F2937"/>
                          </a:solidFill>
                          <a:latin typeface="Calibri"/>
                        </a:rPr>
                        <a:t>5</a:t>
                      </a:r>
                    </a:p>
                  </a:txBody>
                  <a:tcPr marL="73152" marR="73152" marT="27432" marB="27432" anchor="ctr">
                    <a:solidFill>
                      <a:srgbClr val="FFFFFF"/>
                    </a:solidFill>
                  </a:tcPr>
                </a:tc>
                <a:tc>
                  <a:txBody>
                    <a:bodyPr wrap="square"/>
                    <a:lstStyle/>
                    <a:p>
                      <a:pPr algn="r"/>
                      <a:r>
                        <a:rPr sz="1050" b="0">
                          <a:solidFill>
                            <a:srgbClr val="1F2937"/>
                          </a:solidFill>
                          <a:latin typeface="Calibri"/>
                        </a:rPr>
                        <a:t>9,367</a:t>
                      </a:r>
                    </a:p>
                  </a:txBody>
                  <a:tcPr marL="73152" marR="73152" marT="27432" marB="27432" anchor="ctr">
                    <a:solidFill>
                      <a:srgbClr val="FFFFFF"/>
                    </a:solidFill>
                  </a:tcPr>
                </a:tc>
              </a:tr>
              <a:tr h="329184">
                <a:tc>
                  <a:txBody>
                    <a:bodyPr wrap="square"/>
                    <a:lstStyle/>
                    <a:p>
                      <a:pPr algn="l"/>
                      <a:r>
                        <a:rPr sz="1050" b="0">
                          <a:solidFill>
                            <a:srgbClr val="1F2937"/>
                          </a:solidFill>
                          <a:latin typeface="Calibri"/>
                        </a:rPr>
                        <a:t>Lane closure due to Attenuator Repair between Route 80 and Route 880/580</a:t>
                      </a:r>
                    </a:p>
                  </a:txBody>
                  <a:tcPr marL="73152" marR="73152" marT="27432" marB="27432" anchor="ctr">
                    <a:solidFill>
                      <a:srgbClr val="FFFFFF"/>
                    </a:solidFill>
                  </a:tcPr>
                </a:tc>
                <a:tc>
                  <a:txBody>
                    <a:bodyPr wrap="square"/>
                    <a:lstStyle/>
                    <a:p>
                      <a:pPr algn="r"/>
                      <a:r>
                        <a:rPr sz="1050" b="0">
                          <a:solidFill>
                            <a:srgbClr val="1F2937"/>
                          </a:solidFill>
                          <a:latin typeface="Calibri"/>
                        </a:rPr>
                        <a:t>1</a:t>
                      </a:r>
                    </a:p>
                  </a:txBody>
                  <a:tcPr marL="73152" marR="73152" marT="27432" marB="27432" anchor="ctr">
                    <a:solidFill>
                      <a:srgbClr val="FFFFFF"/>
                    </a:solidFill>
                  </a:tcPr>
                </a:tc>
                <a:tc>
                  <a:txBody>
                    <a:bodyPr wrap="square"/>
                    <a:lstStyle/>
                    <a:p>
                      <a:pPr algn="r"/>
                      <a:r>
                        <a:rPr sz="1050" b="0">
                          <a:solidFill>
                            <a:srgbClr val="1F2937"/>
                          </a:solidFill>
                          <a:latin typeface="Calibri"/>
                        </a:rPr>
                        <a:t>7,263</a:t>
                      </a:r>
                    </a:p>
                  </a:txBody>
                  <a:tcPr marL="73152" marR="73152" marT="27432" marB="27432" anchor="ctr">
                    <a:solidFill>
                      <a:srgbClr val="FFFFFF"/>
                    </a:solidFill>
                  </a:tcPr>
                </a:tc>
              </a:tr>
            </a:tbl>
          </a:graphicData>
        </a:graphic>
      </p:graphicFrame>
      <p:sp>
        <p:nvSpPr>
          <p:cNvPr id="8" name="TextBox 7"/>
          <p:cNvSpPr txBox="1"/>
          <p:nvPr/>
        </p:nvSpPr>
        <p:spPr>
          <a:xfrm>
            <a:off x="8686800" y="1325880"/>
            <a:ext cx="2926080" cy="365760"/>
          </a:xfrm>
          <a:prstGeom prst="rect">
            <a:avLst/>
          </a:prstGeom>
          <a:noFill/>
        </p:spPr>
        <p:txBody>
          <a:bodyPr wrap="square" lIns="0" rIns="0" tIns="0" bIns="0" anchor="t">
            <a:spAutoFit/>
          </a:bodyPr>
          <a:lstStyle/>
          <a:p>
            <a:pPr algn="l">
              <a:lnSpc>
                <a:spcPct val="110000"/>
              </a:lnSpc>
              <a:spcAft>
                <a:spcPts val="400"/>
              </a:spcAft>
            </a:pPr>
            <a:r>
              <a:rPr sz="1300" b="1" i="0">
                <a:solidFill>
                  <a:srgbClr val="1F2937"/>
                </a:solidFill>
                <a:latin typeface="Calibri"/>
              </a:rPr>
              <a:t>How “near the route” was decided</a:t>
            </a:r>
          </a:p>
        </p:txBody>
      </p:sp>
      <p:sp>
        <p:nvSpPr>
          <p:cNvPr id="9" name="TextBox 8"/>
          <p:cNvSpPr txBox="1"/>
          <p:nvPr/>
        </p:nvSpPr>
        <p:spPr>
          <a:xfrm>
            <a:off x="8686800" y="1783080"/>
            <a:ext cx="2926080" cy="4023360"/>
          </a:xfrm>
          <a:prstGeom prst="rect">
            <a:avLst/>
          </a:prstGeom>
          <a:noFill/>
        </p:spPr>
        <p:txBody>
          <a:bodyPr wrap="square" lIns="0" rIns="0" tIns="0" bIns="0" anchor="t">
            <a:spAutoFit/>
          </a:bodyPr>
          <a:lstStyle/>
          <a:p>
            <a:pPr algn="l" marL="201168" indent="-201168">
              <a:lnSpc>
                <a:spcPct val="110000"/>
              </a:lnSpc>
              <a:spcAft>
                <a:spcPts val="600"/>
              </a:spcAft>
              <a:buChar char="•"/>
            </a:pPr>
            <a:r>
              <a:rPr sz="1150" b="0" i="0">
                <a:solidFill>
                  <a:srgbClr val="1F2937"/>
                </a:solidFill>
                <a:latin typeface="Calibri"/>
              </a:rPr>
              <a:t>Each route is ~700 points a few dozen metres apart. An event matches if any of its points is within 100 m of one.</a:t>
            </a:r>
          </a:p>
          <a:p>
            <a:pPr algn="l" marL="201168" indent="-201168">
              <a:lnSpc>
                <a:spcPct val="110000"/>
              </a:lnSpc>
              <a:spcAft>
                <a:spcPts val="600"/>
              </a:spcAft>
              <a:buChar char="•"/>
            </a:pPr>
            <a:r>
              <a:rPr sz="1150" b="0" i="0">
                <a:solidFill>
                  <a:srgbClr val="1F2937"/>
                </a:solidFill>
                <a:latin typeface="Calibri"/>
              </a:rPr>
              <a:t>An event is its start point, its end point, and points every 50 m along the straight line between them when it is 5 miles or shorter: 57,565 of 60,984 Bay Area events.</a:t>
            </a:r>
          </a:p>
          <a:p>
            <a:pPr algn="l" marL="201168" indent="-201168">
              <a:lnSpc>
                <a:spcPct val="110000"/>
              </a:lnSpc>
              <a:spcAft>
                <a:spcPts val="600"/>
              </a:spcAft>
              <a:buChar char="•"/>
            </a:pPr>
            <a:r>
              <a:rPr sz="1150" b="0" i="0">
                <a:solidFill>
                  <a:srgbClr val="1F2937"/>
                </a:solidFill>
                <a:latin typeface="Calibri"/>
              </a:rPr>
              <a:t>The 3,419 longer events are matched on endpoints only and counted per route, so the undercount is visible.</a:t>
            </a:r>
          </a:p>
          <a:p>
            <a:pPr algn="l" marL="201168" indent="-201168">
              <a:lnSpc>
                <a:spcPct val="110000"/>
              </a:lnSpc>
              <a:spcAft>
                <a:spcPts val="600"/>
              </a:spcAft>
              <a:buChar char="•"/>
            </a:pPr>
            <a:r>
              <a:rPr sz="1150" b="0" i="0">
                <a:solidFill>
                  <a:srgbClr val="1F2937"/>
                </a:solidFill>
                <a:latin typeface="Calibri"/>
              </a:rPr>
              <a:t>Plain SQL: a 100 m grid join, no PostGIS.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Q5 — the same finding, delivered two ways</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The uncertainty does not go away for executives. It gets compressed into a confidence label instead of a table.</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14</a:t>
            </a:r>
          </a:p>
        </p:txBody>
      </p:sp>
      <p:sp>
        <p:nvSpPr>
          <p:cNvPr id="7" name="Rectangle 6"/>
          <p:cNvSpPr/>
          <p:nvPr/>
        </p:nvSpPr>
        <p:spPr>
          <a:xfrm>
            <a:off x="548640" y="1325880"/>
            <a:ext cx="5349240" cy="502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325880"/>
            <a:ext cx="4983479" cy="502920"/>
          </a:xfrm>
          <a:prstGeom prst="rect">
            <a:avLst/>
          </a:prstGeom>
          <a:noFill/>
        </p:spPr>
        <p:txBody>
          <a:bodyPr wrap="square" lIns="0" rIns="0" tIns="0" bIns="0" anchor="ctr">
            <a:spAutoFit/>
          </a:bodyPr>
          <a:lstStyle/>
          <a:p>
            <a:pPr algn="l">
              <a:lnSpc>
                <a:spcPct val="110000"/>
              </a:lnSpc>
              <a:spcAft>
                <a:spcPts val="400"/>
              </a:spcAft>
            </a:pPr>
            <a:r>
              <a:rPr sz="1400" b="1" i="0">
                <a:solidFill>
                  <a:srgbClr val="1F2937"/>
                </a:solidFill>
                <a:latin typeface="Calibri"/>
              </a:rPr>
              <a:t>Engineering ICs: software, perception, planning</a:t>
            </a:r>
          </a:p>
        </p:txBody>
      </p:sp>
      <p:sp>
        <p:nvSpPr>
          <p:cNvPr id="9" name="TextBox 8"/>
          <p:cNvSpPr txBox="1"/>
          <p:nvPr/>
        </p:nvSpPr>
        <p:spPr>
          <a:xfrm>
            <a:off x="731520" y="2011680"/>
            <a:ext cx="4983479" cy="4023360"/>
          </a:xfrm>
          <a:prstGeom prst="rect">
            <a:avLst/>
          </a:prstGeom>
          <a:noFill/>
        </p:spPr>
        <p:txBody>
          <a:bodyPr wrap="square" lIns="0" rIns="0" tIns="0" bIns="0" anchor="t">
            <a:spAutoFit/>
          </a:bodyPr>
          <a:lstStyle/>
          <a:p>
            <a:pPr algn="l" marL="201168" indent="-201168">
              <a:lnSpc>
                <a:spcPct val="110000"/>
              </a:lnSpc>
              <a:spcAft>
                <a:spcPts val="800"/>
              </a:spcAft>
              <a:buChar char="•"/>
            </a:pPr>
            <a:r>
              <a:rPr sz="1250" b="0" i="0">
                <a:solidFill>
                  <a:srgbClr val="1F2937"/>
                </a:solidFill>
                <a:latin typeface="Calibri"/>
              </a:rPr>
              <a:t>Lead with the method and its limits: the 100 m buffer, the straight-line approximation, the long-event undercount, the shared Bay Bridge approach.</a:t>
            </a:r>
          </a:p>
          <a:p>
            <a:pPr algn="l" marL="201168" indent="-201168">
              <a:lnSpc>
                <a:spcPct val="110000"/>
              </a:lnSpc>
              <a:spcAft>
                <a:spcPts val="800"/>
              </a:spcAft>
              <a:buChar char="•"/>
            </a:pPr>
            <a:r>
              <a:rPr sz="1250" b="0" i="0">
                <a:solidFill>
                  <a:srgbClr val="1F2937"/>
                </a:solidFill>
                <a:latin typeface="Calibri"/>
              </a:rPr>
              <a:t>Show the year-by-year table. “The leader changed every two years” is the finding, not a caveat.</a:t>
            </a:r>
          </a:p>
          <a:p>
            <a:pPr algn="l" marL="201168" indent="-201168">
              <a:lnSpc>
                <a:spcPct val="110000"/>
              </a:lnSpc>
              <a:spcAft>
                <a:spcPts val="800"/>
              </a:spcAft>
              <a:buChar char="•"/>
            </a:pPr>
            <a:r>
              <a:rPr sz="1250" b="0" i="0">
                <a:solidFill>
                  <a:srgbClr val="1F2937"/>
                </a:solidFill>
                <a:latin typeface="Calibri"/>
              </a:rPr>
              <a:t>Give the matched-event list so they can check it against roads they know.</a:t>
            </a:r>
          </a:p>
          <a:p>
            <a:pPr algn="l" marL="201168" indent="-201168">
              <a:lnSpc>
                <a:spcPct val="110000"/>
              </a:lnSpc>
              <a:spcAft>
                <a:spcPts val="800"/>
              </a:spcAft>
              <a:buChar char="•"/>
            </a:pPr>
            <a:r>
              <a:rPr sz="1250" b="0" i="0">
                <a:solidFill>
                  <a:srgbClr val="1F2937"/>
                </a:solidFill>
                <a:latin typeface="Calibri"/>
              </a:rPr>
              <a:t>Name what would make it hold up: road-snapped geometry, a provider ID per event, re-published advisories chained into one, exposure per road segment rather than per route.</a:t>
            </a:r>
          </a:p>
          <a:p>
            <a:pPr algn="l" marL="201168" indent="-201168">
              <a:lnSpc>
                <a:spcPct val="110000"/>
              </a:lnSpc>
              <a:spcAft>
                <a:spcPts val="800"/>
              </a:spcAft>
              <a:buChar char="•"/>
            </a:pPr>
            <a:r>
              <a:rPr sz="1250" b="0" i="0">
                <a:solidFill>
                  <a:srgbClr val="1F2937"/>
                </a:solidFill>
                <a:latin typeface="Calibri"/>
              </a:rPr>
              <a:t>Hand over the models. They will want to re-run it with their own buffer.</a:t>
            </a:r>
          </a:p>
        </p:txBody>
      </p:sp>
      <p:sp>
        <p:nvSpPr>
          <p:cNvPr id="10" name="Rectangle 9"/>
          <p:cNvSpPr/>
          <p:nvPr/>
        </p:nvSpPr>
        <p:spPr>
          <a:xfrm>
            <a:off x="6263640" y="1325880"/>
            <a:ext cx="5349240" cy="502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1325880"/>
            <a:ext cx="4983479" cy="502920"/>
          </a:xfrm>
          <a:prstGeom prst="rect">
            <a:avLst/>
          </a:prstGeom>
          <a:noFill/>
        </p:spPr>
        <p:txBody>
          <a:bodyPr wrap="square" lIns="0" rIns="0" tIns="0" bIns="0" anchor="ctr">
            <a:spAutoFit/>
          </a:bodyPr>
          <a:lstStyle/>
          <a:p>
            <a:pPr algn="l">
              <a:lnSpc>
                <a:spcPct val="110000"/>
              </a:lnSpc>
              <a:spcAft>
                <a:spcPts val="400"/>
              </a:spcAft>
            </a:pPr>
            <a:r>
              <a:rPr sz="1400" b="1" i="0">
                <a:solidFill>
                  <a:srgbClr val="1F2937"/>
                </a:solidFill>
                <a:latin typeface="Calibri"/>
              </a:rPr>
              <a:t>Business and operations executives</a:t>
            </a:r>
          </a:p>
        </p:txBody>
      </p:sp>
      <p:sp>
        <p:nvSpPr>
          <p:cNvPr id="12" name="TextBox 11"/>
          <p:cNvSpPr txBox="1"/>
          <p:nvPr/>
        </p:nvSpPr>
        <p:spPr>
          <a:xfrm>
            <a:off x="6446520" y="2011680"/>
            <a:ext cx="4983479" cy="4023360"/>
          </a:xfrm>
          <a:prstGeom prst="rect">
            <a:avLst/>
          </a:prstGeom>
          <a:noFill/>
        </p:spPr>
        <p:txBody>
          <a:bodyPr wrap="square" lIns="0" rIns="0" tIns="0" bIns="0" anchor="t">
            <a:spAutoFit/>
          </a:bodyPr>
          <a:lstStyle/>
          <a:p>
            <a:pPr algn="l" marL="201168" indent="-201168">
              <a:lnSpc>
                <a:spcPct val="110000"/>
              </a:lnSpc>
              <a:spcAft>
                <a:spcPts val="800"/>
              </a:spcAft>
              <a:buChar char="•"/>
            </a:pPr>
            <a:r>
              <a:rPr sz="1250" b="0" i="0">
                <a:solidFill>
                  <a:srgbClr val="1F2937"/>
                </a:solidFill>
                <a:latin typeface="Calibri"/>
              </a:rPr>
              <a:t>Lead with the decision: if one route runs for a year, Pacifica minimizes construction exposure and Berkeley maximizes it, by about 2× per mile.</a:t>
            </a:r>
          </a:p>
          <a:p>
            <a:pPr algn="l" marL="201168" indent="-201168">
              <a:lnSpc>
                <a:spcPct val="110000"/>
              </a:lnSpc>
              <a:spcAft>
                <a:spcPts val="800"/>
              </a:spcAft>
              <a:buChar char="•"/>
            </a:pPr>
            <a:r>
              <a:rPr sz="1250" b="0" i="0">
                <a:solidFill>
                  <a:srgbClr val="1F2937"/>
                </a:solidFill>
                <a:latin typeface="Calibri"/>
              </a:rPr>
              <a:t>State confidence in one line: high on the bottom of the ranking, moderate on the top, because the order among the three bridge routes shifts year to year.</a:t>
            </a:r>
          </a:p>
          <a:p>
            <a:pPr algn="l" marL="201168" indent="-201168">
              <a:lnSpc>
                <a:spcPct val="110000"/>
              </a:lnSpc>
              <a:spcAft>
                <a:spcPts val="800"/>
              </a:spcAft>
              <a:buChar char="•"/>
            </a:pPr>
            <a:r>
              <a:rPr sz="1250" b="0" i="0">
                <a:solidFill>
                  <a:srgbClr val="1F2937"/>
                </a:solidFill>
                <a:latin typeface="Calibri"/>
              </a:rPr>
              <a:t>One chart (hours per mile by route), one number per route, no table of years.</a:t>
            </a:r>
          </a:p>
          <a:p>
            <a:pPr algn="l" marL="201168" indent="-201168">
              <a:lnSpc>
                <a:spcPct val="110000"/>
              </a:lnSpc>
              <a:spcAft>
                <a:spcPts val="800"/>
              </a:spcAft>
              <a:buChar char="•"/>
            </a:pPr>
            <a:r>
              <a:rPr sz="1250" b="0" i="0">
                <a:solidFill>
                  <a:srgbClr val="1F2937"/>
                </a:solidFill>
                <a:latin typeface="Calibri"/>
              </a:rPr>
              <a:t>Translate hours into something operational: average concurrent advisories along the route, or expected work zones per trip.</a:t>
            </a:r>
          </a:p>
          <a:p>
            <a:pPr algn="l" marL="201168" indent="-201168">
              <a:lnSpc>
                <a:spcPct val="110000"/>
              </a:lnSpc>
              <a:spcAft>
                <a:spcPts val="800"/>
              </a:spcAft>
              <a:buChar char="•"/>
            </a:pPr>
            <a:r>
              <a:rPr sz="1250" b="0" i="0">
                <a:solidFill>
                  <a:srgbClr val="1F2937"/>
                </a:solidFill>
                <a:latin typeface="Calibri"/>
              </a:rPr>
              <a:t>Assumptions and the data's provenance on one backup slide, offered, not presented.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Q6 — how AI was used, and where it was wrong</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AI wrote most of the code and none of the decisions. The log in the repo records which was which, including the three times it was wrong and how each was caught.</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Source: process.md  ·  data pulled 2026-10-26   ·   15</a:t>
            </a:r>
          </a:p>
        </p:txBody>
      </p:sp>
      <p:sp>
        <p:nvSpPr>
          <p:cNvPr id="7" name="TextBox 6"/>
          <p:cNvSpPr txBox="1"/>
          <p:nvPr/>
        </p:nvSpPr>
        <p:spPr>
          <a:xfrm>
            <a:off x="548640" y="1325880"/>
            <a:ext cx="5394960" cy="365760"/>
          </a:xfrm>
          <a:prstGeom prst="rect">
            <a:avLst/>
          </a:prstGeom>
          <a:noFill/>
        </p:spPr>
        <p:txBody>
          <a:bodyPr wrap="square" lIns="0" rIns="0" tIns="0" bIns="0" anchor="t">
            <a:spAutoFit/>
          </a:bodyPr>
          <a:lstStyle/>
          <a:p>
            <a:pPr algn="l">
              <a:lnSpc>
                <a:spcPct val="110000"/>
              </a:lnSpc>
              <a:spcAft>
                <a:spcPts val="400"/>
              </a:spcAft>
            </a:pPr>
            <a:r>
              <a:rPr sz="1500" b="1" i="0">
                <a:solidFill>
                  <a:srgbClr val="1F2937"/>
                </a:solidFill>
                <a:latin typeface="Calibri"/>
              </a:rPr>
              <a:t>How</a:t>
            </a:r>
          </a:p>
        </p:txBody>
      </p:sp>
      <p:sp>
        <p:nvSpPr>
          <p:cNvPr id="8" name="TextBox 7"/>
          <p:cNvSpPr txBox="1"/>
          <p:nvPr/>
        </p:nvSpPr>
        <p:spPr>
          <a:xfrm>
            <a:off x="548640" y="1737360"/>
            <a:ext cx="5394960" cy="4206240"/>
          </a:xfrm>
          <a:prstGeom prst="rect">
            <a:avLst/>
          </a:prstGeom>
          <a:noFill/>
        </p:spPr>
        <p:txBody>
          <a:bodyPr wrap="square" lIns="0" rIns="0" tIns="0" bIns="0" anchor="t">
            <a:spAutoFit/>
          </a:bodyPr>
          <a:lstStyle/>
          <a:p>
            <a:pPr algn="l" marL="201168" indent="-201168">
              <a:lnSpc>
                <a:spcPct val="110000"/>
              </a:lnSpc>
              <a:spcAft>
                <a:spcPts val="800"/>
              </a:spcAft>
              <a:buChar char="•"/>
            </a:pPr>
            <a:r>
              <a:rPr sz="1250" b="1" i="0">
                <a:solidFill>
                  <a:srgbClr val="1F2937"/>
                </a:solidFill>
                <a:latin typeface="Calibri"/>
              </a:rPr>
              <a:t>ChatGPT </a:t>
            </a:r>
            <a:r>
              <a:rPr sz="1250" b="0" i="0">
                <a:solidFill>
                  <a:srgbClr val="1F2937"/>
                </a:solidFill>
                <a:latin typeface="Calibri"/>
              </a:rPr>
              <a:t>walked me through the environment: a second Postgres instance, the clone, the venv, dbt. It said what to run; I ran it and read the output.</a:t>
            </a:r>
          </a:p>
          <a:p>
            <a:pPr algn="l" marL="201168" indent="-201168">
              <a:lnSpc>
                <a:spcPct val="110000"/>
              </a:lnSpc>
              <a:spcAft>
                <a:spcPts val="800"/>
              </a:spcAft>
              <a:buChar char="•"/>
            </a:pPr>
            <a:r>
              <a:rPr sz="1250" b="1" i="0">
                <a:solidFill>
                  <a:srgbClr val="1F2937"/>
                </a:solidFill>
                <a:latin typeface="Calibri"/>
              </a:rPr>
              <a:t>Claude </a:t>
            </a:r>
            <a:r>
              <a:rPr sz="1250" b="0" i="0">
                <a:solidFill>
                  <a:srgbClr val="1F2937"/>
                </a:solidFill>
                <a:latin typeface="Calibri"/>
              </a:rPr>
              <a:t>as consultant and code-writer. I set the rules (minimal intervention, no files unless asked, flags not filters) and made every call: the dedup key, the seasonal-closure words, the 2017–2021 window, the 100 m buffer, which year to lead with.</a:t>
            </a:r>
          </a:p>
          <a:p>
            <a:pPr algn="l" marL="201168" indent="-201168">
              <a:lnSpc>
                <a:spcPct val="110000"/>
              </a:lnSpc>
              <a:spcAft>
                <a:spcPts val="800"/>
              </a:spcAft>
              <a:buChar char="•"/>
            </a:pPr>
            <a:r>
              <a:rPr sz="1250" b="1" i="0">
                <a:solidFill>
                  <a:srgbClr val="1F2937"/>
                </a:solidFill>
                <a:latin typeface="Calibri"/>
              </a:rPr>
              <a:t>What I did myself: </a:t>
            </a:r>
            <a:r>
              <a:rPr sz="1250" b="0" i="0">
                <a:solidFill>
                  <a:srgbClr val="1F2937"/>
                </a:solidFill>
                <a:latin typeface="Calibri"/>
              </a:rPr>
              <a:t>ran every command and query, read every grid, pushed back when a claim outran the evidence, and kept the log.</a:t>
            </a:r>
          </a:p>
          <a:p>
            <a:pPr algn="l" marL="201168" indent="-201168">
              <a:lnSpc>
                <a:spcPct val="110000"/>
              </a:lnSpc>
              <a:spcAft>
                <a:spcPts val="800"/>
              </a:spcAft>
              <a:buChar char="•"/>
            </a:pPr>
            <a:r>
              <a:rPr sz="1250" b="1" i="0">
                <a:solidFill>
                  <a:srgbClr val="1F2937"/>
                </a:solidFill>
                <a:latin typeface="Calibri"/>
              </a:rPr>
              <a:t>A typical ask: </a:t>
            </a:r>
            <a:r>
              <a:rPr sz="1250" b="0" i="1">
                <a:solidFill>
                  <a:srgbClr val="1F2937"/>
                </a:solidFill>
                <a:latin typeface="Calibri"/>
              </a:rPr>
              <a:t>“We need to dedupe rows that are the same place with the same timestamps. I want to use the description to separate construction from winter closures. Thoughts?”</a:t>
            </a:r>
          </a:p>
        </p:txBody>
      </p:sp>
      <p:sp>
        <p:nvSpPr>
          <p:cNvPr id="9" name="TextBox 8"/>
          <p:cNvSpPr txBox="1"/>
          <p:nvPr/>
        </p:nvSpPr>
        <p:spPr>
          <a:xfrm>
            <a:off x="6400800" y="1325880"/>
            <a:ext cx="5212080" cy="365760"/>
          </a:xfrm>
          <a:prstGeom prst="rect">
            <a:avLst/>
          </a:prstGeom>
          <a:noFill/>
        </p:spPr>
        <p:txBody>
          <a:bodyPr wrap="square" lIns="0" rIns="0" tIns="0" bIns="0" anchor="t">
            <a:spAutoFit/>
          </a:bodyPr>
          <a:lstStyle/>
          <a:p>
            <a:pPr algn="l">
              <a:lnSpc>
                <a:spcPct val="110000"/>
              </a:lnSpc>
              <a:spcAft>
                <a:spcPts val="400"/>
              </a:spcAft>
            </a:pPr>
            <a:r>
              <a:rPr sz="1500" b="1" i="0">
                <a:solidFill>
                  <a:srgbClr val="1F2937"/>
                </a:solidFill>
                <a:latin typeface="Calibri"/>
              </a:rPr>
              <a:t>Where it was wrong, and caught</a:t>
            </a:r>
          </a:p>
        </p:txBody>
      </p:sp>
      <p:sp>
        <p:nvSpPr>
          <p:cNvPr id="10" name="TextBox 9"/>
          <p:cNvSpPr txBox="1"/>
          <p:nvPr/>
        </p:nvSpPr>
        <p:spPr>
          <a:xfrm>
            <a:off x="6400800" y="1737360"/>
            <a:ext cx="5212080" cy="4206240"/>
          </a:xfrm>
          <a:prstGeom prst="rect">
            <a:avLst/>
          </a:prstGeom>
          <a:noFill/>
        </p:spPr>
        <p:txBody>
          <a:bodyPr wrap="square" lIns="0" rIns="0" tIns="0" bIns="0" anchor="t">
            <a:spAutoFit/>
          </a:bodyPr>
          <a:lstStyle/>
          <a:p>
            <a:pPr algn="l" marL="201168" indent="-201168">
              <a:lnSpc>
                <a:spcPct val="110000"/>
              </a:lnSpc>
              <a:spcAft>
                <a:spcPts val="800"/>
              </a:spcAft>
              <a:buChar char="•"/>
            </a:pPr>
            <a:r>
              <a:rPr sz="1250" b="1" i="0">
                <a:solidFill>
                  <a:srgbClr val="1F2937"/>
                </a:solidFill>
                <a:latin typeface="Calibri"/>
              </a:rPr>
              <a:t>“This Mac has no Postgres.” </a:t>
            </a:r>
            <a:r>
              <a:rPr sz="1250" b="0" i="0">
                <a:solidFill>
                  <a:srgbClr val="1F2937"/>
                </a:solidFill>
                <a:latin typeface="Calibri"/>
              </a:rPr>
              <a:t>Its shell runs in a Linux VM beside the Mac and could not see the Mac's tools. Postgres 17 was installed. Caught on the first exchange.</a:t>
            </a:r>
          </a:p>
          <a:p>
            <a:pPr algn="l" marL="201168" indent="-201168">
              <a:lnSpc>
                <a:spcPct val="110000"/>
              </a:lnSpc>
              <a:spcAft>
                <a:spcPts val="800"/>
              </a:spcAft>
              <a:buChar char="•"/>
            </a:pPr>
            <a:r>
              <a:rPr sz="1250" b="1" i="0">
                <a:solidFill>
                  <a:srgbClr val="1F2937"/>
                </a:solidFill>
                <a:latin typeface="Calibri"/>
              </a:rPr>
              <a:t>A hypothesis written as a finding. </a:t>
            </a:r>
            <a:r>
              <a:rPr sz="1250" b="0" i="0">
                <a:solidFill>
                  <a:srgbClr val="1F2937"/>
                </a:solidFill>
                <a:latin typeface="Calibri"/>
              </a:rPr>
              <a:t>“The spread is reporting coverage” was asserted; the table shows a spread, not its cause. Rewritten as a hypothesis with the tests that would settle it.</a:t>
            </a:r>
          </a:p>
          <a:p>
            <a:pPr algn="l" marL="201168" indent="-201168">
              <a:lnSpc>
                <a:spcPct val="110000"/>
              </a:lnSpc>
              <a:spcAft>
                <a:spcPts val="800"/>
              </a:spcAft>
              <a:buChar char="•"/>
            </a:pPr>
            <a:r>
              <a:rPr sz="1250" b="1" i="0">
                <a:solidFill>
                  <a:srgbClr val="1F2937"/>
                </a:solidFill>
                <a:latin typeface="Calibri"/>
              </a:rPr>
              <a:t>The winter regex. </a:t>
            </a:r>
            <a:r>
              <a:rPr sz="1250" b="0" i="0">
                <a:solidFill>
                  <a:srgbClr val="1F2937"/>
                </a:solidFill>
                <a:latin typeface="Calibri"/>
              </a:rPr>
              <a:t>My word list, its pattern; neither of us anticipated Winter St. Found by exporting the matches and reading them.</a:t>
            </a:r>
          </a:p>
          <a:p>
            <a:pPr algn="l" marL="201168" indent="-201168">
              <a:lnSpc>
                <a:spcPct val="110000"/>
              </a:lnSpc>
              <a:spcAft>
                <a:spcPts val="800"/>
              </a:spcAft>
              <a:buChar char="•"/>
            </a:pPr>
            <a:r>
              <a:rPr sz="1250" b="1" i="0">
                <a:solidFill>
                  <a:srgbClr val="1F2937"/>
                </a:solidFill>
                <a:latin typeface="Calibri"/>
              </a:rPr>
              <a:t>Why this way: </a:t>
            </a:r>
            <a:r>
              <a:rPr sz="1250" b="0" i="0">
                <a:solidFill>
                  <a:srgbClr val="1F2937"/>
                </a:solidFill>
                <a:latin typeface="Calibri"/>
              </a:rPr>
              <a:t>the brief allows AI and says the insight has to be mine. Keeping the judgment calls and the verification on my side, and logging them, is how that stays true.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Assumptions made, and what I would do with more time</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Every assumption is a line someone at Aurora could confirm or overturn; each is logged with what would change if it fell.</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16</a:t>
            </a:r>
          </a:p>
        </p:txBody>
      </p:sp>
      <p:sp>
        <p:nvSpPr>
          <p:cNvPr id="7" name="TextBox 6"/>
          <p:cNvSpPr txBox="1"/>
          <p:nvPr/>
        </p:nvSpPr>
        <p:spPr>
          <a:xfrm>
            <a:off x="548640" y="1325880"/>
            <a:ext cx="5760720" cy="365760"/>
          </a:xfrm>
          <a:prstGeom prst="rect">
            <a:avLst/>
          </a:prstGeom>
          <a:noFill/>
        </p:spPr>
        <p:txBody>
          <a:bodyPr wrap="square" lIns="0" rIns="0" tIns="0" bIns="0" anchor="t">
            <a:spAutoFit/>
          </a:bodyPr>
          <a:lstStyle/>
          <a:p>
            <a:pPr algn="l">
              <a:lnSpc>
                <a:spcPct val="110000"/>
              </a:lnSpc>
              <a:spcAft>
                <a:spcPts val="400"/>
              </a:spcAft>
            </a:pPr>
            <a:r>
              <a:rPr sz="1500" b="1" i="0">
                <a:solidFill>
                  <a:srgbClr val="1F2937"/>
                </a:solidFill>
                <a:latin typeface="Calibri"/>
              </a:rPr>
              <a:t>Assumptions</a:t>
            </a:r>
          </a:p>
        </p:txBody>
      </p:sp>
      <p:graphicFrame>
        <p:nvGraphicFramePr>
          <p:cNvPr id="8" name="Table 7"/>
          <p:cNvGraphicFramePr>
            <a:graphicFrameLocks noGrp="1"/>
          </p:cNvGraphicFramePr>
          <p:nvPr/>
        </p:nvGraphicFramePr>
        <p:xfrm>
          <a:off x="548640" y="1737360"/>
          <a:ext cx="5760720" cy="2926080"/>
        </p:xfrm>
        <a:graphic>
          <a:graphicData uri="http://schemas.openxmlformats.org/drawingml/2006/table">
            <a:tbl>
              <a:tblPr>
                <a:tableStyleId>{2D5ABB26-0587-4C30-8999-92F81FD0307C}</a:tableStyleId>
              </a:tblPr>
              <a:tblGrid>
                <a:gridCol w="411480"/>
                <a:gridCol w="5349240"/>
              </a:tblGrid>
              <a:tr h="365760">
                <a:tc>
                  <a:txBody>
                    <a:bodyPr wrap="square"/>
                    <a:lstStyle/>
                    <a:p>
                      <a:pPr algn="l"/>
                      <a:r>
                        <a:rPr sz="1150" b="1">
                          <a:solidFill>
                            <a:srgbClr val="1F2937"/>
                          </a:solidFill>
                          <a:latin typeface="Calibri"/>
                        </a:rPr>
                        <a:t>A1</a:t>
                      </a:r>
                    </a:p>
                  </a:txBody>
                  <a:tcPr marL="73152" marR="73152" marT="27432" marB="27432" anchor="ctr">
                    <a:solidFill>
                      <a:srgbClr val="FFFFFF"/>
                    </a:solidFill>
                  </a:tcPr>
                </a:tc>
                <a:tc>
                  <a:txBody>
                    <a:bodyPr wrap="square"/>
                    <a:lstStyle/>
                    <a:p>
                      <a:pPr algn="l"/>
                      <a:r>
                        <a:rPr sz="1150" b="0">
                          <a:solidFill>
                            <a:srgbClr val="1F2937"/>
                          </a:solidFill>
                          <a:latin typeface="Calibri"/>
                        </a:rPr>
                        <a:t>“City” is the municipality; New York is its five county-boroughs.</a:t>
                      </a:r>
                    </a:p>
                  </a:txBody>
                  <a:tcPr marL="73152" marR="73152" marT="27432" marB="27432" anchor="ctr">
                    <a:solidFill>
                      <a:srgbClr val="FFFFFF"/>
                    </a:solidFill>
                  </a:tcPr>
                </a:tc>
              </a:tr>
              <a:tr h="365760">
                <a:tc>
                  <a:txBody>
                    <a:bodyPr wrap="square"/>
                    <a:lstStyle/>
                    <a:p>
                      <a:pPr algn="l"/>
                      <a:r>
                        <a:rPr sz="1150" b="1">
                          <a:solidFill>
                            <a:srgbClr val="1F2937"/>
                          </a:solidFill>
                          <a:latin typeface="Calibri"/>
                        </a:rPr>
                        <a:t>A2</a:t>
                      </a:r>
                    </a:p>
                  </a:txBody>
                  <a:tcPr marL="73152" marR="73152" marT="27432" marB="27432" anchor="ctr">
                    <a:solidFill>
                      <a:srgbClr val="FFFFFF"/>
                    </a:solidFill>
                  </a:tcPr>
                </a:tc>
                <a:tc>
                  <a:txBody>
                    <a:bodyPr wrap="square"/>
                    <a:lstStyle/>
                    <a:p>
                      <a:pPr algn="l"/>
                      <a:r>
                        <a:rPr sz="1150" b="0">
                          <a:solidFill>
                            <a:srgbClr val="1F2937"/>
                          </a:solidFill>
                          <a:latin typeface="Calibri"/>
                        </a:rPr>
                        <a:t>Rows sharing start, end, start coordinates and description are one event.</a:t>
                      </a:r>
                    </a:p>
                  </a:txBody>
                  <a:tcPr marL="73152" marR="73152" marT="27432" marB="27432" anchor="ctr">
                    <a:solidFill>
                      <a:srgbClr val="FFFFFF"/>
                    </a:solidFill>
                  </a:tcPr>
                </a:tc>
              </a:tr>
              <a:tr h="365760">
                <a:tc>
                  <a:txBody>
                    <a:bodyPr wrap="square"/>
                    <a:lstStyle/>
                    <a:p>
                      <a:pPr algn="l"/>
                      <a:r>
                        <a:rPr sz="1150" b="1">
                          <a:solidFill>
                            <a:srgbClr val="1F2937"/>
                          </a:solidFill>
                          <a:latin typeface="Calibri"/>
                        </a:rPr>
                        <a:t>A3</a:t>
                      </a:r>
                    </a:p>
                  </a:txBody>
                  <a:tcPr marL="73152" marR="73152" marT="27432" marB="27432" anchor="ctr">
                    <a:solidFill>
                      <a:srgbClr val="FFFFFF"/>
                    </a:solidFill>
                  </a:tcPr>
                </a:tc>
                <a:tc>
                  <a:txBody>
                    <a:bodyPr wrap="square"/>
                    <a:lstStyle/>
                    <a:p>
                      <a:pPr algn="l"/>
                      <a:r>
                        <a:rPr sz="1150" b="0">
                          <a:solidFill>
                            <a:srgbClr val="1F2937"/>
                          </a:solidFill>
                          <a:latin typeface="Calibri"/>
                        </a:rPr>
                        <a:t>“Past five years” is the five complete years 2017–2021.</a:t>
                      </a:r>
                    </a:p>
                  </a:txBody>
                  <a:tcPr marL="73152" marR="73152" marT="27432" marB="27432" anchor="ctr">
                    <a:solidFill>
                      <a:srgbClr val="FFFFFF"/>
                    </a:solidFill>
                  </a:tcPr>
                </a:tc>
              </a:tr>
              <a:tr h="365760">
                <a:tc>
                  <a:txBody>
                    <a:bodyPr wrap="square"/>
                    <a:lstStyle/>
                    <a:p>
                      <a:pPr algn="l"/>
                      <a:r>
                        <a:rPr sz="1150" b="1">
                          <a:solidFill>
                            <a:srgbClr val="1F2937"/>
                          </a:solidFill>
                          <a:latin typeface="Calibri"/>
                        </a:rPr>
                        <a:t>A4</a:t>
                      </a:r>
                    </a:p>
                  </a:txBody>
                  <a:tcPr marL="73152" marR="73152" marT="27432" marB="27432" anchor="ctr">
                    <a:solidFill>
                      <a:srgbClr val="FFFFFF"/>
                    </a:solidFill>
                  </a:tcPr>
                </a:tc>
                <a:tc>
                  <a:txBody>
                    <a:bodyPr wrap="square"/>
                    <a:lstStyle/>
                    <a:p>
                      <a:pPr algn="l"/>
                      <a:r>
                        <a:rPr sz="1150" b="0">
                          <a:solidFill>
                            <a:srgbClr val="1F2937"/>
                          </a:solidFill>
                          <a:latin typeface="Calibri"/>
                        </a:rPr>
                        <a:t>Seasonal closures are not construction; descriptions identify them.</a:t>
                      </a:r>
                    </a:p>
                  </a:txBody>
                  <a:tcPr marL="73152" marR="73152" marT="27432" marB="27432" anchor="ctr">
                    <a:solidFill>
                      <a:srgbClr val="FFFFFF"/>
                    </a:solidFill>
                  </a:tcPr>
                </a:tc>
              </a:tr>
              <a:tr h="365760">
                <a:tc>
                  <a:txBody>
                    <a:bodyPr wrap="square"/>
                    <a:lstStyle/>
                    <a:p>
                      <a:pPr algn="l"/>
                      <a:r>
                        <a:rPr sz="1150" b="1">
                          <a:solidFill>
                            <a:srgbClr val="1F2937"/>
                          </a:solidFill>
                          <a:latin typeface="Calibri"/>
                        </a:rPr>
                        <a:t>A5</a:t>
                      </a:r>
                    </a:p>
                  </a:txBody>
                  <a:tcPr marL="73152" marR="73152" marT="27432" marB="27432" anchor="ctr">
                    <a:solidFill>
                      <a:srgbClr val="FFFFFF"/>
                    </a:solidFill>
                  </a:tcPr>
                </a:tc>
                <a:tc>
                  <a:txBody>
                    <a:bodyPr wrap="square"/>
                    <a:lstStyle/>
                    <a:p>
                      <a:pPr algn="l"/>
                      <a:r>
                        <a:rPr sz="1150" b="0">
                          <a:solidFill>
                            <a:srgbClr val="1F2937"/>
                          </a:solidFill>
                          <a:latin typeface="Calibri"/>
                        </a:rPr>
                        <a:t>Hours of reported traffic impact stand in for hours of roadwork.</a:t>
                      </a:r>
                    </a:p>
                  </a:txBody>
                  <a:tcPr marL="73152" marR="73152" marT="27432" marB="27432" anchor="ctr">
                    <a:solidFill>
                      <a:srgbClr val="FFFFFF"/>
                    </a:solidFill>
                  </a:tcPr>
                </a:tc>
              </a:tr>
              <a:tr h="365760">
                <a:tc>
                  <a:txBody>
                    <a:bodyPr wrap="square"/>
                    <a:lstStyle/>
                    <a:p>
                      <a:pPr algn="l"/>
                      <a:r>
                        <a:rPr sz="1150" b="1">
                          <a:solidFill>
                            <a:srgbClr val="1F2937"/>
                          </a:solidFill>
                          <a:latin typeface="Calibri"/>
                        </a:rPr>
                        <a:t>A6</a:t>
                      </a:r>
                    </a:p>
                  </a:txBody>
                  <a:tcPr marL="73152" marR="73152" marT="27432" marB="27432" anchor="ctr">
                    <a:solidFill>
                      <a:srgbClr val="FFFFFF"/>
                    </a:solidFill>
                  </a:tcPr>
                </a:tc>
                <a:tc>
                  <a:txBody>
                    <a:bodyPr wrap="square"/>
                    <a:lstStyle/>
                    <a:p>
                      <a:pPr algn="l"/>
                      <a:r>
                        <a:rPr sz="1150" b="0">
                          <a:solidFill>
                            <a:srgbClr val="1F2937"/>
                          </a:solidFill>
                          <a:latin typeface="Calibri"/>
                        </a:rPr>
                        <a:t>An event is located by its endpoints; the road between is unknown.</a:t>
                      </a:r>
                    </a:p>
                  </a:txBody>
                  <a:tcPr marL="73152" marR="73152" marT="27432" marB="27432" anchor="ctr">
                    <a:solidFill>
                      <a:srgbClr val="FFFFFF"/>
                    </a:solidFill>
                  </a:tcPr>
                </a:tc>
              </a:tr>
              <a:tr h="365760">
                <a:tc>
                  <a:txBody>
                    <a:bodyPr wrap="square"/>
                    <a:lstStyle/>
                    <a:p>
                      <a:pPr algn="l"/>
                      <a:r>
                        <a:rPr sz="1150" b="1">
                          <a:solidFill>
                            <a:srgbClr val="1F2937"/>
                          </a:solidFill>
                          <a:latin typeface="Calibri"/>
                        </a:rPr>
                        <a:t>A7</a:t>
                      </a:r>
                    </a:p>
                  </a:txBody>
                  <a:tcPr marL="73152" marR="73152" marT="27432" marB="27432" anchor="ctr">
                    <a:solidFill>
                      <a:srgbClr val="FFFFFF"/>
                    </a:solidFill>
                  </a:tcPr>
                </a:tc>
                <a:tc>
                  <a:txBody>
                    <a:bodyPr wrap="square"/>
                    <a:lstStyle/>
                    <a:p>
                      <a:pPr algn="l"/>
                      <a:r>
                        <a:rPr sz="1150" b="0">
                          <a:solidFill>
                            <a:srgbClr val="1F2937"/>
                          </a:solidFill>
                          <a:latin typeface="Calibri"/>
                        </a:rPr>
                        <a:t>“Near a route” is within 100 m; events ≤ 5 miles follow a straight line.</a:t>
                      </a:r>
                    </a:p>
                  </a:txBody>
                  <a:tcPr marL="73152" marR="73152" marT="27432" marB="27432" anchor="ctr">
                    <a:solidFill>
                      <a:srgbClr val="FFFFFF"/>
                    </a:solidFill>
                  </a:tcPr>
                </a:tc>
              </a:tr>
              <a:tr h="365760">
                <a:tc>
                  <a:txBody>
                    <a:bodyPr wrap="square"/>
                    <a:lstStyle/>
                    <a:p>
                      <a:pPr algn="l"/>
                      <a:r>
                        <a:rPr sz="1150" b="1">
                          <a:solidFill>
                            <a:srgbClr val="1F2937"/>
                          </a:solidFill>
                          <a:latin typeface="Calibri"/>
                        </a:rPr>
                        <a:t>A8</a:t>
                      </a:r>
                    </a:p>
                  </a:txBody>
                  <a:tcPr marL="73152" marR="73152" marT="27432" marB="27432" anchor="ctr">
                    <a:solidFill>
                      <a:srgbClr val="FFFFFF"/>
                    </a:solidFill>
                  </a:tcPr>
                </a:tc>
                <a:tc>
                  <a:txBody>
                    <a:bodyPr wrap="square"/>
                    <a:lstStyle/>
                    <a:p>
                      <a:pPr algn="l"/>
                      <a:r>
                        <a:rPr sz="1150" b="0">
                          <a:solidFill>
                            <a:srgbClr val="1F2937"/>
                          </a:solidFill>
                          <a:latin typeface="Calibri"/>
                        </a:rPr>
                        <a:t>Raw counts reflect how much each DOT publishes as much as how much work exists.</a:t>
                      </a:r>
                    </a:p>
                  </a:txBody>
                  <a:tcPr marL="73152" marR="73152" marT="27432" marB="27432" anchor="ctr">
                    <a:solidFill>
                      <a:srgbClr val="FFFFFF"/>
                    </a:solidFill>
                  </a:tcPr>
                </a:tc>
              </a:tr>
            </a:tbl>
          </a:graphicData>
        </a:graphic>
      </p:graphicFrame>
      <p:sp>
        <p:nvSpPr>
          <p:cNvPr id="9" name="TextBox 8"/>
          <p:cNvSpPr txBox="1"/>
          <p:nvPr/>
        </p:nvSpPr>
        <p:spPr>
          <a:xfrm>
            <a:off x="6766560" y="1325880"/>
            <a:ext cx="4846320" cy="365760"/>
          </a:xfrm>
          <a:prstGeom prst="rect">
            <a:avLst/>
          </a:prstGeom>
          <a:noFill/>
        </p:spPr>
        <p:txBody>
          <a:bodyPr wrap="square" lIns="0" rIns="0" tIns="0" bIns="0" anchor="t">
            <a:spAutoFit/>
          </a:bodyPr>
          <a:lstStyle/>
          <a:p>
            <a:pPr algn="l">
              <a:lnSpc>
                <a:spcPct val="110000"/>
              </a:lnSpc>
              <a:spcAft>
                <a:spcPts val="400"/>
              </a:spcAft>
            </a:pPr>
            <a:r>
              <a:rPr sz="1500" b="1" i="0">
                <a:solidFill>
                  <a:srgbClr val="1F2937"/>
                </a:solidFill>
                <a:latin typeface="Calibri"/>
              </a:rPr>
              <a:t>With more time</a:t>
            </a:r>
          </a:p>
        </p:txBody>
      </p:sp>
      <p:sp>
        <p:nvSpPr>
          <p:cNvPr id="10" name="TextBox 9"/>
          <p:cNvSpPr txBox="1"/>
          <p:nvPr/>
        </p:nvSpPr>
        <p:spPr>
          <a:xfrm>
            <a:off x="6766560" y="1737360"/>
            <a:ext cx="4846320" cy="4389120"/>
          </a:xfrm>
          <a:prstGeom prst="rect">
            <a:avLst/>
          </a:prstGeom>
          <a:noFill/>
        </p:spPr>
        <p:txBody>
          <a:bodyPr wrap="square" lIns="0" rIns="0" tIns="0" bIns="0" anchor="t">
            <a:spAutoFit/>
          </a:bodyPr>
          <a:lstStyle/>
          <a:p>
            <a:pPr algn="l" marL="201168" indent="-201168">
              <a:lnSpc>
                <a:spcPct val="110000"/>
              </a:lnSpc>
              <a:spcAft>
                <a:spcPts val="800"/>
              </a:spcAft>
              <a:buChar char="•"/>
            </a:pPr>
            <a:r>
              <a:rPr sz="1250" b="0" i="0">
                <a:solidFill>
                  <a:srgbClr val="1F2937"/>
                </a:solidFill>
                <a:latin typeface="Calibri"/>
              </a:rPr>
              <a:t>Road miles as the Q3 denominator: OpenStreetMap drive-network length inside each city boundary, so hours per road-mile.</a:t>
            </a:r>
          </a:p>
          <a:p>
            <a:pPr algn="l" marL="201168" indent="-201168">
              <a:lnSpc>
                <a:spcPct val="110000"/>
              </a:lnSpc>
              <a:spcAft>
                <a:spcPts val="800"/>
              </a:spcAft>
              <a:buChar char="•"/>
            </a:pPr>
            <a:r>
              <a:rPr sz="1250" b="0" i="0">
                <a:solidFill>
                  <a:srgbClr val="1F2937"/>
                </a:solidFill>
                <a:latin typeface="Calibri"/>
              </a:rPr>
              <a:t>Chain re-published advisories into one event, so a five-month closure is five months, not sixty five-hour rows.</a:t>
            </a:r>
          </a:p>
          <a:p>
            <a:pPr algn="l" marL="201168" indent="-201168">
              <a:lnSpc>
                <a:spcPct val="110000"/>
              </a:lnSpc>
              <a:spcAft>
                <a:spcPts val="800"/>
              </a:spcAft>
              <a:buChar char="•"/>
            </a:pPr>
            <a:r>
              <a:rPr sz="1250" b="0" i="0">
                <a:solidFill>
                  <a:srgbClr val="1F2937"/>
                </a:solidFill>
                <a:latin typeface="Calibri"/>
              </a:rPr>
              <a:t>Separate the feeds: the two spellings in the wind column date the provider changes without a provider ID.</a:t>
            </a:r>
          </a:p>
          <a:p>
            <a:pPr algn="l" marL="201168" indent="-201168">
              <a:lnSpc>
                <a:spcPct val="110000"/>
              </a:lnSpc>
              <a:spcAft>
                <a:spcPts val="800"/>
              </a:spcAft>
              <a:buChar char="•"/>
            </a:pPr>
            <a:r>
              <a:rPr sz="1250" b="0" i="0">
                <a:solidFill>
                  <a:srgbClr val="1F2937"/>
                </a:solidFill>
                <a:latin typeface="Calibri"/>
              </a:rPr>
              <a:t>Snap events to road geometry and score exposure per road segment, which is what a planner can act on.</a:t>
            </a:r>
          </a:p>
          <a:p>
            <a:pPr algn="l" marL="201168" indent="-201168">
              <a:lnSpc>
                <a:spcPct val="110000"/>
              </a:lnSpc>
              <a:spcAft>
                <a:spcPts val="800"/>
              </a:spcAft>
              <a:buChar char="•"/>
            </a:pPr>
            <a:r>
              <a:rPr sz="1250" b="0" i="0">
                <a:solidFill>
                  <a:srgbClr val="1F2937"/>
                </a:solidFill>
                <a:latin typeface="Calibri"/>
              </a:rPr>
              <a:t>Simpler, not more sophisticated: the whole thing in one notebook with DuckDB reading the CSV directly, for a one-off.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0271455" cy="822960"/>
          </a:xfrm>
          <a:prstGeom prst="rect">
            <a:avLst/>
          </a:prstGeom>
          <a:noFill/>
        </p:spPr>
        <p:txBody>
          <a:bodyPr wrap="square" lIns="0" rIns="0" tIns="0" bIns="0" anchor="t">
            <a:spAutoFit/>
          </a:bodyPr>
          <a:lstStyle/>
          <a:p>
            <a:pPr algn="l">
              <a:lnSpc>
                <a:spcPct val="100000"/>
              </a:lnSpc>
              <a:spcAft>
                <a:spcPts val="400"/>
              </a:spcAft>
            </a:pPr>
            <a:r>
              <a:rPr sz="2600" b="1" i="0">
                <a:solidFill>
                  <a:srgbClr val="1F2937"/>
                </a:solidFill>
                <a:latin typeface="Calibri"/>
              </a:rPr>
              <a:t>Appendix — where every number comes from</a:t>
            </a:r>
          </a:p>
        </p:txBody>
      </p:sp>
      <p:pic>
        <p:nvPicPr>
          <p:cNvPr id="3" name="Picture 2" descr="aurora_mark.png"/>
          <p:cNvPicPr>
            <a:picLocks noChangeAspect="1"/>
          </p:cNvPicPr>
          <p:nvPr/>
        </p:nvPicPr>
        <p:blipFill>
          <a:blip r:embed="rId2"/>
          <a:stretch>
            <a:fillRect/>
          </a:stretch>
        </p:blipFill>
        <p:spPr>
          <a:xfrm>
            <a:off x="11259007" y="411480"/>
            <a:ext cx="385961" cy="420624"/>
          </a:xfrm>
          <a:prstGeom prst="rect">
            <a:avLst/>
          </a:prstGeom>
        </p:spPr>
      </p:pic>
      <p:cxnSp>
        <p:nvCxnSpPr>
          <p:cNvPr id="4" name="Connector 3"/>
          <p:cNvCxnSpPr/>
          <p:nvPr/>
        </p:nvCxnSpPr>
        <p:spPr>
          <a:xfrm>
            <a:off x="548640" y="6163056"/>
            <a:ext cx="11094415"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236208"/>
            <a:ext cx="7498079" cy="502920"/>
          </a:xfrm>
          <a:prstGeom prst="rect">
            <a:avLst/>
          </a:prstGeom>
          <a:noFill/>
        </p:spPr>
        <p:txBody>
          <a:bodyPr wrap="square" lIns="0" rIns="0" tIns="0" bIns="0" anchor="t">
            <a:spAutoFit/>
          </a:bodyPr>
          <a:lstStyle/>
          <a:p>
            <a:pPr algn="l">
              <a:lnSpc>
                <a:spcPct val="110000"/>
              </a:lnSpc>
              <a:spcAft>
                <a:spcPts val="400"/>
              </a:spcAft>
            </a:pPr>
            <a:r>
              <a:rPr sz="1200" b="0" i="0">
                <a:solidFill>
                  <a:srgbClr val="1F2937"/>
                </a:solidFill>
                <a:latin typeface="Calibri"/>
              </a:rPr>
              <a:t>reports/pull_deck_data.py runs these against the database and writes one CSV each; build_charts.py and build_deck.py read the CSVs and nothing else.</a:t>
            </a:r>
          </a:p>
        </p:txBody>
      </p:sp>
      <p:sp>
        <p:nvSpPr>
          <p:cNvPr id="6" name="TextBox 5"/>
          <p:cNvSpPr txBox="1"/>
          <p:nvPr/>
        </p:nvSpPr>
        <p:spPr>
          <a:xfrm>
            <a:off x="8259775" y="6236208"/>
            <a:ext cx="3383280" cy="502920"/>
          </a:xfrm>
          <a:prstGeom prst="rect">
            <a:avLst/>
          </a:prstGeom>
          <a:noFill/>
        </p:spPr>
        <p:txBody>
          <a:bodyPr wrap="square" lIns="0" rIns="0" tIns="0" bIns="0" anchor="t">
            <a:spAutoFit/>
          </a:bodyPr>
          <a:lstStyle/>
          <a:p>
            <a:pPr algn="r">
              <a:lnSpc>
                <a:spcPct val="110000"/>
              </a:lnSpc>
              <a:spcAft>
                <a:spcPts val="400"/>
              </a:spcAft>
            </a:pPr>
            <a:r>
              <a:rPr sz="900" b="0" i="0">
                <a:solidFill>
                  <a:srgbClr val="6B7B8C"/>
                </a:solidFill>
                <a:latin typeface="Calibri"/>
              </a:rPr>
              <a:t>17</a:t>
            </a:r>
          </a:p>
        </p:txBody>
      </p:sp>
      <p:graphicFrame>
        <p:nvGraphicFramePr>
          <p:cNvPr id="7" name="Table 6"/>
          <p:cNvGraphicFramePr>
            <a:graphicFrameLocks noGrp="1"/>
          </p:cNvGraphicFramePr>
          <p:nvPr/>
        </p:nvGraphicFramePr>
        <p:xfrm>
          <a:off x="548640" y="1325880"/>
          <a:ext cx="11064240" cy="3822192"/>
        </p:xfrm>
        <a:graphic>
          <a:graphicData uri="http://schemas.openxmlformats.org/drawingml/2006/table">
            <a:tbl>
              <a:tblPr>
                <a:tableStyleId>{2D5ABB26-0587-4C30-8999-92F81FD0307C}</a:tableStyleId>
              </a:tblPr>
              <a:tblGrid>
                <a:gridCol w="1005840"/>
                <a:gridCol w="3291840"/>
                <a:gridCol w="3657600"/>
                <a:gridCol w="3108960"/>
              </a:tblGrid>
              <a:tr h="347472">
                <a:tc>
                  <a:txBody>
                    <a:bodyPr wrap="square"/>
                    <a:lstStyle/>
                    <a:p>
                      <a:pPr algn="l"/>
                      <a:r>
                        <a:rPr sz="1100" b="1">
                          <a:solidFill>
                            <a:srgbClr val="6B7B8C"/>
                          </a:solidFill>
                          <a:latin typeface="Calibri"/>
                        </a:rPr>
                        <a:t>Slides</a:t>
                      </a:r>
                    </a:p>
                  </a:txBody>
                  <a:tcPr marL="73152" marR="73152" marT="27432" marB="27432" anchor="ctr">
                    <a:solidFill>
                      <a:srgbClr val="F1F4F8"/>
                    </a:solidFill>
                    <a:lnB w="12700">
                      <a:solidFill>
                        <a:srgbClr val="DCE3EA"/>
                      </a:solidFill>
                    </a:lnB>
                  </a:tcPr>
                </a:tc>
                <a:tc>
                  <a:txBody>
                    <a:bodyPr wrap="square"/>
                    <a:lstStyle/>
                    <a:p>
                      <a:pPr algn="l"/>
                      <a:r>
                        <a:rPr sz="1100" b="1">
                          <a:solidFill>
                            <a:srgbClr val="6B7B8C"/>
                          </a:solidFill>
                          <a:latin typeface="Calibri"/>
                        </a:rPr>
                        <a:t>Query</a:t>
                      </a:r>
                    </a:p>
                  </a:txBody>
                  <a:tcPr marL="73152" marR="73152" marT="27432" marB="27432" anchor="ctr">
                    <a:solidFill>
                      <a:srgbClr val="F1F4F8"/>
                    </a:solidFill>
                    <a:lnB w="12700">
                      <a:solidFill>
                        <a:srgbClr val="DCE3EA"/>
                      </a:solidFill>
                    </a:lnB>
                  </a:tcPr>
                </a:tc>
                <a:tc>
                  <a:txBody>
                    <a:bodyPr wrap="square"/>
                    <a:lstStyle/>
                    <a:p>
                      <a:pPr algn="l"/>
                      <a:r>
                        <a:rPr sz="1100" b="1">
                          <a:solidFill>
                            <a:srgbClr val="6B7B8C"/>
                          </a:solidFill>
                          <a:latin typeface="Calibri"/>
                        </a:rPr>
                        <a:t>Reads</a:t>
                      </a:r>
                    </a:p>
                  </a:txBody>
                  <a:tcPr marL="73152" marR="73152" marT="27432" marB="27432" anchor="ctr">
                    <a:solidFill>
                      <a:srgbClr val="F1F4F8"/>
                    </a:solidFill>
                    <a:lnB w="12700">
                      <a:solidFill>
                        <a:srgbClr val="DCE3EA"/>
                      </a:solidFill>
                    </a:lnB>
                  </a:tcPr>
                </a:tc>
                <a:tc>
                  <a:txBody>
                    <a:bodyPr wrap="square"/>
                    <a:lstStyle/>
                    <a:p>
                      <a:pPr algn="l"/>
                      <a:r>
                        <a:rPr sz="1100" b="1">
                          <a:solidFill>
                            <a:srgbClr val="6B7B8C"/>
                          </a:solidFill>
                          <a:latin typeface="Calibri"/>
                        </a:rPr>
                        <a:t>Shows</a:t>
                      </a:r>
                    </a:p>
                  </a:txBody>
                  <a:tcPr marL="73152" marR="73152" marT="27432" marB="27432" anchor="ctr">
                    <a:solidFill>
                      <a:srgbClr val="F1F4F8"/>
                    </a:solidFill>
                    <a:lnB w="12700">
                      <a:solidFill>
                        <a:srgbClr val="DCE3EA"/>
                      </a:solidFill>
                    </a:lnB>
                  </a:tcPr>
                </a:tc>
              </a:tr>
              <a:tr h="347472">
                <a:tc>
                  <a:txBody>
                    <a:bodyPr wrap="square"/>
                    <a:lstStyle/>
                    <a:p>
                      <a:pPr algn="l"/>
                      <a:r>
                        <a:rPr sz="1100" b="0">
                          <a:solidFill>
                            <a:srgbClr val="1F2937"/>
                          </a:solidFill>
                          <a:latin typeface="Calibri"/>
                        </a:rPr>
                        <a:t>3</a:t>
                      </a:r>
                    </a:p>
                  </a:txBody>
                  <a:tcPr marL="73152" marR="73152" marT="27432" marB="27432" anchor="ctr">
                    <a:solidFill>
                      <a:srgbClr val="FFFFFF"/>
                    </a:solidFill>
                  </a:tcPr>
                </a:tc>
                <a:tc>
                  <a:txBody>
                    <a:bodyPr wrap="square"/>
                    <a:lstStyle/>
                    <a:p>
                      <a:pPr algn="l"/>
                      <a:r>
                        <a:rPr sz="1100" b="0">
                          <a:solidFill>
                            <a:srgbClr val="1F2937"/>
                          </a:solidFill>
                          <a:latin typeface="Calibri"/>
                        </a:rPr>
                        <a:t>queries/12_row_counts</a:t>
                      </a:r>
                    </a:p>
                  </a:txBody>
                  <a:tcPr marL="73152" marR="73152" marT="27432" marB="27432" anchor="ctr">
                    <a:solidFill>
                      <a:srgbClr val="FFFFFF"/>
                    </a:solidFill>
                  </a:tcPr>
                </a:tc>
                <a:tc>
                  <a:txBody>
                    <a:bodyPr wrap="square"/>
                    <a:lstStyle/>
                    <a:p>
                      <a:pPr algn="l"/>
                      <a:r>
                        <a:rPr sz="1100" b="0">
                          <a:solidFill>
                            <a:srgbClr val="1F2937"/>
                          </a:solidFill>
                          <a:latin typeface="Calibri"/>
                        </a:rPr>
                        <a:t>raw, stg_construction</a:t>
                      </a:r>
                    </a:p>
                  </a:txBody>
                  <a:tcPr marL="73152" marR="73152" marT="27432" marB="27432" anchor="ctr">
                    <a:solidFill>
                      <a:srgbClr val="FFFFFF"/>
                    </a:solidFill>
                  </a:tcPr>
                </a:tc>
                <a:tc>
                  <a:txBody>
                    <a:bodyPr wrap="square"/>
                    <a:lstStyle/>
                    <a:p>
                      <a:pPr algn="l"/>
                      <a:r>
                        <a:rPr sz="1100" b="0">
                          <a:solidFill>
                            <a:srgbClr val="1F2937"/>
                          </a:solidFill>
                          <a:latin typeface="Calibri"/>
                        </a:rPr>
                        <a:t>row counts at each layer</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5–6</a:t>
                      </a:r>
                    </a:p>
                  </a:txBody>
                  <a:tcPr marL="73152" marR="73152" marT="27432" marB="27432" anchor="ctr">
                    <a:solidFill>
                      <a:srgbClr val="FFFFFF"/>
                    </a:solidFill>
                  </a:tcPr>
                </a:tc>
                <a:tc>
                  <a:txBody>
                    <a:bodyPr wrap="square"/>
                    <a:lstStyle/>
                    <a:p>
                      <a:pPr algn="l"/>
                      <a:r>
                        <a:rPr sz="1100" b="0">
                          <a:solidFill>
                            <a:srgbClr val="1F2937"/>
                          </a:solidFill>
                          <a:latin typeface="Calibri"/>
                        </a:rPr>
                        <a:t>queries/10_staging_flags</a:t>
                      </a:r>
                    </a:p>
                  </a:txBody>
                  <a:tcPr marL="73152" marR="73152" marT="27432" marB="27432" anchor="ctr">
                    <a:solidFill>
                      <a:srgbClr val="FFFFFF"/>
                    </a:solidFill>
                  </a:tcPr>
                </a:tc>
                <a:tc>
                  <a:txBody>
                    <a:bodyPr wrap="square"/>
                    <a:lstStyle/>
                    <a:p>
                      <a:pPr algn="l"/>
                      <a:r>
                        <a:rPr sz="1100" b="0">
                          <a:solidFill>
                            <a:srgbClr val="1F2937"/>
                          </a:solidFill>
                          <a:latin typeface="Calibri"/>
                        </a:rPr>
                        <a:t>stg_construction</a:t>
                      </a:r>
                    </a:p>
                  </a:txBody>
                  <a:tcPr marL="73152" marR="73152" marT="27432" marB="27432" anchor="ctr">
                    <a:solidFill>
                      <a:srgbClr val="FFFFFF"/>
                    </a:solidFill>
                  </a:tcPr>
                </a:tc>
                <a:tc>
                  <a:txBody>
                    <a:bodyPr wrap="square"/>
                    <a:lstStyle/>
                    <a:p>
                      <a:pPr algn="l"/>
                      <a:r>
                        <a:rPr sz="1100" b="0">
                          <a:solidFill>
                            <a:srgbClr val="1F2937"/>
                          </a:solidFill>
                          <a:latin typeface="Calibri"/>
                        </a:rPr>
                        <a:t>flag counts, mean and median hours</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7</a:t>
                      </a:r>
                    </a:p>
                  </a:txBody>
                  <a:tcPr marL="73152" marR="73152" marT="27432" marB="27432" anchor="ctr">
                    <a:solidFill>
                      <a:srgbClr val="FFFFFF"/>
                    </a:solidFill>
                  </a:tcPr>
                </a:tc>
                <a:tc>
                  <a:txBody>
                    <a:bodyPr wrap="square"/>
                    <a:lstStyle/>
                    <a:p>
                      <a:pPr algn="l"/>
                      <a:r>
                        <a:rPr sz="1100" b="0">
                          <a:solidFill>
                            <a:srgbClr val="1F2937"/>
                          </a:solidFill>
                          <a:latin typeface="Calibri"/>
                        </a:rPr>
                        <a:t>queries/02_q1_ten_cities</a:t>
                      </a:r>
                    </a:p>
                  </a:txBody>
                  <a:tcPr marL="73152" marR="73152" marT="27432" marB="27432" anchor="ctr">
                    <a:solidFill>
                      <a:srgbClr val="FFFFFF"/>
                    </a:solidFill>
                  </a:tcPr>
                </a:tc>
                <a:tc>
                  <a:txBody>
                    <a:bodyPr wrap="square"/>
                    <a:lstStyle/>
                    <a:p>
                      <a:pPr algn="l"/>
                      <a:r>
                        <a:rPr sz="1100" b="0">
                          <a:solidFill>
                            <a:srgbClr val="1F2937"/>
                          </a:solidFill>
                          <a:latin typeface="Calibri"/>
                        </a:rPr>
                        <a:t>int_city_month_hours</a:t>
                      </a:r>
                    </a:p>
                  </a:txBody>
                  <a:tcPr marL="73152" marR="73152" marT="27432" marB="27432" anchor="ctr">
                    <a:solidFill>
                      <a:srgbClr val="FFFFFF"/>
                    </a:solidFill>
                  </a:tcPr>
                </a:tc>
                <a:tc>
                  <a:txBody>
                    <a:bodyPr wrap="square"/>
                    <a:lstStyle/>
                    <a:p>
                      <a:pPr algn="l"/>
                      <a:r>
                        <a:rPr sz="1100" b="0">
                          <a:solidFill>
                            <a:srgbClr val="1F2937"/>
                          </a:solidFill>
                          <a:latin typeface="Calibri"/>
                        </a:rPr>
                        <a:t>Q1 totals, concurrency</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8</a:t>
                      </a:r>
                    </a:p>
                  </a:txBody>
                  <a:tcPr marL="73152" marR="73152" marT="27432" marB="27432" anchor="ctr">
                    <a:solidFill>
                      <a:srgbClr val="FFFFFF"/>
                    </a:solidFill>
                  </a:tcPr>
                </a:tc>
                <a:tc>
                  <a:txBody>
                    <a:bodyPr wrap="square"/>
                    <a:lstStyle/>
                    <a:p>
                      <a:pPr algn="l"/>
                      <a:r>
                        <a:rPr sz="1100" b="0">
                          <a:solidFill>
                            <a:srgbClr val="1F2937"/>
                          </a:solidFill>
                          <a:latin typeface="Calibri"/>
                        </a:rPr>
                        <a:t>queries/03_q2_ten_cities_by_year</a:t>
                      </a:r>
                    </a:p>
                  </a:txBody>
                  <a:tcPr marL="73152" marR="73152" marT="27432" marB="27432" anchor="ctr">
                    <a:solidFill>
                      <a:srgbClr val="FFFFFF"/>
                    </a:solidFill>
                  </a:tcPr>
                </a:tc>
                <a:tc>
                  <a:txBody>
                    <a:bodyPr wrap="square"/>
                    <a:lstStyle/>
                    <a:p>
                      <a:pPr algn="l"/>
                      <a:r>
                        <a:rPr sz="1100" b="0">
                          <a:solidFill>
                            <a:srgbClr val="1F2937"/>
                          </a:solidFill>
                          <a:latin typeface="Calibri"/>
                        </a:rPr>
                        <a:t>int_city_month_hours</a:t>
                      </a:r>
                    </a:p>
                  </a:txBody>
                  <a:tcPr marL="73152" marR="73152" marT="27432" marB="27432" anchor="ctr">
                    <a:solidFill>
                      <a:srgbClr val="FFFFFF"/>
                    </a:solidFill>
                  </a:tcPr>
                </a:tc>
                <a:tc>
                  <a:txBody>
                    <a:bodyPr wrap="square"/>
                    <a:lstStyle/>
                    <a:p>
                      <a:pPr algn="l"/>
                      <a:r>
                        <a:rPr sz="1100" b="0">
                          <a:solidFill>
                            <a:srgbClr val="1F2937"/>
                          </a:solidFill>
                          <a:latin typeface="Calibri"/>
                        </a:rPr>
                        <a:t>Q2 small multiples</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9</a:t>
                      </a:r>
                    </a:p>
                  </a:txBody>
                  <a:tcPr marL="73152" marR="73152" marT="27432" marB="27432" anchor="ctr">
                    <a:solidFill>
                      <a:srgbClr val="FFFFFF"/>
                    </a:solidFill>
                  </a:tcPr>
                </a:tc>
                <a:tc>
                  <a:txBody>
                    <a:bodyPr wrap="square"/>
                    <a:lstStyle/>
                    <a:p>
                      <a:pPr algn="l"/>
                      <a:r>
                        <a:rPr sz="1100" b="0">
                          <a:solidFill>
                            <a:srgbClr val="1F2937"/>
                          </a:solidFill>
                          <a:latin typeface="Calibri"/>
                        </a:rPr>
                        <a:t>queries/04, 05</a:t>
                      </a:r>
                    </a:p>
                  </a:txBody>
                  <a:tcPr marL="73152" marR="73152" marT="27432" marB="27432" anchor="ctr">
                    <a:solidFill>
                      <a:srgbClr val="FFFFFF"/>
                    </a:solidFill>
                  </a:tcPr>
                </a:tc>
                <a:tc>
                  <a:txBody>
                    <a:bodyPr wrap="square"/>
                    <a:lstStyle/>
                    <a:p>
                      <a:pPr algn="l"/>
                      <a:r>
                        <a:rPr sz="1100" b="0">
                          <a:solidFill>
                            <a:srgbClr val="1F2937"/>
                          </a:solidFill>
                          <a:latin typeface="Calibri"/>
                        </a:rPr>
                        <a:t>int_city_month_hours, stg_construction</a:t>
                      </a:r>
                    </a:p>
                  </a:txBody>
                  <a:tcPr marL="73152" marR="73152" marT="27432" marB="27432" anchor="ctr">
                    <a:solidFill>
                      <a:srgbClr val="FFFFFF"/>
                    </a:solidFill>
                  </a:tcPr>
                </a:tc>
                <a:tc>
                  <a:txBody>
                    <a:bodyPr wrap="square"/>
                    <a:lstStyle/>
                    <a:p>
                      <a:pPr algn="l"/>
                      <a:r>
                        <a:rPr sz="1100" b="0">
                          <a:solidFill>
                            <a:srgbClr val="1F2937"/>
                          </a:solidFill>
                          <a:latin typeface="Calibri"/>
                        </a:rPr>
                        <a:t>monthly totals; by-year decomposition</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10</a:t>
                      </a:r>
                    </a:p>
                  </a:txBody>
                  <a:tcPr marL="73152" marR="73152" marT="27432" marB="27432" anchor="ctr">
                    <a:solidFill>
                      <a:srgbClr val="FFFFFF"/>
                    </a:solidFill>
                  </a:tcPr>
                </a:tc>
                <a:tc>
                  <a:txBody>
                    <a:bodyPr wrap="square"/>
                    <a:lstStyle/>
                    <a:p>
                      <a:pPr algn="l"/>
                      <a:r>
                        <a:rPr sz="1100" b="0">
                          <a:solidFill>
                            <a:srgbClr val="1F2937"/>
                          </a:solidFill>
                          <a:latin typeface="Calibri"/>
                        </a:rPr>
                        <a:t>queries/06_q2_new_york_by_year</a:t>
                      </a:r>
                    </a:p>
                  </a:txBody>
                  <a:tcPr marL="73152" marR="73152" marT="27432" marB="27432" anchor="ctr">
                    <a:solidFill>
                      <a:srgbClr val="FFFFFF"/>
                    </a:solidFill>
                  </a:tcPr>
                </a:tc>
                <a:tc>
                  <a:txBody>
                    <a:bodyPr wrap="square"/>
                    <a:lstStyle/>
                    <a:p>
                      <a:pPr algn="l"/>
                      <a:r>
                        <a:rPr sz="1100" b="0">
                          <a:solidFill>
                            <a:srgbClr val="1F2937"/>
                          </a:solidFill>
                          <a:latin typeface="Calibri"/>
                        </a:rPr>
                        <a:t>stg_construction</a:t>
                      </a:r>
                    </a:p>
                  </a:txBody>
                  <a:tcPr marL="73152" marR="73152" marT="27432" marB="27432" anchor="ctr">
                    <a:solidFill>
                      <a:srgbClr val="FFFFFF"/>
                    </a:solidFill>
                  </a:tcPr>
                </a:tc>
                <a:tc>
                  <a:txBody>
                    <a:bodyPr wrap="square"/>
                    <a:lstStyle/>
                    <a:p>
                      <a:pPr algn="l"/>
                      <a:r>
                        <a:rPr sz="1100" b="0">
                          <a:solidFill>
                            <a:srgbClr val="1F2937"/>
                          </a:solidFill>
                          <a:latin typeface="Calibri"/>
                        </a:rPr>
                        <a:t>New York by year</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11</a:t>
                      </a:r>
                    </a:p>
                  </a:txBody>
                  <a:tcPr marL="73152" marR="73152" marT="27432" marB="27432" anchor="ctr">
                    <a:solidFill>
                      <a:srgbClr val="FFFFFF"/>
                    </a:solidFill>
                  </a:tcPr>
                </a:tc>
                <a:tc>
                  <a:txBody>
                    <a:bodyPr wrap="square"/>
                    <a:lstStyle/>
                    <a:p>
                      <a:pPr algn="l"/>
                      <a:r>
                        <a:rPr sz="1100" b="0">
                          <a:solidFill>
                            <a:srgbClr val="1F2937"/>
                          </a:solidFill>
                          <a:latin typeface="Calibri"/>
                        </a:rPr>
                        <a:t>queries/07_q3_city_comparison</a:t>
                      </a:r>
                    </a:p>
                  </a:txBody>
                  <a:tcPr marL="73152" marR="73152" marT="27432" marB="27432" anchor="ctr">
                    <a:solidFill>
                      <a:srgbClr val="FFFFFF"/>
                    </a:solidFill>
                  </a:tcPr>
                </a:tc>
                <a:tc>
                  <a:txBody>
                    <a:bodyPr wrap="square"/>
                    <a:lstStyle/>
                    <a:p>
                      <a:pPr algn="l"/>
                      <a:r>
                        <a:rPr sz="1100" b="0">
                          <a:solidFill>
                            <a:srgbClr val="1F2937"/>
                          </a:solidFill>
                          <a:latin typeface="Calibri"/>
                        </a:rPr>
                        <a:t>fct_city_comparison</a:t>
                      </a:r>
                    </a:p>
                  </a:txBody>
                  <a:tcPr marL="73152" marR="73152" marT="27432" marB="27432" anchor="ctr">
                    <a:solidFill>
                      <a:srgbClr val="FFFFFF"/>
                    </a:solidFill>
                  </a:tcPr>
                </a:tc>
                <a:tc>
                  <a:txBody>
                    <a:bodyPr wrap="square"/>
                    <a:lstStyle/>
                    <a:p>
                      <a:pPr algn="l"/>
                      <a:r>
                        <a:rPr sz="1100" b="0">
                          <a:solidFill>
                            <a:srgbClr val="1F2937"/>
                          </a:solidFill>
                          <a:latin typeface="Calibri"/>
                        </a:rPr>
                        <a:t>Q3 normalized ranking</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12</a:t>
                      </a:r>
                    </a:p>
                  </a:txBody>
                  <a:tcPr marL="73152" marR="73152" marT="27432" marB="27432" anchor="ctr">
                    <a:solidFill>
                      <a:srgbClr val="FFFFFF"/>
                    </a:solidFill>
                  </a:tcPr>
                </a:tc>
                <a:tc>
                  <a:txBody>
                    <a:bodyPr wrap="square"/>
                    <a:lstStyle/>
                    <a:p>
                      <a:pPr algn="l"/>
                      <a:r>
                        <a:rPr sz="1100" b="0">
                          <a:solidFill>
                            <a:srgbClr val="1F2937"/>
                          </a:solidFill>
                          <a:latin typeface="Calibri"/>
                        </a:rPr>
                        <a:t>queries/08_q4_route_exposure</a:t>
                      </a:r>
                    </a:p>
                  </a:txBody>
                  <a:tcPr marL="73152" marR="73152" marT="27432" marB="27432" anchor="ctr">
                    <a:solidFill>
                      <a:srgbClr val="FFFFFF"/>
                    </a:solidFill>
                  </a:tcPr>
                </a:tc>
                <a:tc>
                  <a:txBody>
                    <a:bodyPr wrap="square"/>
                    <a:lstStyle/>
                    <a:p>
                      <a:pPr algn="l"/>
                      <a:r>
                        <a:rPr sz="1100" b="0">
                          <a:solidFill>
                            <a:srgbClr val="1F2937"/>
                          </a:solidFill>
                          <a:latin typeface="Calibri"/>
                        </a:rPr>
                        <a:t>fct_route_exposure</a:t>
                      </a:r>
                    </a:p>
                  </a:txBody>
                  <a:tcPr marL="73152" marR="73152" marT="27432" marB="27432" anchor="ctr">
                    <a:solidFill>
                      <a:srgbClr val="FFFFFF"/>
                    </a:solidFill>
                  </a:tcPr>
                </a:tc>
                <a:tc>
                  <a:txBody>
                    <a:bodyPr wrap="square"/>
                    <a:lstStyle/>
                    <a:p>
                      <a:pPr algn="l"/>
                      <a:r>
                        <a:rPr sz="1100" b="0">
                          <a:solidFill>
                            <a:srgbClr val="1F2937"/>
                          </a:solidFill>
                          <a:latin typeface="Calibri"/>
                        </a:rPr>
                        <a:t>Q4 by route and year</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13</a:t>
                      </a:r>
                    </a:p>
                  </a:txBody>
                  <a:tcPr marL="73152" marR="73152" marT="27432" marB="27432" anchor="ctr">
                    <a:solidFill>
                      <a:srgbClr val="FFFFFF"/>
                    </a:solidFill>
                  </a:tcPr>
                </a:tc>
                <a:tc>
                  <a:txBody>
                    <a:bodyPr wrap="square"/>
                    <a:lstStyle/>
                    <a:p>
                      <a:pPr algn="l"/>
                      <a:r>
                        <a:rPr sz="1100" b="0">
                          <a:solidFill>
                            <a:srgbClr val="1F2937"/>
                          </a:solidFill>
                          <a:latin typeface="Calibri"/>
                        </a:rPr>
                        <a:t>queries/09_q4_berkeley_2021_descriptions</a:t>
                      </a:r>
                    </a:p>
                  </a:txBody>
                  <a:tcPr marL="73152" marR="73152" marT="27432" marB="27432" anchor="ctr">
                    <a:solidFill>
                      <a:srgbClr val="FFFFFF"/>
                    </a:solidFill>
                  </a:tcPr>
                </a:tc>
                <a:tc>
                  <a:txBody>
                    <a:bodyPr wrap="square"/>
                    <a:lstStyle/>
                    <a:p>
                      <a:pPr algn="l"/>
                      <a:r>
                        <a:rPr sz="1100" b="0">
                          <a:solidFill>
                            <a:srgbClr val="1F2937"/>
                          </a:solidFill>
                          <a:latin typeface="Calibri"/>
                        </a:rPr>
                        <a:t>int_route_events</a:t>
                      </a:r>
                    </a:p>
                  </a:txBody>
                  <a:tcPr marL="73152" marR="73152" marT="27432" marB="27432" anchor="ctr">
                    <a:solidFill>
                      <a:srgbClr val="FFFFFF"/>
                    </a:solidFill>
                  </a:tcPr>
                </a:tc>
                <a:tc>
                  <a:txBody>
                    <a:bodyPr wrap="square"/>
                    <a:lstStyle/>
                    <a:p>
                      <a:pPr algn="l"/>
                      <a:r>
                        <a:rPr sz="1100" b="0">
                          <a:solidFill>
                            <a:srgbClr val="1F2937"/>
                          </a:solidFill>
                          <a:latin typeface="Calibri"/>
                        </a:rPr>
                        <a:t>matched descriptions</a:t>
                      </a:r>
                    </a:p>
                  </a:txBody>
                  <a:tcPr marL="73152" marR="73152" marT="27432" marB="27432" anchor="ctr">
                    <a:solidFill>
                      <a:srgbClr val="FFFFFF"/>
                    </a:solidFill>
                  </a:tcPr>
                </a:tc>
              </a:tr>
              <a:tr h="347472">
                <a:tc>
                  <a:txBody>
                    <a:bodyPr wrap="square"/>
                    <a:lstStyle/>
                    <a:p>
                      <a:pPr algn="l"/>
                      <a:r>
                        <a:rPr sz="1100" b="0">
                          <a:solidFill>
                            <a:srgbClr val="1F2937"/>
                          </a:solidFill>
                          <a:latin typeface="Calibri"/>
                        </a:rPr>
                        <a:t>—</a:t>
                      </a:r>
                    </a:p>
                  </a:txBody>
                  <a:tcPr marL="73152" marR="73152" marT="27432" marB="27432" anchor="ctr">
                    <a:solidFill>
                      <a:srgbClr val="FFFFFF"/>
                    </a:solidFill>
                  </a:tcPr>
                </a:tc>
                <a:tc>
                  <a:txBody>
                    <a:bodyPr wrap="square"/>
                    <a:lstStyle/>
                    <a:p>
                      <a:pPr algn="l"/>
                      <a:r>
                        <a:rPr sz="1100" b="0">
                          <a:solidFill>
                            <a:srgbClr val="1F2937"/>
                          </a:solidFill>
                          <a:latin typeface="Calibri"/>
                        </a:rPr>
                        <a:t>queries/11_duration_distribution</a:t>
                      </a:r>
                    </a:p>
                  </a:txBody>
                  <a:tcPr marL="73152" marR="73152" marT="27432" marB="27432" anchor="ctr">
                    <a:solidFill>
                      <a:srgbClr val="FFFFFF"/>
                    </a:solidFill>
                  </a:tcPr>
                </a:tc>
                <a:tc>
                  <a:txBody>
                    <a:bodyPr wrap="square"/>
                    <a:lstStyle/>
                    <a:p>
                      <a:pPr algn="l"/>
                      <a:r>
                        <a:rPr sz="1100" b="0">
                          <a:solidFill>
                            <a:srgbClr val="1F2937"/>
                          </a:solidFill>
                          <a:latin typeface="Calibri"/>
                        </a:rPr>
                        <a:t>stg_construction</a:t>
                      </a:r>
                    </a:p>
                  </a:txBody>
                  <a:tcPr marL="73152" marR="73152" marT="27432" marB="27432" anchor="ctr">
                    <a:solidFill>
                      <a:srgbClr val="FFFFFF"/>
                    </a:solidFill>
                  </a:tcPr>
                </a:tc>
                <a:tc>
                  <a:txBody>
                    <a:bodyPr wrap="square"/>
                    <a:lstStyle/>
                    <a:p>
                      <a:pPr algn="l"/>
                      <a:r>
                        <a:rPr sz="1100" b="0">
                          <a:solidFill>
                            <a:srgbClr val="1F2937"/>
                          </a:solidFill>
                          <a:latin typeface="Calibri"/>
                        </a:rPr>
                        <a:t>the 96 h and sub-hour templates (log only)</a:t>
                      </a:r>
                    </a:p>
                  </a:txBody>
                  <a:tcPr marL="73152" marR="73152" marT="27432" marB="27432"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
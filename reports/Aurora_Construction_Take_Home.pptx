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ADME.md" TargetMode="External"/><Relationship Id="rId4" Type="http://schemas.openxmlformats.org/officeDocument/2006/relationships/hyperlink" Target="https://github.com/agmcdonald24/aurura_case/blob/main/process.md"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scripts/load_raw.py" TargetMode="External"/><Relationship Id="rId4" Type="http://schemas.openxmlformats.org/officeDocument/2006/relationships/hyperlink" Target="https://github.com/agmcdonald24/aurura_case/blob/main/reports/queries/12_row_counts.sql" TargetMode="External"/><Relationship Id="rId5" Type="http://schemas.openxmlformats.org/officeDocument/2006/relationships/hyperlink" Target="https://github.com/agmcdonald24/aurura_case/blob/main/aurora_dbt/seeds/_seeds.yml" TargetMode="External"/><Relationship Id="rId6" Type="http://schemas.openxmlformats.org/officeDocument/2006/relationships/hyperlink" Target="https://github.com/agmcdonald24/aurura_case/blob/main/aurora_dbt/models/staging/stg_construction.sql" TargetMode="External"/><Relationship Id="rId7" Type="http://schemas.openxmlformats.org/officeDocument/2006/relationships/hyperlink" Target="https://github.com/agmcdonald24/aurura_case/blob/main/aurora_dbt/models/intermediate/int_city_month_hours.sq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10_staging_flags.sql" TargetMode="External"/><Relationship Id="rId4" Type="http://schemas.openxmlformats.org/officeDocument/2006/relationships/hyperlink" Target="https://github.com/agmcdonald24/aurura_case/blob/main/reports/queries/12_row_counts.sql" TargetMode="External"/><Relationship Id="rId5" Type="http://schemas.openxmlformats.org/officeDocument/2006/relationships/hyperlink" Target="https://github.com/agmcdonald24/aurura_case/blob/main/docs/data_dictionary.md"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aurora_dbt/models/staging/stg_construction.sql" TargetMode="External"/><Relationship Id="rId4" Type="http://schemas.openxmlformats.org/officeDocument/2006/relationships/hyperlink" Target="https://github.com/agmcdonald24/aurura_case/blob/main/reports/queries/13_seasonal_pattern_examples.sq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01_q1_top_cities.sql" TargetMode="External"/><Relationship Id="rId4" Type="http://schemas.openxmlformats.org/officeDocument/2006/relationships/hyperlink" Target="https://github.com/agmcdonald24/aurura_case/blob/main/aurora_dbt/models/intermediate/int_city_month_hours.sql" TargetMode="External"/><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03_q2_ten_cities_by_year.sql"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04_q2_national_monthly.sql" TargetMode="External"/><Relationship Id="rId4" Type="http://schemas.openxmlformats.org/officeDocument/2006/relationships/hyperlink" Target="https://github.com/agmcdonald24/aurura_case/blob/main/reports/queries/05_q2_decomposition_by_year.sql" TargetMode="External"/><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07_q3_city_comparison.sql" TargetMode="External"/><Relationship Id="rId4" Type="http://schemas.openxmlformats.org/officeDocument/2006/relationships/hyperlink" Target="https://github.com/agmcdonald24/aurura_case/blob/main/aurora_dbt/models/marts/fct_city_comparison.sql" TargetMode="Externa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08_q4_route_exposure.sql" TargetMode="External"/><Relationship Id="rId4" Type="http://schemas.openxmlformats.org/officeDocument/2006/relationships/hyperlink" Target="https://github.com/agmcdonald24/aurura_case/blob/main/aurora_dbt/models/intermediate/int_route_events.sql" TargetMode="External"/><Relationship Id="rId5" Type="http://schemas.openxmlformats.org/officeDocument/2006/relationships/hyperlink" Target="https://github.com/agmcdonald24/aurura_case/blob/main/reports/check_route_bridges.py" TargetMode="External"/><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queries/09_q4_berkeley_2021_descriptions.sql" TargetMode="External"/><Relationship Id="rId4" Type="http://schemas.openxmlformats.org/officeDocument/2006/relationships/hyperlink" Target="https://github.com/agmcdonald24/aurura_case/blob/main/aurora_dbt/models/intermediate/int_route_events.sq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process.m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agmcdonald24/aurura_case/blob/main/reports/README.md" TargetMode="External"/><Relationship Id="rId4" Type="http://schemas.openxmlformats.org/officeDocument/2006/relationships/hyperlink" Target="https://github.com/agmcdonald24/aurura_case/blob/main/reports/build_deck.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urora_truck.jpg"/>
          <p:cNvPicPr>
            <a:picLocks noChangeAspect="1"/>
          </p:cNvPicPr>
          <p:nvPr/>
        </p:nvPicPr>
        <p:blipFill>
          <a:blip r:embed="rId2"/>
          <a:srcRect l="19876" r="19876"/>
          <a:stretch>
            <a:fillRect/>
          </a:stretch>
        </p:blipFill>
        <p:spPr>
          <a:xfrm>
            <a:off x="4846320" y="0"/>
            <a:ext cx="7345375" cy="6858000"/>
          </a:xfrm>
          <a:prstGeom prst="rect">
            <a:avLst/>
          </a:prstGeom>
        </p:spPr>
      </p:pic>
      <p:pic>
        <p:nvPicPr>
          <p:cNvPr id="3" name="Picture 2" descr="aurora_wordmark.png"/>
          <p:cNvPicPr>
            <a:picLocks noChangeAspect="1"/>
          </p:cNvPicPr>
          <p:nvPr/>
        </p:nvPicPr>
        <p:blipFill>
          <a:blip r:embed="rId3"/>
          <a:stretch>
            <a:fillRect/>
          </a:stretch>
        </p:blipFill>
        <p:spPr>
          <a:xfrm>
            <a:off x="548640" y="685800"/>
            <a:ext cx="2103120" cy="578398"/>
          </a:xfrm>
          <a:prstGeom prst="rect">
            <a:avLst/>
          </a:prstGeom>
        </p:spPr>
      </p:pic>
      <p:sp>
        <p:nvSpPr>
          <p:cNvPr id="4" name="TextBox 3"/>
          <p:cNvSpPr txBox="1"/>
          <p:nvPr/>
        </p:nvSpPr>
        <p:spPr>
          <a:xfrm>
            <a:off x="548640" y="2194560"/>
            <a:ext cx="4023360" cy="914400"/>
          </a:xfrm>
          <a:prstGeom prst="rect">
            <a:avLst/>
          </a:prstGeom>
          <a:noFill/>
        </p:spPr>
        <p:txBody>
          <a:bodyPr wrap="square" lIns="0" rIns="0" tIns="0" bIns="0" anchor="t">
            <a:spAutoFit/>
          </a:bodyPr>
          <a:lstStyle/>
          <a:p>
            <a:pPr algn="l">
              <a:lnSpc>
                <a:spcPct val="100000"/>
              </a:lnSpc>
              <a:spcAft>
                <a:spcPts val="400"/>
              </a:spcAft>
            </a:pPr>
            <a:r>
              <a:rPr sz="3600" b="1" i="0">
                <a:solidFill>
                  <a:srgbClr val="1F2937"/>
                </a:solidFill>
                <a:latin typeface="Calibri"/>
              </a:rPr>
              <a:t>Construction, counted</a:t>
            </a:r>
          </a:p>
        </p:txBody>
      </p:sp>
      <p:sp>
        <p:nvSpPr>
          <p:cNvPr id="5" name="TextBox 4"/>
          <p:cNvSpPr txBox="1"/>
          <p:nvPr/>
        </p:nvSpPr>
        <p:spPr>
          <a:xfrm>
            <a:off x="548640" y="3154680"/>
            <a:ext cx="4023360" cy="548640"/>
          </a:xfrm>
          <a:prstGeom prst="rect">
            <a:avLst/>
          </a:prstGeom>
          <a:noFill/>
        </p:spPr>
        <p:txBody>
          <a:bodyPr wrap="square" lIns="0" rIns="0" tIns="0" bIns="0" anchor="t">
            <a:spAutoFit/>
          </a:bodyPr>
          <a:lstStyle/>
          <a:p>
            <a:pPr algn="l">
              <a:lnSpc>
                <a:spcPct val="110000"/>
              </a:lnSpc>
              <a:spcAft>
                <a:spcPts val="400"/>
              </a:spcAft>
            </a:pPr>
            <a:r>
              <a:rPr sz="1700" b="1" i="0">
                <a:solidFill>
                  <a:srgbClr val="1368E5"/>
                </a:solidFill>
                <a:latin typeface="Calibri"/>
              </a:rPr>
              <a:t>Data Analyst take-home</a:t>
            </a:r>
          </a:p>
        </p:txBody>
      </p:sp>
      <p:sp>
        <p:nvSpPr>
          <p:cNvPr id="6" name="TextBox 5"/>
          <p:cNvSpPr txBox="1"/>
          <p:nvPr/>
        </p:nvSpPr>
        <p:spPr>
          <a:xfrm>
            <a:off x="548640" y="3840480"/>
            <a:ext cx="4023360" cy="1645920"/>
          </a:xfrm>
          <a:prstGeom prst="rect">
            <a:avLst/>
          </a:prstGeom>
          <a:noFill/>
        </p:spPr>
        <p:txBody>
          <a:bodyPr wrap="square" lIns="0" rIns="0" tIns="0" bIns="0" anchor="t">
            <a:spAutoFit/>
          </a:bodyPr>
          <a:lstStyle/>
          <a:p>
            <a:pPr algn="l">
              <a:lnSpc>
                <a:spcPct val="120000"/>
              </a:lnSpc>
              <a:spcAft>
                <a:spcPts val="400"/>
              </a:spcAft>
            </a:pPr>
            <a:r>
              <a:rPr sz="1400" b="0" i="0">
                <a:solidFill>
                  <a:srgbClr val="1F2937"/>
                </a:solidFill>
                <a:latin typeface="Calibri"/>
              </a:rPr>
              <a:t>Six questions about road construction, answered from a public dataset of six million events, with the work shown in the order it happened.</a:t>
            </a:r>
          </a:p>
        </p:txBody>
      </p:sp>
      <p:sp>
        <p:nvSpPr>
          <p:cNvPr id="7" name="TextBox 6"/>
          <p:cNvSpPr txBox="1"/>
          <p:nvPr/>
        </p:nvSpPr>
        <p:spPr>
          <a:xfrm>
            <a:off x="548640" y="5989320"/>
            <a:ext cx="4023360" cy="548640"/>
          </a:xfrm>
          <a:prstGeom prst="rect">
            <a:avLst/>
          </a:prstGeom>
          <a:noFill/>
        </p:spPr>
        <p:txBody>
          <a:bodyPr wrap="square" lIns="0" rIns="0" tIns="0" bIns="0" anchor="t">
            <a:spAutoFit/>
          </a:bodyPr>
          <a:lstStyle/>
          <a:p>
            <a:pPr algn="l">
              <a:lnSpc>
                <a:spcPct val="110000"/>
              </a:lnSpc>
              <a:spcAft>
                <a:spcPts val="400"/>
              </a:spcAft>
            </a:pPr>
            <a:r>
              <a:rPr sz="1100" b="0" i="0">
                <a:solidFill>
                  <a:srgbClr val="6B7B8C"/>
                </a:solidFill>
                <a:latin typeface="Calibri"/>
              </a:rPr>
              <a:t>Andrew McDonald   ·   October 2026   ·   US Road Construction and Closures, 2016–2021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The questions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repo</a:t>
            </a:r>
            <a:r>
              <a:rPr sz="900" b="0" i="0">
                <a:solidFill>
                  <a:srgbClr val="6B7B8C"/>
                </a:solidFill>
                <a:latin typeface="Calibri"/>
              </a:rPr>
              <a:t>, </a:t>
            </a:r>
            <a:r>
              <a:rPr sz="900" b="0" i="0" u="sng">
                <a:solidFill>
                  <a:srgbClr val="1368E5"/>
                </a:solidFill>
                <a:latin typeface="Calibri"/>
                <a:hlinkClick r:id="rId4"/>
              </a:rPr>
              <a:t>process log</a:t>
            </a:r>
            <a:r>
              <a:rPr sz="900" b="0" i="0">
                <a:solidFill>
                  <a:srgbClr val="6B7B8C"/>
                </a:solidFill>
                <a:latin typeface="Calibri"/>
              </a:rPr>
              <a:t>   ·   data pulled 2026-10-26</a:t>
            </a:r>
            <a:r>
              <a:rPr sz="900" b="0" i="0">
                <a:solidFill>
                  <a:srgbClr val="6B7B8C"/>
                </a:solidFill>
                <a:latin typeface="Calibri"/>
              </a:rPr>
              <a:t>   ·   2</a:t>
            </a:r>
          </a:p>
        </p:txBody>
      </p:sp>
      <p:sp>
        <p:nvSpPr>
          <p:cNvPr id="6" name="TextBox 5"/>
          <p:cNvSpPr txBox="1"/>
          <p:nvPr/>
        </p:nvSpPr>
        <p:spPr>
          <a:xfrm>
            <a:off x="548640" y="1325880"/>
            <a:ext cx="6949440" cy="4389120"/>
          </a:xfrm>
          <a:prstGeom prst="rect">
            <a:avLst/>
          </a:prstGeom>
          <a:noFill/>
        </p:spPr>
        <p:txBody>
          <a:bodyPr wrap="square" lIns="0" rIns="0" tIns="0" bIns="0" anchor="t">
            <a:spAutoFit/>
          </a:bodyPr>
          <a:lstStyle/>
          <a:p>
            <a:pPr algn="l">
              <a:lnSpc>
                <a:spcPct val="118000"/>
              </a:lnSpc>
              <a:spcAft>
                <a:spcPts val="1000"/>
              </a:spcAft>
            </a:pPr>
            <a:r>
              <a:rPr sz="1400" b="0" i="0">
                <a:solidFill>
                  <a:srgbClr val="1F2937"/>
                </a:solidFill>
                <a:latin typeface="Calibri"/>
              </a:rPr>
              <a:t>1.  Over the past five years, which city has had the most hours of construction?</a:t>
            </a:r>
          </a:p>
          <a:p>
            <a:pPr algn="l">
              <a:lnSpc>
                <a:spcPct val="118000"/>
              </a:lnSpc>
              <a:spcAft>
                <a:spcPts val="1000"/>
              </a:spcAft>
            </a:pPr>
            <a:r>
              <a:rPr sz="1400" b="0" i="0">
                <a:solidFill>
                  <a:srgbClr val="1F2937"/>
                </a:solidFill>
                <a:latin typeface="Calibri"/>
              </a:rPr>
              <a:t>2.  How has this changed over time?</a:t>
            </a:r>
          </a:p>
          <a:p>
            <a:pPr algn="l">
              <a:lnSpc>
                <a:spcPct val="118000"/>
              </a:lnSpc>
              <a:spcAft>
                <a:spcPts val="1000"/>
              </a:spcAft>
            </a:pPr>
            <a:r>
              <a:rPr sz="1400" b="0" i="0">
                <a:solidFill>
                  <a:srgbClr val="1F2937"/>
                </a:solidFill>
                <a:latin typeface="Calibri"/>
              </a:rPr>
              <a:t>3.  Accounting for varying city sizes, how do the ten largest US cities compare?</a:t>
            </a:r>
          </a:p>
          <a:p>
            <a:pPr algn="l">
              <a:lnSpc>
                <a:spcPct val="118000"/>
              </a:lnSpc>
              <a:spcAft>
                <a:spcPts val="1000"/>
              </a:spcAft>
            </a:pPr>
            <a:r>
              <a:rPr sz="1400" b="0" i="0">
                <a:solidFill>
                  <a:srgbClr val="1F2937"/>
                </a:solidFill>
                <a:latin typeface="Calibri"/>
              </a:rPr>
              <a:t>4.  Of five potential self-driving routes, which poses the greatest risk of autonomy challenges because of construction?</a:t>
            </a:r>
          </a:p>
          <a:p>
            <a:pPr algn="l">
              <a:lnSpc>
                <a:spcPct val="118000"/>
              </a:lnSpc>
              <a:spcAft>
                <a:spcPts val="1000"/>
              </a:spcAft>
            </a:pPr>
            <a:r>
              <a:rPr sz="1400" b="0" i="0">
                <a:solidFill>
                  <a:srgbClr val="1F2937"/>
                </a:solidFill>
                <a:latin typeface="Calibri"/>
              </a:rPr>
              <a:t>5.  How would I present that answer differently to engineers and to executives?</a:t>
            </a:r>
          </a:p>
          <a:p>
            <a:pPr algn="l">
              <a:lnSpc>
                <a:spcPct val="118000"/>
              </a:lnSpc>
              <a:spcAft>
                <a:spcPts val="1000"/>
              </a:spcAft>
            </a:pPr>
            <a:r>
              <a:rPr sz="1400" b="0" i="0">
                <a:solidFill>
                  <a:srgbClr val="1F2937"/>
                </a:solidFill>
                <a:latin typeface="Calibri"/>
              </a:rPr>
              <a:t>6.  What AI-based tools did I use, how, and why?</a:t>
            </a:r>
          </a:p>
        </p:txBody>
      </p:sp>
      <p:sp>
        <p:nvSpPr>
          <p:cNvPr id="7" name="TextBox 6"/>
          <p:cNvSpPr txBox="1"/>
          <p:nvPr/>
        </p:nvSpPr>
        <p:spPr>
          <a:xfrm>
            <a:off x="7955279" y="1325880"/>
            <a:ext cx="3657600" cy="4389120"/>
          </a:xfrm>
          <a:prstGeom prst="rect">
            <a:avLst/>
          </a:prstGeom>
          <a:noFill/>
        </p:spPr>
        <p:txBody>
          <a:bodyPr wrap="square" lIns="0" rIns="0" tIns="0" bIns="0" anchor="t">
            <a:spAutoFit/>
          </a:bodyPr>
          <a:lstStyle/>
          <a:p>
            <a:pPr algn="l">
              <a:lnSpc>
                <a:spcPct val="118000"/>
              </a:lnSpc>
              <a:spcAft>
                <a:spcPts val="1000"/>
              </a:spcAft>
            </a:pPr>
            <a:r>
              <a:rPr sz="1300" b="0" i="0">
                <a:solidFill>
                  <a:srgbClr val="1F2937"/>
                </a:solidFill>
                <a:latin typeface="Calibri"/>
              </a:rPr>
              <a:t>This deck goes through what I did in the order I did it: setting up, looking at the data, fixing what I found, then the questions.</a:t>
            </a:r>
          </a:p>
          <a:p>
            <a:pPr algn="l">
              <a:lnSpc>
                <a:spcPct val="118000"/>
              </a:lnSpc>
              <a:spcAft>
                <a:spcPts val="1000"/>
              </a:spcAft>
            </a:pPr>
            <a:r>
              <a:rPr sz="1300" b="0" i="0">
                <a:solidFill>
                  <a:srgbClr val="1F2937"/>
                </a:solidFill>
                <a:latin typeface="Calibri"/>
              </a:rPr>
              <a:t>All of the code is in the repo, and each slide links to the model or query behind it. The log I kept along the way is </a:t>
            </a:r>
            <a:r>
              <a:rPr sz="1300" b="0" i="0" u="sng">
                <a:solidFill>
                  <a:srgbClr val="1368E5"/>
                </a:solidFill>
                <a:latin typeface="Calibri"/>
                <a:hlinkClick r:id="rId4"/>
              </a:rPr>
              <a:t>process.md</a:t>
            </a:r>
            <a:r>
              <a:rPr sz="1300" b="0" i="0">
                <a:solidFill>
                  <a:srgbClr val="1F2937"/>
                </a:solidFill>
                <a:latin typeface="Calibr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The tools I used</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loader</a:t>
            </a:r>
            <a:r>
              <a:rPr sz="900" b="0" i="0">
                <a:solidFill>
                  <a:srgbClr val="6B7B8C"/>
                </a:solidFill>
                <a:latin typeface="Calibri"/>
              </a:rPr>
              <a:t>, </a:t>
            </a:r>
            <a:r>
              <a:rPr sz="900" b="0" i="0" u="sng">
                <a:solidFill>
                  <a:srgbClr val="1368E5"/>
                </a:solidFill>
                <a:latin typeface="Calibri"/>
                <a:hlinkClick r:id="rId4"/>
              </a:rPr>
              <a:t>query 12</a:t>
            </a:r>
            <a:r>
              <a:rPr sz="900" b="0" i="0">
                <a:solidFill>
                  <a:srgbClr val="6B7B8C"/>
                </a:solidFill>
                <a:latin typeface="Calibri"/>
              </a:rPr>
              <a:t>   ·   data pulled 2026-10-26</a:t>
            </a:r>
            <a:r>
              <a:rPr sz="900" b="0" i="0">
                <a:solidFill>
                  <a:srgbClr val="6B7B8C"/>
                </a:solidFill>
                <a:latin typeface="Calibri"/>
              </a:rPr>
              <a:t>   ·   3</a:t>
            </a:r>
          </a:p>
        </p:txBody>
      </p:sp>
      <p:sp>
        <p:nvSpPr>
          <p:cNvPr id="6" name="TextBox 5"/>
          <p:cNvSpPr txBox="1"/>
          <p:nvPr/>
        </p:nvSpPr>
        <p:spPr>
          <a:xfrm>
            <a:off x="548640" y="1325880"/>
            <a:ext cx="6766560" cy="3291840"/>
          </a:xfrm>
          <a:prstGeom prst="rect">
            <a:avLst/>
          </a:prstGeom>
          <a:noFill/>
        </p:spPr>
        <p:txBody>
          <a:bodyPr wrap="square" lIns="0" rIns="0" tIns="0" bIns="0" anchor="t">
            <a:spAutoFit/>
          </a:bodyPr>
          <a:lstStyle/>
          <a:p>
            <a:pPr algn="l">
              <a:lnSpc>
                <a:spcPct val="118000"/>
              </a:lnSpc>
              <a:spcAft>
                <a:spcPts val="1000"/>
              </a:spcAft>
            </a:pPr>
            <a:r>
              <a:rPr sz="1350" b="0" i="0">
                <a:solidFill>
                  <a:srgbClr val="1F2937"/>
                </a:solidFill>
                <a:latin typeface="Calibri"/>
              </a:rPr>
              <a:t>Opening up the dataset and seeing over six million rows to pull in, I decided to spin up a Postgres instance on my local machine. I created a Python virtual environment connected to a GitHub repository and installed dbt as a way to transform and work with the data. From there I loaded the file into Postgres so I could play with it and manipulate it in a way that is easy and familiar to me.</a:t>
            </a:r>
          </a:p>
          <a:p>
            <a:pPr algn="l">
              <a:lnSpc>
                <a:spcPct val="118000"/>
              </a:lnSpc>
              <a:spcAft>
                <a:spcPts val="1000"/>
              </a:spcAft>
            </a:pPr>
            <a:r>
              <a:rPr sz="1350" b="0" i="0">
                <a:solidFill>
                  <a:srgbClr val="1F2937"/>
                </a:solidFill>
                <a:latin typeface="Calibri"/>
              </a:rPr>
              <a:t>The load itself was a </a:t>
            </a:r>
            <a:r>
              <a:rPr sz="1350" b="0" i="0" u="sng">
                <a:solidFill>
                  <a:srgbClr val="1368E5"/>
                </a:solidFill>
                <a:latin typeface="Calibri"/>
                <a:hlinkClick r:id="rId3"/>
              </a:rPr>
              <a:t>short Python script</a:t>
            </a:r>
            <a:r>
              <a:rPr sz="1350" b="0" i="0">
                <a:solidFill>
                  <a:srgbClr val="1F2937"/>
                </a:solidFill>
                <a:latin typeface="Calibri"/>
              </a:rPr>
              <a:t> that creates the table with proper column types and streams the file in. If a value had not fit its type the load would have failed, and it didn't, so that was my first check. The five routes are a tiny file, so they went into dbt as a </a:t>
            </a:r>
            <a:r>
              <a:rPr sz="1350" b="0" i="0" u="sng">
                <a:solidFill>
                  <a:srgbClr val="1368E5"/>
                </a:solidFill>
                <a:latin typeface="Calibri"/>
                <a:hlinkClick r:id="rId5"/>
              </a:rPr>
              <a:t>seed</a:t>
            </a:r>
            <a:r>
              <a:rPr sz="1350" b="0" i="0">
                <a:solidFill>
                  <a:srgbClr val="1F2937"/>
                </a:solidFill>
                <a:latin typeface="Calibri"/>
              </a:rPr>
              <a:t>.</a:t>
            </a:r>
          </a:p>
          <a:p>
            <a:pPr algn="l">
              <a:lnSpc>
                <a:spcPct val="118000"/>
              </a:lnSpc>
              <a:spcAft>
                <a:spcPts val="1000"/>
              </a:spcAft>
            </a:pPr>
            <a:r>
              <a:rPr sz="1350" b="0" i="0">
                <a:solidFill>
                  <a:srgbClr val="1F2937"/>
                </a:solidFill>
                <a:latin typeface="Calibri"/>
              </a:rPr>
              <a:t>Everything downstream is a dbt model: a </a:t>
            </a:r>
            <a:r>
              <a:rPr sz="1350" b="0" i="0" u="sng">
                <a:solidFill>
                  <a:srgbClr val="1368E5"/>
                </a:solidFill>
                <a:latin typeface="Calibri"/>
                <a:hlinkClick r:id="rId6"/>
              </a:rPr>
              <a:t>staging layer</a:t>
            </a:r>
            <a:r>
              <a:rPr sz="1350" b="0" i="0">
                <a:solidFill>
                  <a:srgbClr val="1F2937"/>
                </a:solidFill>
                <a:latin typeface="Calibri"/>
              </a:rPr>
              <a:t> that cleans the data, an </a:t>
            </a:r>
            <a:r>
              <a:rPr sz="1350" b="0" i="0" u="sng">
                <a:solidFill>
                  <a:srgbClr val="1368E5"/>
                </a:solidFill>
                <a:latin typeface="Calibri"/>
                <a:hlinkClick r:id="rId7"/>
              </a:rPr>
              <a:t>intermediate layer</a:t>
            </a:r>
            <a:r>
              <a:rPr sz="1350" b="0" i="0">
                <a:solidFill>
                  <a:srgbClr val="1F2937"/>
                </a:solidFill>
                <a:latin typeface="Calibri"/>
              </a:rPr>
              <a:t> that spreads each event's hours across the months it was active, and the final tables that answer the questions.</a:t>
            </a:r>
          </a:p>
        </p:txBody>
      </p:sp>
      <p:sp>
        <p:nvSpPr>
          <p:cNvPr id="7" name="TextBox 6"/>
          <p:cNvSpPr txBox="1"/>
          <p:nvPr/>
        </p:nvSpPr>
        <p:spPr>
          <a:xfrm>
            <a:off x="7955279" y="141732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6,170,627</a:t>
            </a:r>
          </a:p>
        </p:txBody>
      </p:sp>
      <p:sp>
        <p:nvSpPr>
          <p:cNvPr id="8" name="TextBox 7"/>
          <p:cNvSpPr txBox="1"/>
          <p:nvPr/>
        </p:nvSpPr>
        <p:spPr>
          <a:xfrm>
            <a:off x="7955279" y="198424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rows loaded, every id unique</a:t>
            </a:r>
          </a:p>
        </p:txBody>
      </p:sp>
      <p:sp>
        <p:nvSpPr>
          <p:cNvPr id="9" name="TextBox 8"/>
          <p:cNvSpPr txBox="1"/>
          <p:nvPr/>
        </p:nvSpPr>
        <p:spPr>
          <a:xfrm>
            <a:off x="7955279" y="265176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47 → 13</a:t>
            </a:r>
          </a:p>
        </p:txBody>
      </p:sp>
      <p:sp>
        <p:nvSpPr>
          <p:cNvPr id="10" name="TextBox 9"/>
          <p:cNvSpPr txBox="1"/>
          <p:nvPr/>
        </p:nvSpPr>
        <p:spPr>
          <a:xfrm>
            <a:off x="7955279" y="321868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columns in the file → columns the questions need</a:t>
            </a:r>
          </a:p>
        </p:txBody>
      </p:sp>
      <p:sp>
        <p:nvSpPr>
          <p:cNvPr id="11" name="TextBox 10"/>
          <p:cNvSpPr txBox="1"/>
          <p:nvPr/>
        </p:nvSpPr>
        <p:spPr>
          <a:xfrm>
            <a:off x="7955279" y="388620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2.7 GB</a:t>
            </a:r>
          </a:p>
        </p:txBody>
      </p:sp>
      <p:sp>
        <p:nvSpPr>
          <p:cNvPr id="12" name="TextBox 11"/>
          <p:cNvSpPr txBox="1"/>
          <p:nvPr/>
        </p:nvSpPr>
        <p:spPr>
          <a:xfrm>
            <a:off x="7955279" y="445312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loaded in one pass; indexes added after</a:t>
            </a:r>
          </a:p>
        </p:txBody>
      </p:sp>
      <p:sp>
        <p:nvSpPr>
          <p:cNvPr id="13" name="TextBox 12"/>
          <p:cNvSpPr txBox="1"/>
          <p:nvPr/>
        </p:nvSpPr>
        <p:spPr>
          <a:xfrm>
            <a:off x="7955279" y="5120640"/>
            <a:ext cx="3657600" cy="594360"/>
          </a:xfrm>
          <a:prstGeom prst="rect">
            <a:avLst/>
          </a:prstGeom>
          <a:noFill/>
        </p:spPr>
        <p:txBody>
          <a:bodyPr wrap="square" lIns="0" rIns="0" tIns="0" bIns="0" anchor="t">
            <a:spAutoFit/>
          </a:bodyPr>
          <a:lstStyle/>
          <a:p>
            <a:pPr algn="l">
              <a:lnSpc>
                <a:spcPct val="110000"/>
              </a:lnSpc>
              <a:spcAft>
                <a:spcPts val="400"/>
              </a:spcAft>
            </a:pPr>
            <a:r>
              <a:rPr sz="3000" b="1" i="0">
                <a:solidFill>
                  <a:srgbClr val="1368E5"/>
                </a:solidFill>
                <a:latin typeface="Calibri"/>
              </a:rPr>
              <a:t>5 rows</a:t>
            </a:r>
          </a:p>
        </p:txBody>
      </p:sp>
      <p:sp>
        <p:nvSpPr>
          <p:cNvPr id="14" name="TextBox 13"/>
          <p:cNvSpPr txBox="1"/>
          <p:nvPr/>
        </p:nvSpPr>
        <p:spPr>
          <a:xfrm>
            <a:off x="7955279" y="5687568"/>
            <a:ext cx="36576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6B7B8C"/>
                </a:solidFill>
                <a:latin typeface="Calibri"/>
              </a:rPr>
              <a:t>the routes, as a dbt seed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Looking at the data before answering anything</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10</a:t>
            </a:r>
            <a:r>
              <a:rPr sz="900" b="0" i="0">
                <a:solidFill>
                  <a:srgbClr val="6B7B8C"/>
                </a:solidFill>
                <a:latin typeface="Calibri"/>
              </a:rPr>
              <a:t>, </a:t>
            </a:r>
            <a:r>
              <a:rPr sz="900" b="0" i="0" u="sng">
                <a:solidFill>
                  <a:srgbClr val="1368E5"/>
                </a:solidFill>
                <a:latin typeface="Calibri"/>
                <a:hlinkClick r:id="rId4"/>
              </a:rPr>
              <a:t>query 12</a:t>
            </a:r>
            <a:r>
              <a:rPr sz="900" b="0" i="0">
                <a:solidFill>
                  <a:srgbClr val="6B7B8C"/>
                </a:solidFill>
                <a:latin typeface="Calibri"/>
              </a:rPr>
              <a:t>, </a:t>
            </a:r>
            <a:r>
              <a:rPr sz="900" b="0" i="0" u="sng">
                <a:solidFill>
                  <a:srgbClr val="1368E5"/>
                </a:solidFill>
                <a:latin typeface="Calibri"/>
                <a:hlinkClick r:id="rId5"/>
              </a:rPr>
              <a:t>data dictionary</a:t>
            </a:r>
            <a:r>
              <a:rPr sz="900" b="0" i="0">
                <a:solidFill>
                  <a:srgbClr val="6B7B8C"/>
                </a:solidFill>
                <a:latin typeface="Calibri"/>
              </a:rPr>
              <a:t>   ·   data pulled 2026-10-26</a:t>
            </a:r>
            <a:r>
              <a:rPr sz="900" b="0" i="0">
                <a:solidFill>
                  <a:srgbClr val="6B7B8C"/>
                </a:solidFill>
                <a:latin typeface="Calibri"/>
              </a:rPr>
              <a:t>   ·   4</a:t>
            </a:r>
          </a:p>
        </p:txBody>
      </p:sp>
      <p:sp>
        <p:nvSpPr>
          <p:cNvPr id="6" name="TextBox 5"/>
          <p:cNvSpPr txBox="1"/>
          <p:nvPr/>
        </p:nvSpPr>
        <p:spPr>
          <a:xfrm>
            <a:off x="548640" y="1325880"/>
            <a:ext cx="6766560" cy="4754880"/>
          </a:xfrm>
          <a:prstGeom prst="rect">
            <a:avLst/>
          </a:prstGeom>
          <a:noFill/>
        </p:spPr>
        <p:txBody>
          <a:bodyPr wrap="square" lIns="0" rIns="0" tIns="0" bIns="0" anchor="t">
            <a:spAutoFit/>
          </a:bodyPr>
          <a:lstStyle/>
          <a:p>
            <a:pPr algn="l">
              <a:lnSpc>
                <a:spcPct val="118000"/>
              </a:lnSpc>
              <a:spcAft>
                <a:spcPts val="1000"/>
              </a:spcAft>
            </a:pPr>
            <a:r>
              <a:rPr sz="1350" b="0" i="0">
                <a:solidFill>
                  <a:srgbClr val="1F2937"/>
                </a:solidFill>
                <a:latin typeface="Calibri"/>
              </a:rPr>
              <a:t>I started with an open-ended sense of curiosity about what was in the data, using the questions as a framework to look at it through, but mostly just putting my eyes on it: going through the rows, running quick checks on every field, looking for nulls, common values and duplicates. That led to several significant findings right off the bat.</a:t>
            </a:r>
          </a:p>
          <a:p>
            <a:pPr algn="l">
              <a:lnSpc>
                <a:spcPct val="118000"/>
              </a:lnSpc>
              <a:spcAft>
                <a:spcPts val="1000"/>
              </a:spcAft>
            </a:pPr>
            <a:r>
              <a:rPr sz="1350" b="0" i="0">
                <a:solidFill>
                  <a:srgbClr val="1F2937"/>
                </a:solidFill>
                <a:latin typeface="Calibri"/>
              </a:rPr>
              <a:t>There were a ton of duplicate rows. They all looked like the same construction event at the same time, pulled in again with a different value for something like the weather reading on a different day. New York City was split by borough instead of combined into one city. There were numerous batch closures, where thousands of events share the exact same timestamp; jobs still open when the data was pulled; and seasonal and winter closures that don't really qualify as construction.</a:t>
            </a:r>
          </a:p>
          <a:p>
            <a:pPr algn="l">
              <a:lnSpc>
                <a:spcPct val="118000"/>
              </a:lnSpc>
              <a:spcAft>
                <a:spcPts val="1000"/>
              </a:spcAft>
            </a:pPr>
            <a:r>
              <a:rPr sz="1350" b="0" i="0">
                <a:solidFill>
                  <a:srgbClr val="1F2937"/>
                </a:solidFill>
                <a:latin typeface="Calibri"/>
              </a:rPr>
              <a:t>One more thing worth knowing: “hours” in this data is the time an event was reported as affecting traffic, not hours of actual work. Everything that follows is hours of reported impact.</a:t>
            </a:r>
          </a:p>
        </p:txBody>
      </p:sp>
      <p:sp>
        <p:nvSpPr>
          <p:cNvPr id="7" name="TextBox 6"/>
          <p:cNvSpPr txBox="1"/>
          <p:nvPr/>
        </p:nvSpPr>
        <p:spPr>
          <a:xfrm>
            <a:off x="7955279" y="1325880"/>
            <a:ext cx="365760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What I found, by the numbers</a:t>
            </a:r>
          </a:p>
        </p:txBody>
      </p:sp>
      <p:graphicFrame>
        <p:nvGraphicFramePr>
          <p:cNvPr id="8" name="Table 7"/>
          <p:cNvGraphicFramePr>
            <a:graphicFrameLocks noGrp="1"/>
          </p:cNvGraphicFramePr>
          <p:nvPr/>
        </p:nvGraphicFramePr>
        <p:xfrm>
          <a:off x="7955279" y="1783080"/>
          <a:ext cx="3749040" cy="2304288"/>
        </p:xfrm>
        <a:graphic>
          <a:graphicData uri="http://schemas.openxmlformats.org/drawingml/2006/table">
            <a:tbl>
              <a:tblPr>
                <a:tableStyleId>{2D5ABB26-0587-4C30-8999-92F81FD0307C}</a:tableStyleId>
              </a:tblPr>
              <a:tblGrid>
                <a:gridCol w="1737360"/>
                <a:gridCol w="2011680"/>
              </a:tblGrid>
              <a:tr h="384048">
                <a:tc>
                  <a:txBody>
                    <a:bodyPr wrap="square"/>
                    <a:lstStyle/>
                    <a:p>
                      <a:pPr algn="l"/>
                      <a:r>
                        <a:rPr sz="1150" b="1">
                          <a:solidFill>
                            <a:srgbClr val="1F2937"/>
                          </a:solidFill>
                          <a:latin typeface="Calibri"/>
                        </a:rPr>
                        <a:t>Duplicate rows</a:t>
                      </a:r>
                    </a:p>
                  </a:txBody>
                  <a:tcPr marL="73152" marR="73152" marT="27432" marB="27432" anchor="ctr">
                    <a:solidFill>
                      <a:srgbClr val="FFFFFF"/>
                    </a:solidFill>
                  </a:tcPr>
                </a:tc>
                <a:tc>
                  <a:txBody>
                    <a:bodyPr wrap="square"/>
                    <a:lstStyle/>
                    <a:p>
                      <a:pPr algn="r"/>
                      <a:r>
                        <a:rPr sz="1150" b="0">
                          <a:solidFill>
                            <a:srgbClr val="1F2937"/>
                          </a:solidFill>
                          <a:latin typeface="Calibri"/>
                        </a:rPr>
                        <a:t>283,041  (4.6%)</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Seasonal closures</a:t>
                      </a:r>
                    </a:p>
                  </a:txBody>
                  <a:tcPr marL="73152" marR="73152" marT="27432" marB="27432" anchor="ctr">
                    <a:solidFill>
                      <a:srgbClr val="FFFFFF"/>
                    </a:solidFill>
                  </a:tcPr>
                </a:tc>
                <a:tc>
                  <a:txBody>
                    <a:bodyPr wrap="square"/>
                    <a:lstStyle/>
                    <a:p>
                      <a:pPr algn="r"/>
                      <a:r>
                        <a:rPr sz="1150" b="0">
                          <a:solidFill>
                            <a:srgbClr val="1F2937"/>
                          </a:solidFill>
                          <a:latin typeface="Calibri"/>
                        </a:rPr>
                        <a:t>1,452</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Batch start stamps</a:t>
                      </a:r>
                    </a:p>
                  </a:txBody>
                  <a:tcPr marL="73152" marR="73152" marT="27432" marB="27432" anchor="ctr">
                    <a:solidFill>
                      <a:srgbClr val="FFFFFF"/>
                    </a:solidFill>
                  </a:tcPr>
                </a:tc>
                <a:tc>
                  <a:txBody>
                    <a:bodyPr wrap="square"/>
                    <a:lstStyle/>
                    <a:p>
                      <a:pPr algn="r"/>
                      <a:r>
                        <a:rPr sz="1150" b="0">
                          <a:solidFill>
                            <a:srgbClr val="1F2937"/>
                          </a:solidFill>
                          <a:latin typeface="Calibri"/>
                        </a:rPr>
                        <a:t>433,466  (7.4%)</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Batch end stamps</a:t>
                      </a:r>
                    </a:p>
                  </a:txBody>
                  <a:tcPr marL="73152" marR="73152" marT="27432" marB="27432" anchor="ctr">
                    <a:solidFill>
                      <a:srgbClr val="FFFFFF"/>
                    </a:solidFill>
                  </a:tcPr>
                </a:tc>
                <a:tc>
                  <a:txBody>
                    <a:bodyPr wrap="square"/>
                    <a:lstStyle/>
                    <a:p>
                      <a:pPr algn="r"/>
                      <a:r>
                        <a:rPr sz="1150" b="0">
                          <a:solidFill>
                            <a:srgbClr val="1F2937"/>
                          </a:solidFill>
                          <a:latin typeface="Calibri"/>
                        </a:rPr>
                        <a:t>534,664  (9.1%)</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Still open at extract</a:t>
                      </a:r>
                    </a:p>
                  </a:txBody>
                  <a:tcPr marL="73152" marR="73152" marT="27432" marB="27432" anchor="ctr">
                    <a:solidFill>
                      <a:srgbClr val="FFFFFF"/>
                    </a:solidFill>
                  </a:tcPr>
                </a:tc>
                <a:tc>
                  <a:txBody>
                    <a:bodyPr wrap="square"/>
                    <a:lstStyle/>
                    <a:p>
                      <a:pPr algn="r"/>
                      <a:r>
                        <a:rPr sz="1150" b="0">
                          <a:solidFill>
                            <a:srgbClr val="1F2937"/>
                          </a:solidFill>
                          <a:latin typeface="Calibri"/>
                        </a:rPr>
                        <a:t>60</a:t>
                      </a:r>
                    </a:p>
                  </a:txBody>
                  <a:tcPr marL="73152" marR="73152" marT="27432" marB="27432" anchor="ctr">
                    <a:solidFill>
                      <a:srgbClr val="FFFFFF"/>
                    </a:solidFill>
                  </a:tcPr>
                </a:tc>
              </a:tr>
              <a:tr h="384048">
                <a:tc>
                  <a:txBody>
                    <a:bodyPr wrap="square"/>
                    <a:lstStyle/>
                    <a:p>
                      <a:pPr algn="l"/>
                      <a:r>
                        <a:rPr sz="1150" b="1">
                          <a:solidFill>
                            <a:srgbClr val="1F2937"/>
                          </a:solidFill>
                          <a:latin typeface="Calibri"/>
                        </a:rPr>
                        <a:t>Typical event</a:t>
                      </a:r>
                    </a:p>
                  </a:txBody>
                  <a:tcPr marL="73152" marR="73152" marT="27432" marB="27432" anchor="ctr">
                    <a:solidFill>
                      <a:srgbClr val="FFFFFF"/>
                    </a:solidFill>
                  </a:tcPr>
                </a:tc>
                <a:tc>
                  <a:txBody>
                    <a:bodyPr wrap="square"/>
                    <a:lstStyle/>
                    <a:p>
                      <a:pPr algn="r"/>
                      <a:r>
                        <a:rPr sz="1150" b="0">
                          <a:solidFill>
                            <a:srgbClr val="1F2937"/>
                          </a:solidFill>
                          <a:latin typeface="Calibri"/>
                        </a:rPr>
                        <a:t>median 7 h · mean 398 h</a:t>
                      </a:r>
                    </a:p>
                  </a:txBody>
                  <a:tcPr marL="73152" marR="73152" marT="27432" marB="27432" anchor="ctr">
                    <a:solidFill>
                      <a:srgbClr val="FFFFFF"/>
                    </a:solidFill>
                  </a:tcPr>
                </a:tc>
              </a:tr>
            </a:tbl>
          </a:graphicData>
        </a:graphic>
      </p:graphicFrame>
      <p:sp>
        <p:nvSpPr>
          <p:cNvPr id="9" name="TextBox 8"/>
          <p:cNvSpPr txBox="1"/>
          <p:nvPr/>
        </p:nvSpPr>
        <p:spPr>
          <a:xfrm>
            <a:off x="7955279" y="4160520"/>
            <a:ext cx="365760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Batch stamp: a start or end timestamp shared by 100 or more rows.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Staging the data</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staging model</a:t>
            </a:r>
            <a:r>
              <a:rPr sz="900" b="0" i="0">
                <a:solidFill>
                  <a:srgbClr val="6B7B8C"/>
                </a:solidFill>
                <a:latin typeface="Calibri"/>
              </a:rPr>
              <a:t>, </a:t>
            </a:r>
            <a:r>
              <a:rPr sz="900" b="0" i="0" u="sng">
                <a:solidFill>
                  <a:srgbClr val="1368E5"/>
                </a:solidFill>
                <a:latin typeface="Calibri"/>
                <a:hlinkClick r:id="rId4"/>
              </a:rPr>
              <a:t>query 13</a:t>
            </a:r>
            <a:r>
              <a:rPr sz="900" b="0" i="0">
                <a:solidFill>
                  <a:srgbClr val="6B7B8C"/>
                </a:solidFill>
                <a:latin typeface="Calibri"/>
              </a:rPr>
              <a:t>   ·   data pulled 2026-10-26</a:t>
            </a:r>
            <a:r>
              <a:rPr sz="900" b="0" i="0">
                <a:solidFill>
                  <a:srgbClr val="6B7B8C"/>
                </a:solidFill>
                <a:latin typeface="Calibri"/>
              </a:rPr>
              <a:t>   ·   5</a:t>
            </a:r>
          </a:p>
        </p:txBody>
      </p:sp>
      <p:sp>
        <p:nvSpPr>
          <p:cNvPr id="6" name="TextBox 5"/>
          <p:cNvSpPr txBox="1"/>
          <p:nvPr/>
        </p:nvSpPr>
        <p:spPr>
          <a:xfrm>
            <a:off x="548640" y="1325880"/>
            <a:ext cx="5120640" cy="4754880"/>
          </a:xfrm>
          <a:prstGeom prst="rect">
            <a:avLst/>
          </a:prstGeom>
          <a:noFill/>
        </p:spPr>
        <p:txBody>
          <a:bodyPr wrap="square" lIns="0" rIns="0" tIns="0" bIns="0" anchor="t">
            <a:spAutoFit/>
          </a:bodyPr>
          <a:lstStyle/>
          <a:p>
            <a:pPr algn="l">
              <a:lnSpc>
                <a:spcPct val="118000"/>
              </a:lnSpc>
              <a:spcAft>
                <a:spcPts val="1000"/>
              </a:spcAft>
            </a:pPr>
            <a:r>
              <a:rPr sz="1300" b="0" i="0">
                <a:solidFill>
                  <a:srgbClr val="1F2937"/>
                </a:solidFill>
                <a:latin typeface="Calibri"/>
              </a:rPr>
              <a:t>Knowing this, I </a:t>
            </a:r>
            <a:r>
              <a:rPr sz="1300" b="0" i="0" u="sng">
                <a:solidFill>
                  <a:srgbClr val="1368E5"/>
                </a:solidFill>
                <a:latin typeface="Calibri"/>
                <a:hlinkClick r:id="rId3"/>
              </a:rPr>
              <a:t>staged the data</a:t>
            </a:r>
            <a:r>
              <a:rPr sz="1300" b="0" i="0">
                <a:solidFill>
                  <a:srgbClr val="1F2937"/>
                </a:solidFill>
                <a:latin typeface="Calibri"/>
              </a:rPr>
              <a:t>: deduped it, combined New York's boroughs into one city, and flagged the seasonal road closures, the events still open when the data was extracted, and the suspected administrative batch opens and closes. I flagged rather than deleted, so I could run any answer with or without them.</a:t>
            </a:r>
          </a:p>
          <a:p>
            <a:pPr algn="l">
              <a:lnSpc>
                <a:spcPct val="118000"/>
              </a:lnSpc>
              <a:spcAft>
                <a:spcPts val="1000"/>
              </a:spcAft>
            </a:pPr>
            <a:r>
              <a:rPr sz="1300" b="0" i="0">
                <a:solidFill>
                  <a:srgbClr val="1F2937"/>
                </a:solidFill>
                <a:latin typeface="Calibri"/>
              </a:rPr>
              <a:t>In doing so I created a fun error. My first filter on the description field was too broad: it matched anything with “season” or “winter” in it, which pulled in things like Seasons Road and Winter Street, and a landmark on CA-108 called the Winter Closure Gate. I had to refine it so my cleanup wasn't creating noise of its own. The table shows what it caught.</a:t>
            </a:r>
          </a:p>
          <a:p>
            <a:pPr algn="l">
              <a:lnSpc>
                <a:spcPct val="118000"/>
              </a:lnSpc>
              <a:spcAft>
                <a:spcPts val="1000"/>
              </a:spcAft>
            </a:pPr>
            <a:r>
              <a:rPr sz="1300" b="0" i="0">
                <a:solidFill>
                  <a:srgbClr val="1F2937"/>
                </a:solidFill>
                <a:latin typeface="Calibri"/>
              </a:rPr>
              <a:t>One thing the numbers told me at this point: the median event is 7 hours and the mean is about 400. The totals are carried by a long tail of multi-day events, not the typical one.</a:t>
            </a:r>
          </a:p>
        </p:txBody>
      </p:sp>
      <p:graphicFrame>
        <p:nvGraphicFramePr>
          <p:cNvPr id="7" name="Table 6"/>
          <p:cNvGraphicFramePr>
            <a:graphicFrameLocks noGrp="1"/>
          </p:cNvGraphicFramePr>
          <p:nvPr/>
        </p:nvGraphicFramePr>
        <p:xfrm>
          <a:off x="6126480" y="1325880"/>
          <a:ext cx="5486400" cy="1975104"/>
        </p:xfrm>
        <a:graphic>
          <a:graphicData uri="http://schemas.openxmlformats.org/drawingml/2006/table">
            <a:tbl>
              <a:tblPr>
                <a:tableStyleId>{2D5ABB26-0587-4C30-8999-92F81FD0307C}</a:tableStyleId>
              </a:tblPr>
              <a:tblGrid>
                <a:gridCol w="4846320"/>
                <a:gridCol w="640080"/>
              </a:tblGrid>
              <a:tr h="329184">
                <a:tc>
                  <a:txBody>
                    <a:bodyPr wrap="square"/>
                    <a:lstStyle/>
                    <a:p>
                      <a:pPr algn="l"/>
                      <a:r>
                        <a:rPr sz="1000" b="1">
                          <a:solidFill>
                            <a:srgbClr val="6B7B8C"/>
                          </a:solidFill>
                          <a:latin typeface="Calibri"/>
                        </a:rPr>
                        <a:t>Caught by the first filter, not a closure</a:t>
                      </a:r>
                    </a:p>
                  </a:txBody>
                  <a:tcPr marL="73152" marR="73152" marT="27432" marB="27432" anchor="ctr">
                    <a:solidFill>
                      <a:srgbClr val="F1F4F8"/>
                    </a:solidFill>
                    <a:lnB w="12700">
                      <a:solidFill>
                        <a:srgbClr val="DCE3EA"/>
                      </a:solidFill>
                    </a:lnB>
                  </a:tcPr>
                </a:tc>
                <a:tc>
                  <a:txBody>
                    <a:bodyPr wrap="square"/>
                    <a:lstStyle/>
                    <a:p>
                      <a:pPr algn="r"/>
                      <a:r>
                        <a:rPr sz="1000" b="1">
                          <a:solidFill>
                            <a:srgbClr val="6B7B8C"/>
                          </a:solidFill>
                          <a:latin typeface="Calibri"/>
                        </a:rPr>
                        <a:t>events</a:t>
                      </a:r>
                    </a:p>
                  </a:txBody>
                  <a:tcPr marL="73152" marR="73152" marT="27432" marB="27432" anchor="ctr">
                    <a:solidFill>
                      <a:srgbClr val="F1F4F8"/>
                    </a:solidFill>
                    <a:lnB w="12700">
                      <a:solidFill>
                        <a:srgbClr val="DCE3EA"/>
                      </a:solidFill>
                    </a:lnB>
                  </a:tcPr>
                </a:tc>
              </a:tr>
              <a:tr h="329184">
                <a:tc>
                  <a:txBody>
                    <a:bodyPr wrap="square"/>
                    <a:lstStyle/>
                    <a:p>
                      <a:pPr algn="l"/>
                      <a:r>
                        <a:rPr sz="950" b="0">
                          <a:solidFill>
                            <a:srgbClr val="1F2937"/>
                          </a:solidFill>
                          <a:latin typeface="Calibri"/>
                        </a:rPr>
                        <a:t>Slow traffic on 2nd Lt. David E. Rylander Memorial Highway - OH-8 S from Seasons Rd (OH-</a:t>
                      </a:r>
                    </a:p>
                  </a:txBody>
                  <a:tcPr marL="73152" marR="73152" marT="27432" marB="27432" anchor="ctr">
                    <a:solidFill>
                      <a:srgbClr val="FFFFFF"/>
                    </a:solidFill>
                  </a:tcPr>
                </a:tc>
                <a:tc>
                  <a:txBody>
                    <a:bodyPr wrap="square"/>
                    <a:lstStyle/>
                    <a:p>
                      <a:pPr algn="r"/>
                      <a:r>
                        <a:rPr sz="950" b="0">
                          <a:solidFill>
                            <a:srgbClr val="1F2937"/>
                          </a:solidFill>
                          <a:latin typeface="Calibri"/>
                        </a:rPr>
                        <a:t>153</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Slow traffic on 2nd Lt. David E. Rylander Memorial Highway - OH-8 S from Seasons Rd (OH-</a:t>
                      </a:r>
                    </a:p>
                  </a:txBody>
                  <a:tcPr marL="73152" marR="73152" marT="27432" marB="27432" anchor="ctr">
                    <a:solidFill>
                      <a:srgbClr val="FFFFFF"/>
                    </a:solidFill>
                  </a:tcPr>
                </a:tc>
                <a:tc>
                  <a:txBody>
                    <a:bodyPr wrap="square"/>
                    <a:lstStyle/>
                    <a:p>
                      <a:pPr algn="r"/>
                      <a:r>
                        <a:rPr sz="950" b="0">
                          <a:solidFill>
                            <a:srgbClr val="1F2937"/>
                          </a:solidFill>
                          <a:latin typeface="Calibri"/>
                        </a:rPr>
                        <a:t>149</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Stationary traffic on US-4 N - US-4 S from CR-74/Winter St (N Greenbush Rd/US-4) to NY-1</a:t>
                      </a:r>
                    </a:p>
                  </a:txBody>
                  <a:tcPr marL="73152" marR="73152" marT="27432" marB="27432" anchor="ctr">
                    <a:solidFill>
                      <a:srgbClr val="FFFFFF"/>
                    </a:solidFill>
                  </a:tcPr>
                </a:tc>
                <a:tc>
                  <a:txBody>
                    <a:bodyPr wrap="square"/>
                    <a:lstStyle/>
                    <a:p>
                      <a:pPr algn="r"/>
                      <a:r>
                        <a:rPr sz="950" b="0">
                          <a:solidFill>
                            <a:srgbClr val="1F2937"/>
                          </a:solidFill>
                          <a:latin typeface="Calibri"/>
                        </a:rPr>
                        <a:t>87</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Slow traffic on OH-8 S from I-80/Ohio Tpke (OH-8) to Seasons Rd (OH-8) due to roadwork.</a:t>
                      </a:r>
                    </a:p>
                  </a:txBody>
                  <a:tcPr marL="73152" marR="73152" marT="27432" marB="27432" anchor="ctr">
                    <a:solidFill>
                      <a:srgbClr val="FFFFFF"/>
                    </a:solidFill>
                  </a:tcPr>
                </a:tc>
                <a:tc>
                  <a:txBody>
                    <a:bodyPr wrap="square"/>
                    <a:lstStyle/>
                    <a:p>
                      <a:pPr algn="r"/>
                      <a:r>
                        <a:rPr sz="950" b="0">
                          <a:solidFill>
                            <a:srgbClr val="1F2937"/>
                          </a:solidFill>
                          <a:latin typeface="Calibri"/>
                        </a:rPr>
                        <a:t>87</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Stationary traffic on FL-540 - County Hwy-540 from Thornhill Rd (Winter Lake Rd/FL-540) </a:t>
                      </a:r>
                    </a:p>
                  </a:txBody>
                  <a:tcPr marL="73152" marR="73152" marT="27432" marB="27432" anchor="ctr">
                    <a:solidFill>
                      <a:srgbClr val="FFFFFF"/>
                    </a:solidFill>
                  </a:tcPr>
                </a:tc>
                <a:tc>
                  <a:txBody>
                    <a:bodyPr wrap="square"/>
                    <a:lstStyle/>
                    <a:p>
                      <a:pPr algn="r"/>
                      <a:r>
                        <a:rPr sz="950" b="0">
                          <a:solidFill>
                            <a:srgbClr val="1F2937"/>
                          </a:solidFill>
                          <a:latin typeface="Calibri"/>
                        </a:rPr>
                        <a:t>83</a:t>
                      </a:r>
                    </a:p>
                  </a:txBody>
                  <a:tcPr marL="73152" marR="73152" marT="27432" marB="27432" anchor="ctr">
                    <a:solidFill>
                      <a:srgbClr val="FFFFFF"/>
                    </a:solidFill>
                  </a:tcPr>
                </a:tc>
              </a:tr>
            </a:tbl>
          </a:graphicData>
        </a:graphic>
      </p:graphicFrame>
      <p:graphicFrame>
        <p:nvGraphicFramePr>
          <p:cNvPr id="8" name="Table 7"/>
          <p:cNvGraphicFramePr>
            <a:graphicFrameLocks noGrp="1"/>
          </p:cNvGraphicFramePr>
          <p:nvPr/>
        </p:nvGraphicFramePr>
        <p:xfrm>
          <a:off x="6126480" y="3483864"/>
          <a:ext cx="5486400" cy="1645920"/>
        </p:xfrm>
        <a:graphic>
          <a:graphicData uri="http://schemas.openxmlformats.org/drawingml/2006/table">
            <a:tbl>
              <a:tblPr>
                <a:tableStyleId>{2D5ABB26-0587-4C30-8999-92F81FD0307C}</a:tableStyleId>
              </a:tblPr>
              <a:tblGrid>
                <a:gridCol w="4846320"/>
                <a:gridCol w="640080"/>
              </a:tblGrid>
              <a:tr h="329184">
                <a:tc>
                  <a:txBody>
                    <a:bodyPr wrap="square"/>
                    <a:lstStyle/>
                    <a:p>
                      <a:pPr algn="l"/>
                      <a:r>
                        <a:rPr sz="1000" b="1">
                          <a:solidFill>
                            <a:srgbClr val="6B7B8C"/>
                          </a:solidFill>
                          <a:latin typeface="Calibri"/>
                        </a:rPr>
                        <a:t>Real seasonal closures, kept flagged</a:t>
                      </a:r>
                    </a:p>
                  </a:txBody>
                  <a:tcPr marL="73152" marR="73152" marT="27432" marB="27432" anchor="ctr">
                    <a:solidFill>
                      <a:srgbClr val="F1F4F8"/>
                    </a:solidFill>
                    <a:lnB w="12700">
                      <a:solidFill>
                        <a:srgbClr val="DCE3EA"/>
                      </a:solidFill>
                    </a:lnB>
                  </a:tcPr>
                </a:tc>
                <a:tc>
                  <a:txBody>
                    <a:bodyPr wrap="square"/>
                    <a:lstStyle/>
                    <a:p>
                      <a:pPr algn="r"/>
                      <a:r>
                        <a:rPr sz="1000" b="1">
                          <a:solidFill>
                            <a:srgbClr val="6B7B8C"/>
                          </a:solidFill>
                          <a:latin typeface="Calibri"/>
                        </a:rPr>
                        <a:t>events</a:t>
                      </a:r>
                    </a:p>
                  </a:txBody>
                  <a:tcPr marL="73152" marR="73152" marT="27432" marB="27432" anchor="ctr">
                    <a:solidFill>
                      <a:srgbClr val="F1F4F8"/>
                    </a:solidFill>
                    <a:lnB w="12700">
                      <a:solidFill>
                        <a:srgbClr val="DCE3EA"/>
                      </a:solidFill>
                    </a:lnB>
                  </a:tcPr>
                </a:tc>
              </a:tr>
              <a:tr h="329184">
                <a:tc>
                  <a:txBody>
                    <a:bodyPr wrap="square"/>
                    <a:lstStyle/>
                    <a:p>
                      <a:pPr algn="l"/>
                      <a:r>
                        <a:rPr sz="950" b="0">
                          <a:solidFill>
                            <a:srgbClr val="1F2937"/>
                          </a:solidFill>
                          <a:latin typeface="Calibri"/>
                        </a:rPr>
                        <a:t>Closed between NF-1012/Cold Springs Cutoff Rd and OR-126 - Closed. Traffic problem. wint</a:t>
                      </a:r>
                    </a:p>
                  </a:txBody>
                  <a:tcPr marL="73152" marR="73152" marT="27432" marB="27432" anchor="ctr">
                    <a:solidFill>
                      <a:srgbClr val="FFFFFF"/>
                    </a:solidFill>
                  </a:tcPr>
                </a:tc>
                <a:tc>
                  <a:txBody>
                    <a:bodyPr wrap="square"/>
                    <a:lstStyle/>
                    <a:p>
                      <a:pPr algn="r"/>
                      <a:r>
                        <a:rPr sz="950" b="0">
                          <a:solidFill>
                            <a:srgbClr val="1F2937"/>
                          </a:solidFill>
                          <a:latin typeface="Calibri"/>
                        </a:rPr>
                        <a:t>64</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Closed between OR-126 and NF-1012/Cold Springs Cutoff Rd - Closed. Traffic problem. wint</a:t>
                      </a:r>
                    </a:p>
                  </a:txBody>
                  <a:tcPr marL="73152" marR="73152" marT="27432" marB="27432" anchor="ctr">
                    <a:solidFill>
                      <a:srgbClr val="FFFFFF"/>
                    </a:solidFill>
                  </a:tcPr>
                </a:tc>
                <a:tc>
                  <a:txBody>
                    <a:bodyPr wrap="square"/>
                    <a:lstStyle/>
                    <a:p>
                      <a:pPr algn="r"/>
                      <a:r>
                        <a:rPr sz="950" b="0">
                          <a:solidFill>
                            <a:srgbClr val="1F2937"/>
                          </a:solidFill>
                          <a:latin typeface="Calibri"/>
                        </a:rPr>
                        <a:t>63</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Closed between CA-207/Mt Reba Rd and CA-89 - Closed. Snowfall. winter closure.</a:t>
                      </a:r>
                    </a:p>
                  </a:txBody>
                  <a:tcPr marL="73152" marR="73152" marT="27432" marB="27432" anchor="ctr">
                    <a:solidFill>
                      <a:srgbClr val="FFFFFF"/>
                    </a:solidFill>
                  </a:tcPr>
                </a:tc>
                <a:tc>
                  <a:txBody>
                    <a:bodyPr wrap="square"/>
                    <a:lstStyle/>
                    <a:p>
                      <a:pPr algn="r"/>
                      <a:r>
                        <a:rPr sz="950" b="0">
                          <a:solidFill>
                            <a:srgbClr val="1F2937"/>
                          </a:solidFill>
                          <a:latin typeface="Calibri"/>
                        </a:rPr>
                        <a:t>57</a:t>
                      </a:r>
                    </a:p>
                  </a:txBody>
                  <a:tcPr marL="73152" marR="73152" marT="27432" marB="27432" anchor="ctr">
                    <a:solidFill>
                      <a:srgbClr val="FFFFFF"/>
                    </a:solidFill>
                  </a:tcPr>
                </a:tc>
              </a:tr>
              <a:tr h="329184">
                <a:tc>
                  <a:txBody>
                    <a:bodyPr wrap="square"/>
                    <a:lstStyle/>
                    <a:p>
                      <a:pPr algn="l"/>
                      <a:r>
                        <a:rPr sz="950" b="0">
                          <a:solidFill>
                            <a:srgbClr val="1F2937"/>
                          </a:solidFill>
                          <a:latin typeface="Calibri"/>
                        </a:rPr>
                        <a:t>Closed between 1st St and CO-133 - Closed. winter closure.</a:t>
                      </a:r>
                    </a:p>
                  </a:txBody>
                  <a:tcPr marL="73152" marR="73152" marT="27432" marB="27432" anchor="ctr">
                    <a:solidFill>
                      <a:srgbClr val="FFFFFF"/>
                    </a:solidFill>
                  </a:tcPr>
                </a:tc>
                <a:tc>
                  <a:txBody>
                    <a:bodyPr wrap="square"/>
                    <a:lstStyle/>
                    <a:p>
                      <a:pPr algn="r"/>
                      <a:r>
                        <a:rPr sz="950" b="0">
                          <a:solidFill>
                            <a:srgbClr val="1F2937"/>
                          </a:solidFill>
                          <a:latin typeface="Calibri"/>
                        </a:rPr>
                        <a:t>48</a:t>
                      </a:r>
                    </a:p>
                  </a:txBody>
                  <a:tcPr marL="73152" marR="73152" marT="27432" marB="27432"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1: over the past five years, which city has had the most hours of construction?</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1</a:t>
            </a:r>
            <a:r>
              <a:rPr sz="900" b="0" i="0">
                <a:solidFill>
                  <a:srgbClr val="6B7B8C"/>
                </a:solidFill>
                <a:latin typeface="Calibri"/>
              </a:rPr>
              <a:t>, </a:t>
            </a:r>
            <a:r>
              <a:rPr sz="900" b="0" i="0" u="sng">
                <a:solidFill>
                  <a:srgbClr val="1368E5"/>
                </a:solidFill>
                <a:latin typeface="Calibri"/>
                <a:hlinkClick r:id="rId4"/>
              </a:rPr>
              <a:t>int_city_month_hours</a:t>
            </a:r>
            <a:r>
              <a:rPr sz="900" b="0" i="0">
                <a:solidFill>
                  <a:srgbClr val="6B7B8C"/>
                </a:solidFill>
                <a:latin typeface="Calibri"/>
              </a:rPr>
              <a:t>   ·   data pulled 2026-10-26</a:t>
            </a:r>
            <a:r>
              <a:rPr sz="900" b="0" i="0">
                <a:solidFill>
                  <a:srgbClr val="6B7B8C"/>
                </a:solidFill>
                <a:latin typeface="Calibri"/>
              </a:rPr>
              <a:t>   ·   6</a:t>
            </a:r>
          </a:p>
        </p:txBody>
      </p:sp>
      <p:pic>
        <p:nvPicPr>
          <p:cNvPr id="6" name="Picture 5" descr="q1_ten_cities.png"/>
          <p:cNvPicPr>
            <a:picLocks noChangeAspect="1"/>
          </p:cNvPicPr>
          <p:nvPr/>
        </p:nvPicPr>
        <p:blipFill>
          <a:blip r:embed="rId5"/>
          <a:stretch>
            <a:fillRect/>
          </a:stretch>
        </p:blipFill>
        <p:spPr>
          <a:xfrm>
            <a:off x="548640" y="1280160"/>
            <a:ext cx="7223760" cy="3752125"/>
          </a:xfrm>
          <a:prstGeom prst="rect">
            <a:avLst/>
          </a:prstGeom>
        </p:spPr>
      </p:pic>
      <p:sp>
        <p:nvSpPr>
          <p:cNvPr id="7" name="TextBox 6"/>
          <p:cNvSpPr txBox="1"/>
          <p:nvPr/>
        </p:nvSpPr>
        <p:spPr>
          <a:xfrm>
            <a:off x="548640" y="5257800"/>
            <a:ext cx="722376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All cities in the data, 2017–2021, deduplicated, seasonal closures excluded. Hours are allocated to the months each event was active.</a:t>
            </a:r>
          </a:p>
        </p:txBody>
      </p:sp>
      <p:sp>
        <p:nvSpPr>
          <p:cNvPr id="8" name="TextBox 7"/>
          <p:cNvSpPr txBox="1"/>
          <p:nvPr/>
        </p:nvSpPr>
        <p:spPr>
          <a:xfrm>
            <a:off x="8138160" y="1325880"/>
            <a:ext cx="3474720" cy="475488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Once the data was staged I could actually dig into the questions.</a:t>
            </a:r>
          </a:p>
          <a:p>
            <a:pPr algn="l">
              <a:lnSpc>
                <a:spcPct val="118000"/>
              </a:lnSpc>
              <a:spcAft>
                <a:spcPts val="1000"/>
              </a:spcAft>
            </a:pPr>
            <a:r>
              <a:rPr sz="1250" b="0" i="0">
                <a:solidFill>
                  <a:srgbClr val="1F2937"/>
                </a:solidFill>
                <a:latin typeface="Calibri"/>
              </a:rPr>
              <a:t>The top ten by hours is a weird mix. New York comes out on top, then Phoenix, and both are far ahead of the rest. Los Angeles is notably missing, and seeing a city like York, Pennsylvania in the top ten seemed a little funny.</a:t>
            </a:r>
          </a:p>
          <a:p>
            <a:pPr algn="l">
              <a:lnSpc>
                <a:spcPct val="118000"/>
              </a:lnSpc>
              <a:spcAft>
                <a:spcPts val="1000"/>
              </a:spcAft>
            </a:pPr>
            <a:r>
              <a:rPr sz="1250" b="0" i="0">
                <a:solidFill>
                  <a:srgbClr val="1F2937"/>
                </a:solidFill>
                <a:latin typeface="Calibri"/>
              </a:rPr>
              <a:t>New York leads only because I combined the boroughs, and if I drop the batch-stamped rows it is nearly a tie: 83.1M hours to 82.0M. Both of those choices are mine, and both are stated.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2: how has this changed over time? (1 of 2: the ten cities above)</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3</a:t>
            </a:r>
            <a:r>
              <a:rPr sz="900" b="0" i="0">
                <a:solidFill>
                  <a:srgbClr val="6B7B8C"/>
                </a:solidFill>
                <a:latin typeface="Calibri"/>
              </a:rPr>
              <a:t>   ·   data pulled 2026-10-26</a:t>
            </a:r>
            <a:r>
              <a:rPr sz="900" b="0" i="0">
                <a:solidFill>
                  <a:srgbClr val="6B7B8C"/>
                </a:solidFill>
                <a:latin typeface="Calibri"/>
              </a:rPr>
              <a:t>   ·   7</a:t>
            </a:r>
          </a:p>
        </p:txBody>
      </p:sp>
      <p:pic>
        <p:nvPicPr>
          <p:cNvPr id="6" name="Picture 5" descr="q2_city_small_multiples.png"/>
          <p:cNvPicPr>
            <a:picLocks noChangeAspect="1"/>
          </p:cNvPicPr>
          <p:nvPr/>
        </p:nvPicPr>
        <p:blipFill>
          <a:blip r:embed="rId4"/>
          <a:stretch>
            <a:fillRect/>
          </a:stretch>
        </p:blipFill>
        <p:spPr>
          <a:xfrm>
            <a:off x="548640" y="1234439"/>
            <a:ext cx="6704113" cy="3291840"/>
          </a:xfrm>
          <a:prstGeom prst="rect">
            <a:avLst/>
          </a:prstGeom>
        </p:spPr>
      </p:pic>
      <p:sp>
        <p:nvSpPr>
          <p:cNvPr id="7" name="TextBox 6"/>
          <p:cNvSpPr txBox="1"/>
          <p:nvPr/>
        </p:nvSpPr>
        <p:spPr>
          <a:xfrm>
            <a:off x="548640" y="4663439"/>
            <a:ext cx="11064240" cy="173736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 wasn't looking to answer question two yet; it just happened to be the next thing. Before going further I wanted to know why the list looked the way it did, and looking year over year it became apparent: the number of events explodes in 2021, everywhere I looked, in cities under ten different state DOTs. That could be a change in how the data is measured, a change in the inputs, or a change in coverage. I wondered whether the 2021 infrastructure bill was behind it, but it was signed in November 2021 and the jump starts in March, so the timing doesn't fit. Something changed in 2021 that significantly increased the reported number of events everywhere, and that changes the story quite a bit.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2: how has this changed over time? (2 of 2: all cities)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4</a:t>
            </a:r>
            <a:r>
              <a:rPr sz="900" b="0" i="0">
                <a:solidFill>
                  <a:srgbClr val="6B7B8C"/>
                </a:solidFill>
                <a:latin typeface="Calibri"/>
              </a:rPr>
              <a:t>, </a:t>
            </a:r>
            <a:r>
              <a:rPr sz="900" b="0" i="0" u="sng">
                <a:solidFill>
                  <a:srgbClr val="1368E5"/>
                </a:solidFill>
                <a:latin typeface="Calibri"/>
                <a:hlinkClick r:id="rId4"/>
              </a:rPr>
              <a:t>query 5</a:t>
            </a:r>
            <a:r>
              <a:rPr sz="900" b="0" i="0">
                <a:solidFill>
                  <a:srgbClr val="6B7B8C"/>
                </a:solidFill>
                <a:latin typeface="Calibri"/>
              </a:rPr>
              <a:t>   ·   data pulled 2026-10-26</a:t>
            </a:r>
            <a:r>
              <a:rPr sz="900" b="0" i="0">
                <a:solidFill>
                  <a:srgbClr val="6B7B8C"/>
                </a:solidFill>
                <a:latin typeface="Calibri"/>
              </a:rPr>
              <a:t>   ·   8</a:t>
            </a:r>
          </a:p>
        </p:txBody>
      </p:sp>
      <p:pic>
        <p:nvPicPr>
          <p:cNvPr id="6" name="Picture 5" descr="q2_national_monthly.png"/>
          <p:cNvPicPr>
            <a:picLocks noChangeAspect="1"/>
          </p:cNvPicPr>
          <p:nvPr/>
        </p:nvPicPr>
        <p:blipFill>
          <a:blip r:embed="rId5"/>
          <a:stretch>
            <a:fillRect/>
          </a:stretch>
        </p:blipFill>
        <p:spPr>
          <a:xfrm>
            <a:off x="548640" y="1234439"/>
            <a:ext cx="6949440" cy="3352701"/>
          </a:xfrm>
          <a:prstGeom prst="rect">
            <a:avLst/>
          </a:prstGeom>
        </p:spPr>
      </p:pic>
      <p:sp>
        <p:nvSpPr>
          <p:cNvPr id="7" name="TextBox 6"/>
          <p:cNvSpPr txBox="1"/>
          <p:nvPr/>
        </p:nvSpPr>
        <p:spPr>
          <a:xfrm>
            <a:off x="7772400" y="1325880"/>
            <a:ext cx="3931920" cy="201168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Looking at all cities together, construction events per month increased significantly, and construction hours per month increased along with them. The hours fall off at the very end of 2021, but that isn't real: the jobs still running when the data was pulled haven't had their end dates recorded yet, so they don't count toward hours in those months.</a:t>
            </a:r>
          </a:p>
        </p:txBody>
      </p:sp>
      <p:graphicFrame>
        <p:nvGraphicFramePr>
          <p:cNvPr id="8" name="Table 7"/>
          <p:cNvGraphicFramePr>
            <a:graphicFrameLocks noGrp="1"/>
          </p:cNvGraphicFramePr>
          <p:nvPr/>
        </p:nvGraphicFramePr>
        <p:xfrm>
          <a:off x="7772400" y="3429000"/>
          <a:ext cx="3840480" cy="1856232"/>
        </p:xfrm>
        <a:graphic>
          <a:graphicData uri="http://schemas.openxmlformats.org/drawingml/2006/table">
            <a:tbl>
              <a:tblPr>
                <a:tableStyleId>{2D5ABB26-0587-4C30-8999-92F81FD0307C}</a:tableStyleId>
              </a:tblPr>
              <a:tblGrid>
                <a:gridCol w="594360"/>
                <a:gridCol w="868680"/>
                <a:gridCol w="777240"/>
                <a:gridCol w="777240"/>
                <a:gridCol w="822960"/>
              </a:tblGrid>
              <a:tr h="265176">
                <a:tc>
                  <a:txBody>
                    <a:bodyPr wrap="square"/>
                    <a:lstStyle/>
                    <a:p>
                      <a:pPr algn="l"/>
                      <a:r>
                        <a:rPr sz="1050" b="1">
                          <a:solidFill>
                            <a:srgbClr val="6B7B8C"/>
                          </a:solidFill>
                          <a:latin typeface="Calibri"/>
                        </a:rPr>
                        <a:t>Year</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Events</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Median h</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 = 96 h</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 &lt; 1 h</a:t>
                      </a:r>
                    </a:p>
                  </a:txBody>
                  <a:tcPr marL="73152" marR="73152" marT="27432" marB="27432" anchor="ctr">
                    <a:solidFill>
                      <a:srgbClr val="F1F4F8"/>
                    </a:solidFill>
                    <a:lnB w="12700">
                      <a:solidFill>
                        <a:srgbClr val="DCE3EA"/>
                      </a:solidFill>
                    </a:lnB>
                  </a:tcPr>
                </a:tc>
              </a:tr>
              <a:tr h="265176">
                <a:tc>
                  <a:txBody>
                    <a:bodyPr wrap="square"/>
                    <a:lstStyle/>
                    <a:p>
                      <a:pPr algn="l"/>
                      <a:r>
                        <a:rPr sz="1050" b="0">
                          <a:solidFill>
                            <a:srgbClr val="1F2937"/>
                          </a:solidFill>
                          <a:latin typeface="Calibri"/>
                        </a:rPr>
                        <a:t>2016</a:t>
                      </a:r>
                    </a:p>
                  </a:txBody>
                  <a:tcPr marL="73152" marR="73152" marT="27432" marB="27432" anchor="ctr">
                    <a:solidFill>
                      <a:srgbClr val="FFFFFF"/>
                    </a:solidFill>
                  </a:tcPr>
                </a:tc>
                <a:tc>
                  <a:txBody>
                    <a:bodyPr wrap="square"/>
                    <a:lstStyle/>
                    <a:p>
                      <a:pPr algn="r"/>
                      <a:r>
                        <a:rPr sz="1050" b="0">
                          <a:solidFill>
                            <a:srgbClr val="1F2937"/>
                          </a:solidFill>
                          <a:latin typeface="Calibri"/>
                        </a:rPr>
                        <a:t>147k</a:t>
                      </a:r>
                    </a:p>
                  </a:txBody>
                  <a:tcPr marL="73152" marR="73152" marT="27432" marB="27432" anchor="ctr">
                    <a:solidFill>
                      <a:srgbClr val="FFFFFF"/>
                    </a:solidFill>
                  </a:tcPr>
                </a:tc>
                <a:tc>
                  <a:txBody>
                    <a:bodyPr wrap="square"/>
                    <a:lstStyle/>
                    <a:p>
                      <a:pPr algn="r"/>
                      <a:r>
                        <a:rPr sz="1050" b="0">
                          <a:solidFill>
                            <a:srgbClr val="1F2937"/>
                          </a:solidFill>
                          <a:latin typeface="Calibri"/>
                        </a:rPr>
                        <a:t>6</a:t>
                      </a:r>
                    </a:p>
                  </a:txBody>
                  <a:tcPr marL="73152" marR="73152" marT="27432" marB="27432" anchor="ctr">
                    <a:solidFill>
                      <a:srgbClr val="FFFFFF"/>
                    </a:solidFill>
                  </a:tcPr>
                </a:tc>
                <a:tc>
                  <a:txBody>
                    <a:bodyPr wrap="square"/>
                    <a:lstStyle/>
                    <a:p>
                      <a:pPr algn="r"/>
                      <a:r>
                        <a:rPr sz="1050" b="0">
                          <a:solidFill>
                            <a:srgbClr val="1F2937"/>
                          </a:solidFill>
                          <a:latin typeface="Calibri"/>
                        </a:rPr>
                        <a:t>0.2</a:t>
                      </a:r>
                    </a:p>
                  </a:txBody>
                  <a:tcPr marL="73152" marR="73152" marT="27432" marB="27432" anchor="ctr">
                    <a:solidFill>
                      <a:srgbClr val="FFFFFF"/>
                    </a:solidFill>
                  </a:tcPr>
                </a:tc>
                <a:tc>
                  <a:txBody>
                    <a:bodyPr wrap="square"/>
                    <a:lstStyle/>
                    <a:p>
                      <a:pPr algn="r"/>
                      <a:r>
                        <a:rPr sz="1050" b="0">
                          <a:solidFill>
                            <a:srgbClr val="1F2937"/>
                          </a:solidFill>
                          <a:latin typeface="Calibri"/>
                        </a:rPr>
                        <a:t>0.6</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2017</a:t>
                      </a:r>
                    </a:p>
                  </a:txBody>
                  <a:tcPr marL="73152" marR="73152" marT="27432" marB="27432" anchor="ctr">
                    <a:solidFill>
                      <a:srgbClr val="FFFFFF"/>
                    </a:solidFill>
                  </a:tcPr>
                </a:tc>
                <a:tc>
                  <a:txBody>
                    <a:bodyPr wrap="square"/>
                    <a:lstStyle/>
                    <a:p>
                      <a:pPr algn="r"/>
                      <a:r>
                        <a:rPr sz="1050" b="0">
                          <a:solidFill>
                            <a:srgbClr val="1F2937"/>
                          </a:solidFill>
                          <a:latin typeface="Calibri"/>
                        </a:rPr>
                        <a:t>200k</a:t>
                      </a:r>
                    </a:p>
                  </a:txBody>
                  <a:tcPr marL="73152" marR="73152" marT="27432" marB="27432" anchor="ctr">
                    <a:solidFill>
                      <a:srgbClr val="FFFFFF"/>
                    </a:solidFill>
                  </a:tcPr>
                </a:tc>
                <a:tc>
                  <a:txBody>
                    <a:bodyPr wrap="square"/>
                    <a:lstStyle/>
                    <a:p>
                      <a:pPr algn="r"/>
                      <a:r>
                        <a:rPr sz="1050" b="0">
                          <a:solidFill>
                            <a:srgbClr val="1F2937"/>
                          </a:solidFill>
                          <a:latin typeface="Calibri"/>
                        </a:rPr>
                        <a:t>6</a:t>
                      </a:r>
                    </a:p>
                  </a:txBody>
                  <a:tcPr marL="73152" marR="73152" marT="27432" marB="27432" anchor="ctr">
                    <a:solidFill>
                      <a:srgbClr val="FFFFFF"/>
                    </a:solidFill>
                  </a:tcPr>
                </a:tc>
                <a:tc>
                  <a:txBody>
                    <a:bodyPr wrap="square"/>
                    <a:lstStyle/>
                    <a:p>
                      <a:pPr algn="r"/>
                      <a:r>
                        <a:rPr sz="1050" b="0">
                          <a:solidFill>
                            <a:srgbClr val="1F2937"/>
                          </a:solidFill>
                          <a:latin typeface="Calibri"/>
                        </a:rPr>
                        <a:t>0.1</a:t>
                      </a:r>
                    </a:p>
                  </a:txBody>
                  <a:tcPr marL="73152" marR="73152" marT="27432" marB="27432" anchor="ctr">
                    <a:solidFill>
                      <a:srgbClr val="FFFFFF"/>
                    </a:solidFill>
                  </a:tcPr>
                </a:tc>
                <a:tc>
                  <a:txBody>
                    <a:bodyPr wrap="square"/>
                    <a:lstStyle/>
                    <a:p>
                      <a:pPr algn="r"/>
                      <a:r>
                        <a:rPr sz="1050" b="0">
                          <a:solidFill>
                            <a:srgbClr val="1F2937"/>
                          </a:solidFill>
                          <a:latin typeface="Calibri"/>
                        </a:rPr>
                        <a:t>1.2</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2018</a:t>
                      </a:r>
                    </a:p>
                  </a:txBody>
                  <a:tcPr marL="73152" marR="73152" marT="27432" marB="27432" anchor="ctr">
                    <a:solidFill>
                      <a:srgbClr val="FFFFFF"/>
                    </a:solidFill>
                  </a:tcPr>
                </a:tc>
                <a:tc>
                  <a:txBody>
                    <a:bodyPr wrap="square"/>
                    <a:lstStyle/>
                    <a:p>
                      <a:pPr algn="r"/>
                      <a:r>
                        <a:rPr sz="1050" b="0">
                          <a:solidFill>
                            <a:srgbClr val="1F2937"/>
                          </a:solidFill>
                          <a:latin typeface="Calibri"/>
                        </a:rPr>
                        <a:t>307k</a:t>
                      </a:r>
                    </a:p>
                  </a:txBody>
                  <a:tcPr marL="73152" marR="73152" marT="27432" marB="27432" anchor="ctr">
                    <a:solidFill>
                      <a:srgbClr val="FFFFFF"/>
                    </a:solidFill>
                  </a:tcPr>
                </a:tc>
                <a:tc>
                  <a:txBody>
                    <a:bodyPr wrap="square"/>
                    <a:lstStyle/>
                    <a:p>
                      <a:pPr algn="r"/>
                      <a:r>
                        <a:rPr sz="1050" b="0">
                          <a:solidFill>
                            <a:srgbClr val="1F2937"/>
                          </a:solidFill>
                          <a:latin typeface="Calibri"/>
                        </a:rPr>
                        <a:t>8</a:t>
                      </a:r>
                    </a:p>
                  </a:txBody>
                  <a:tcPr marL="73152" marR="73152" marT="27432" marB="27432" anchor="ctr">
                    <a:solidFill>
                      <a:srgbClr val="FFFFFF"/>
                    </a:solidFill>
                  </a:tcPr>
                </a:tc>
                <a:tc>
                  <a:txBody>
                    <a:bodyPr wrap="square"/>
                    <a:lstStyle/>
                    <a:p>
                      <a:pPr algn="r"/>
                      <a:r>
                        <a:rPr sz="1050" b="0">
                          <a:solidFill>
                            <a:srgbClr val="1F2937"/>
                          </a:solidFill>
                          <a:latin typeface="Calibri"/>
                        </a:rPr>
                        <a:t>14.5</a:t>
                      </a:r>
                    </a:p>
                  </a:txBody>
                  <a:tcPr marL="73152" marR="73152" marT="27432" marB="27432" anchor="ctr">
                    <a:solidFill>
                      <a:srgbClr val="FFFFFF"/>
                    </a:solidFill>
                  </a:tcPr>
                </a:tc>
                <a:tc>
                  <a:txBody>
                    <a:bodyPr wrap="square"/>
                    <a:lstStyle/>
                    <a:p>
                      <a:pPr algn="r"/>
                      <a:r>
                        <a:rPr sz="1050" b="0">
                          <a:solidFill>
                            <a:srgbClr val="1F2937"/>
                          </a:solidFill>
                          <a:latin typeface="Calibri"/>
                        </a:rPr>
                        <a:t>1.8</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2019</a:t>
                      </a:r>
                    </a:p>
                  </a:txBody>
                  <a:tcPr marL="73152" marR="73152" marT="27432" marB="27432" anchor="ctr">
                    <a:solidFill>
                      <a:srgbClr val="FFFFFF"/>
                    </a:solidFill>
                  </a:tcPr>
                </a:tc>
                <a:tc>
                  <a:txBody>
                    <a:bodyPr wrap="square"/>
                    <a:lstStyle/>
                    <a:p>
                      <a:pPr algn="r"/>
                      <a:r>
                        <a:rPr sz="1050" b="0">
                          <a:solidFill>
                            <a:srgbClr val="1F2937"/>
                          </a:solidFill>
                          <a:latin typeface="Calibri"/>
                        </a:rPr>
                        <a:t>556k</a:t>
                      </a:r>
                    </a:p>
                  </a:txBody>
                  <a:tcPr marL="73152" marR="73152" marT="27432" marB="27432" anchor="ctr">
                    <a:solidFill>
                      <a:srgbClr val="FFFFFF"/>
                    </a:solidFill>
                  </a:tcPr>
                </a:tc>
                <a:tc>
                  <a:txBody>
                    <a:bodyPr wrap="square"/>
                    <a:lstStyle/>
                    <a:p>
                      <a:pPr algn="r"/>
                      <a:r>
                        <a:rPr sz="1050" b="0">
                          <a:solidFill>
                            <a:srgbClr val="1F2937"/>
                          </a:solidFill>
                          <a:latin typeface="Calibri"/>
                        </a:rPr>
                        <a:t>82</a:t>
                      </a:r>
                    </a:p>
                  </a:txBody>
                  <a:tcPr marL="73152" marR="73152" marT="27432" marB="27432" anchor="ctr">
                    <a:solidFill>
                      <a:srgbClr val="FFFFFF"/>
                    </a:solidFill>
                  </a:tcPr>
                </a:tc>
                <a:tc>
                  <a:txBody>
                    <a:bodyPr wrap="square"/>
                    <a:lstStyle/>
                    <a:p>
                      <a:pPr algn="r"/>
                      <a:r>
                        <a:rPr sz="1050" b="0">
                          <a:solidFill>
                            <a:srgbClr val="1F2937"/>
                          </a:solidFill>
                          <a:latin typeface="Calibri"/>
                        </a:rPr>
                        <a:t>27.7</a:t>
                      </a:r>
                    </a:p>
                  </a:txBody>
                  <a:tcPr marL="73152" marR="73152" marT="27432" marB="27432" anchor="ctr">
                    <a:solidFill>
                      <a:srgbClr val="FFFFFF"/>
                    </a:solidFill>
                  </a:tcPr>
                </a:tc>
                <a:tc>
                  <a:txBody>
                    <a:bodyPr wrap="square"/>
                    <a:lstStyle/>
                    <a:p>
                      <a:pPr algn="r"/>
                      <a:r>
                        <a:rPr sz="1050" b="0">
                          <a:solidFill>
                            <a:srgbClr val="1F2937"/>
                          </a:solidFill>
                          <a:latin typeface="Calibri"/>
                        </a:rPr>
                        <a:t>1.4</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2020</a:t>
                      </a:r>
                    </a:p>
                  </a:txBody>
                  <a:tcPr marL="73152" marR="73152" marT="27432" marB="27432" anchor="ctr">
                    <a:solidFill>
                      <a:srgbClr val="FFFFFF"/>
                    </a:solidFill>
                  </a:tcPr>
                </a:tc>
                <a:tc>
                  <a:txBody>
                    <a:bodyPr wrap="square"/>
                    <a:lstStyle/>
                    <a:p>
                      <a:pPr algn="r"/>
                      <a:r>
                        <a:rPr sz="1050" b="0">
                          <a:solidFill>
                            <a:srgbClr val="1F2937"/>
                          </a:solidFill>
                          <a:latin typeface="Calibri"/>
                        </a:rPr>
                        <a:t>1.6M</a:t>
                      </a:r>
                    </a:p>
                  </a:txBody>
                  <a:tcPr marL="73152" marR="73152" marT="27432" marB="27432" anchor="ctr">
                    <a:solidFill>
                      <a:srgbClr val="FFFFFF"/>
                    </a:solidFill>
                  </a:tcPr>
                </a:tc>
                <a:tc>
                  <a:txBody>
                    <a:bodyPr wrap="square"/>
                    <a:lstStyle/>
                    <a:p>
                      <a:pPr algn="r"/>
                      <a:r>
                        <a:rPr sz="1050" b="0">
                          <a:solidFill>
                            <a:srgbClr val="1F2937"/>
                          </a:solidFill>
                          <a:latin typeface="Calibri"/>
                        </a:rPr>
                        <a:t>10</a:t>
                      </a:r>
                    </a:p>
                  </a:txBody>
                  <a:tcPr marL="73152" marR="73152" marT="27432" marB="27432" anchor="ctr">
                    <a:solidFill>
                      <a:srgbClr val="FFFFFF"/>
                    </a:solidFill>
                  </a:tcPr>
                </a:tc>
                <a:tc>
                  <a:txBody>
                    <a:bodyPr wrap="square"/>
                    <a:lstStyle/>
                    <a:p>
                      <a:pPr algn="r"/>
                      <a:r>
                        <a:rPr sz="1050" b="0">
                          <a:solidFill>
                            <a:srgbClr val="1F2937"/>
                          </a:solidFill>
                          <a:latin typeface="Calibri"/>
                        </a:rPr>
                        <a:t>3.2</a:t>
                      </a:r>
                    </a:p>
                  </a:txBody>
                  <a:tcPr marL="73152" marR="73152" marT="27432" marB="27432" anchor="ctr">
                    <a:solidFill>
                      <a:srgbClr val="FFFFFF"/>
                    </a:solidFill>
                  </a:tcPr>
                </a:tc>
                <a:tc>
                  <a:txBody>
                    <a:bodyPr wrap="square"/>
                    <a:lstStyle/>
                    <a:p>
                      <a:pPr algn="r"/>
                      <a:r>
                        <a:rPr sz="1050" b="0">
                          <a:solidFill>
                            <a:srgbClr val="1F2937"/>
                          </a:solidFill>
                          <a:latin typeface="Calibri"/>
                        </a:rPr>
                        <a:t>5.9</a:t>
                      </a:r>
                    </a:p>
                  </a:txBody>
                  <a:tcPr marL="73152" marR="73152" marT="27432" marB="27432" anchor="ctr">
                    <a:solidFill>
                      <a:srgbClr val="FFFFFF"/>
                    </a:solidFill>
                  </a:tcPr>
                </a:tc>
              </a:tr>
              <a:tr h="265176">
                <a:tc>
                  <a:txBody>
                    <a:bodyPr wrap="square"/>
                    <a:lstStyle/>
                    <a:p>
                      <a:pPr algn="l"/>
                      <a:r>
                        <a:rPr sz="1050" b="0">
                          <a:solidFill>
                            <a:srgbClr val="1F2937"/>
                          </a:solidFill>
                          <a:latin typeface="Calibri"/>
                        </a:rPr>
                        <a:t>2021</a:t>
                      </a:r>
                    </a:p>
                  </a:txBody>
                  <a:tcPr marL="73152" marR="73152" marT="27432" marB="27432" anchor="ctr">
                    <a:solidFill>
                      <a:srgbClr val="FFFFFF"/>
                    </a:solidFill>
                  </a:tcPr>
                </a:tc>
                <a:tc>
                  <a:txBody>
                    <a:bodyPr wrap="square"/>
                    <a:lstStyle/>
                    <a:p>
                      <a:pPr algn="r"/>
                      <a:r>
                        <a:rPr sz="1050" b="0">
                          <a:solidFill>
                            <a:srgbClr val="1F2937"/>
                          </a:solidFill>
                          <a:latin typeface="Calibri"/>
                        </a:rPr>
                        <a:t>3.1M</a:t>
                      </a:r>
                    </a:p>
                  </a:txBody>
                  <a:tcPr marL="73152" marR="73152" marT="27432" marB="27432" anchor="ctr">
                    <a:solidFill>
                      <a:srgbClr val="FFFFFF"/>
                    </a:solidFill>
                  </a:tcPr>
                </a:tc>
                <a:tc>
                  <a:txBody>
                    <a:bodyPr wrap="square"/>
                    <a:lstStyle/>
                    <a:p>
                      <a:pPr algn="r"/>
                      <a:r>
                        <a:rPr sz="1050" b="0">
                          <a:solidFill>
                            <a:srgbClr val="1F2937"/>
                          </a:solidFill>
                          <a:latin typeface="Calibri"/>
                        </a:rPr>
                        <a:t>3</a:t>
                      </a:r>
                    </a:p>
                  </a:txBody>
                  <a:tcPr marL="73152" marR="73152" marT="27432" marB="27432" anchor="ctr">
                    <a:solidFill>
                      <a:srgbClr val="FFFFFF"/>
                    </a:solidFill>
                  </a:tcPr>
                </a:tc>
                <a:tc>
                  <a:txBody>
                    <a:bodyPr wrap="square"/>
                    <a:lstStyle/>
                    <a:p>
                      <a:pPr algn="r"/>
                      <a:r>
                        <a:rPr sz="1050" b="0">
                          <a:solidFill>
                            <a:srgbClr val="1F2937"/>
                          </a:solidFill>
                          <a:latin typeface="Calibri"/>
                        </a:rPr>
                        <a:t>0.0</a:t>
                      </a:r>
                    </a:p>
                  </a:txBody>
                  <a:tcPr marL="73152" marR="73152" marT="27432" marB="27432" anchor="ctr">
                    <a:solidFill>
                      <a:srgbClr val="FFFFFF"/>
                    </a:solidFill>
                  </a:tcPr>
                </a:tc>
                <a:tc>
                  <a:txBody>
                    <a:bodyPr wrap="square"/>
                    <a:lstStyle/>
                    <a:p>
                      <a:pPr algn="r"/>
                      <a:r>
                        <a:rPr sz="1050" b="0">
                          <a:solidFill>
                            <a:srgbClr val="1F2937"/>
                          </a:solidFill>
                          <a:latin typeface="Calibri"/>
                        </a:rPr>
                        <a:t>26.7</a:t>
                      </a:r>
                    </a:p>
                  </a:txBody>
                  <a:tcPr marL="73152" marR="73152" marT="27432" marB="27432" anchor="ctr">
                    <a:solidFill>
                      <a:srgbClr val="FFFFFF"/>
                    </a:solidFill>
                  </a:tcPr>
                </a:tc>
              </a:tr>
            </a:tbl>
          </a:graphicData>
        </a:graphic>
      </p:graphicFrame>
      <p:sp>
        <p:nvSpPr>
          <p:cNvPr id="9" name="TextBox 8"/>
          <p:cNvSpPr txBox="1"/>
          <p:nvPr/>
        </p:nvSpPr>
        <p:spPr>
          <a:xfrm>
            <a:off x="7772400" y="5349240"/>
            <a:ext cx="3931920" cy="914400"/>
          </a:xfrm>
          <a:prstGeom prst="rect">
            <a:avLst/>
          </a:prstGeom>
          <a:noFill/>
        </p:spPr>
        <p:txBody>
          <a:bodyPr wrap="square" lIns="0" rIns="0" tIns="0" bIns="0" anchor="t">
            <a:spAutoFit/>
          </a:bodyPr>
          <a:lstStyle/>
          <a:p>
            <a:pPr algn="l">
              <a:lnSpc>
                <a:spcPct val="118000"/>
              </a:lnSpc>
              <a:spcAft>
                <a:spcPts val="1000"/>
              </a:spcAft>
            </a:pPr>
            <a:r>
              <a:rPr sz="1100" b="0" i="0">
                <a:solidFill>
                  <a:srgbClr val="1F2937"/>
                </a:solidFill>
                <a:latin typeface="Calibri"/>
              </a:rPr>
              <a:t>The spring 2021 jump in hours came from many more long jobs, 30 days and up; the jump in event counts came from short ones, under an hour. Two different feeds arriving in the same year.</a:t>
            </a:r>
          </a:p>
        </p:txBody>
      </p:sp>
      <p:sp>
        <p:nvSpPr>
          <p:cNvPr id="10" name="TextBox 9"/>
          <p:cNvSpPr txBox="1"/>
          <p:nvPr/>
        </p:nvSpPr>
        <p:spPr>
          <a:xfrm>
            <a:off x="548640" y="4572000"/>
            <a:ext cx="694944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All cities, by month. 96-hour events are a provider default (exactly four days); sub-hour events are “slow traffic due to roadwork” observations.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3: accounting for varying city sizes, how do the ten largest US cities compare?</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7</a:t>
            </a:r>
            <a:r>
              <a:rPr sz="900" b="0" i="0">
                <a:solidFill>
                  <a:srgbClr val="6B7B8C"/>
                </a:solidFill>
                <a:latin typeface="Calibri"/>
              </a:rPr>
              <a:t>, </a:t>
            </a:r>
            <a:r>
              <a:rPr sz="900" b="0" i="0" u="sng">
                <a:solidFill>
                  <a:srgbClr val="1368E5"/>
                </a:solidFill>
                <a:latin typeface="Calibri"/>
                <a:hlinkClick r:id="rId4"/>
              </a:rPr>
              <a:t>fct_city_comparison</a:t>
            </a:r>
            <a:r>
              <a:rPr sz="900" b="0" i="0">
                <a:solidFill>
                  <a:srgbClr val="6B7B8C"/>
                </a:solidFill>
                <a:latin typeface="Calibri"/>
              </a:rPr>
              <a:t>   ·   data pulled 2026-10-26</a:t>
            </a:r>
            <a:r>
              <a:rPr sz="900" b="0" i="0">
                <a:solidFill>
                  <a:srgbClr val="6B7B8C"/>
                </a:solidFill>
                <a:latin typeface="Calibri"/>
              </a:rPr>
              <a:t>   ·   9</a:t>
            </a:r>
          </a:p>
        </p:txBody>
      </p:sp>
      <p:pic>
        <p:nvPicPr>
          <p:cNvPr id="6" name="Picture 5" descr="q3_rank_bump.png"/>
          <p:cNvPicPr>
            <a:picLocks noChangeAspect="1"/>
          </p:cNvPicPr>
          <p:nvPr/>
        </p:nvPicPr>
        <p:blipFill>
          <a:blip r:embed="rId5"/>
          <a:stretch>
            <a:fillRect/>
          </a:stretch>
        </p:blipFill>
        <p:spPr>
          <a:xfrm>
            <a:off x="548640" y="1234439"/>
            <a:ext cx="4922746" cy="3931920"/>
          </a:xfrm>
          <a:prstGeom prst="rect">
            <a:avLst/>
          </a:prstGeom>
        </p:spPr>
      </p:pic>
      <p:sp>
        <p:nvSpPr>
          <p:cNvPr id="7" name="TextBox 6"/>
          <p:cNvSpPr txBox="1"/>
          <p:nvPr/>
        </p:nvSpPr>
        <p:spPr>
          <a:xfrm>
            <a:off x="5943600" y="1325880"/>
            <a:ext cx="5669280" cy="237744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Question three asks how the ten largest cities compare once you account for size. Population didn't feel like the right metric; for a truck the right one is miles of road, which I couldn't get in the time I had, so I used land area and showed population alongside it.</a:t>
            </a:r>
          </a:p>
          <a:p>
            <a:pPr algn="l">
              <a:lnSpc>
                <a:spcPct val="118000"/>
              </a:lnSpc>
              <a:spcAft>
                <a:spcPts val="1000"/>
              </a:spcAft>
            </a:pPr>
            <a:r>
              <a:rPr sz="1200" b="0" i="0">
                <a:solidFill>
                  <a:srgbClr val="1F2937"/>
                </a:solidFill>
                <a:latin typeface="Calibri"/>
              </a:rPr>
              <a:t>It barely moved the ranking. New York, Phoenix and Chicago are the top three any way you cut it, and San Diego is last. Phoenix moves to first per resident. What stands out is the spread: New York has about 81 times San Diego's hours per square mile.</a:t>
            </a:r>
          </a:p>
        </p:txBody>
      </p:sp>
      <p:graphicFrame>
        <p:nvGraphicFramePr>
          <p:cNvPr id="8" name="Table 7"/>
          <p:cNvGraphicFramePr>
            <a:graphicFrameLocks noGrp="1"/>
          </p:cNvGraphicFramePr>
          <p:nvPr/>
        </p:nvGraphicFramePr>
        <p:xfrm>
          <a:off x="5943600" y="3794760"/>
          <a:ext cx="4937760" cy="1481328"/>
        </p:xfrm>
        <a:graphic>
          <a:graphicData uri="http://schemas.openxmlformats.org/drawingml/2006/table">
            <a:tbl>
              <a:tblPr>
                <a:tableStyleId>{2D5ABB26-0587-4C30-8999-92F81FD0307C}</a:tableStyleId>
              </a:tblPr>
              <a:tblGrid>
                <a:gridCol w="1371600"/>
                <a:gridCol w="1005840"/>
                <a:gridCol w="1188720"/>
                <a:gridCol w="1371600"/>
              </a:tblGrid>
              <a:tr h="246888">
                <a:tc>
                  <a:txBody>
                    <a:bodyPr wrap="square"/>
                    <a:lstStyle/>
                    <a:p>
                      <a:pPr algn="l"/>
                      <a:r>
                        <a:rPr sz="1050" b="1">
                          <a:solidFill>
                            <a:srgbClr val="6B7B8C"/>
                          </a:solidFill>
                          <a:latin typeface="Calibri"/>
                        </a:rPr>
                        <a:t>City</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Hours</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per sq mile</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per 100k people</a:t>
                      </a:r>
                    </a:p>
                  </a:txBody>
                  <a:tcPr marL="73152" marR="73152" marT="27432" marB="27432" anchor="ctr">
                    <a:solidFill>
                      <a:srgbClr val="F1F4F8"/>
                    </a:solidFill>
                    <a:lnB w="12700">
                      <a:solidFill>
                        <a:srgbClr val="DCE3EA"/>
                      </a:solidFill>
                    </a:lnB>
                  </a:tcPr>
                </a:tc>
              </a:tr>
              <a:tr h="246888">
                <a:tc>
                  <a:txBody>
                    <a:bodyPr wrap="square"/>
                    <a:lstStyle/>
                    <a:p>
                      <a:pPr algn="l"/>
                      <a:r>
                        <a:rPr sz="1050" b="0">
                          <a:solidFill>
                            <a:srgbClr val="1F2937"/>
                          </a:solidFill>
                          <a:latin typeface="Calibri"/>
                        </a:rPr>
                        <a:t>New York</a:t>
                      </a:r>
                    </a:p>
                  </a:txBody>
                  <a:tcPr marL="73152" marR="73152" marT="27432" marB="27432" anchor="ctr">
                    <a:solidFill>
                      <a:srgbClr val="FFFFFF"/>
                    </a:solidFill>
                  </a:tcPr>
                </a:tc>
                <a:tc>
                  <a:txBody>
                    <a:bodyPr wrap="square"/>
                    <a:lstStyle/>
                    <a:p>
                      <a:pPr algn="r"/>
                      <a:r>
                        <a:rPr sz="1050" b="0">
                          <a:solidFill>
                            <a:srgbClr val="1F2937"/>
                          </a:solidFill>
                          <a:latin typeface="Calibri"/>
                        </a:rPr>
                        <a:t>108M</a:t>
                      </a:r>
                    </a:p>
                  </a:txBody>
                  <a:tcPr marL="73152" marR="73152" marT="27432" marB="27432" anchor="ctr">
                    <a:solidFill>
                      <a:srgbClr val="FFFFFF"/>
                    </a:solidFill>
                  </a:tcPr>
                </a:tc>
                <a:tc>
                  <a:txBody>
                    <a:bodyPr wrap="square"/>
                    <a:lstStyle/>
                    <a:p>
                      <a:pPr algn="r"/>
                      <a:r>
                        <a:rPr sz="1050" b="0">
                          <a:solidFill>
                            <a:srgbClr val="1F2937"/>
                          </a:solidFill>
                          <a:latin typeface="Calibri"/>
                        </a:rPr>
                        <a:t>358k</a:t>
                      </a:r>
                    </a:p>
                  </a:txBody>
                  <a:tcPr marL="73152" marR="73152" marT="27432" marB="27432" anchor="ctr">
                    <a:solidFill>
                      <a:srgbClr val="FFFFFF"/>
                    </a:solidFill>
                  </a:tcPr>
                </a:tc>
                <a:tc>
                  <a:txBody>
                    <a:bodyPr wrap="square"/>
                    <a:lstStyle/>
                    <a:p>
                      <a:pPr algn="r"/>
                      <a:r>
                        <a:rPr sz="1050" b="0">
                          <a:solidFill>
                            <a:srgbClr val="1F2937"/>
                          </a:solidFill>
                          <a:latin typeface="Calibri"/>
                        </a:rPr>
                        <a:t>1.2M</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Phoenix</a:t>
                      </a:r>
                    </a:p>
                  </a:txBody>
                  <a:tcPr marL="73152" marR="73152" marT="27432" marB="27432" anchor="ctr">
                    <a:solidFill>
                      <a:srgbClr val="FFFFFF"/>
                    </a:solidFill>
                  </a:tcPr>
                </a:tc>
                <a:tc>
                  <a:txBody>
                    <a:bodyPr wrap="square"/>
                    <a:lstStyle/>
                    <a:p>
                      <a:pPr algn="r"/>
                      <a:r>
                        <a:rPr sz="1050" b="0">
                          <a:solidFill>
                            <a:srgbClr val="1F2937"/>
                          </a:solidFill>
                          <a:latin typeface="Calibri"/>
                        </a:rPr>
                        <a:t>92.2M</a:t>
                      </a:r>
                    </a:p>
                  </a:txBody>
                  <a:tcPr marL="73152" marR="73152" marT="27432" marB="27432" anchor="ctr">
                    <a:solidFill>
                      <a:srgbClr val="FFFFFF"/>
                    </a:solidFill>
                  </a:tcPr>
                </a:tc>
                <a:tc>
                  <a:txBody>
                    <a:bodyPr wrap="square"/>
                    <a:lstStyle/>
                    <a:p>
                      <a:pPr algn="r"/>
                      <a:r>
                        <a:rPr sz="1050" b="0">
                          <a:solidFill>
                            <a:srgbClr val="1F2937"/>
                          </a:solidFill>
                          <a:latin typeface="Calibri"/>
                        </a:rPr>
                        <a:t>178k</a:t>
                      </a:r>
                    </a:p>
                  </a:txBody>
                  <a:tcPr marL="73152" marR="73152" marT="27432" marB="27432" anchor="ctr">
                    <a:solidFill>
                      <a:srgbClr val="FFFFFF"/>
                    </a:solidFill>
                  </a:tcPr>
                </a:tc>
                <a:tc>
                  <a:txBody>
                    <a:bodyPr wrap="square"/>
                    <a:lstStyle/>
                    <a:p>
                      <a:pPr algn="r"/>
                      <a:r>
                        <a:rPr sz="1050" b="0">
                          <a:solidFill>
                            <a:srgbClr val="1F2937"/>
                          </a:solidFill>
                          <a:latin typeface="Calibri"/>
                        </a:rPr>
                        <a:t>5.7M</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Chicago</a:t>
                      </a:r>
                    </a:p>
                  </a:txBody>
                  <a:tcPr marL="73152" marR="73152" marT="27432" marB="27432" anchor="ctr">
                    <a:solidFill>
                      <a:srgbClr val="FFFFFF"/>
                    </a:solidFill>
                  </a:tcPr>
                </a:tc>
                <a:tc>
                  <a:txBody>
                    <a:bodyPr wrap="square"/>
                    <a:lstStyle/>
                    <a:p>
                      <a:pPr algn="r"/>
                      <a:r>
                        <a:rPr sz="1050" b="0">
                          <a:solidFill>
                            <a:srgbClr val="1F2937"/>
                          </a:solidFill>
                          <a:latin typeface="Calibri"/>
                        </a:rPr>
                        <a:t>25.7M</a:t>
                      </a:r>
                    </a:p>
                  </a:txBody>
                  <a:tcPr marL="73152" marR="73152" marT="27432" marB="27432" anchor="ctr">
                    <a:solidFill>
                      <a:srgbClr val="FFFFFF"/>
                    </a:solidFill>
                  </a:tcPr>
                </a:tc>
                <a:tc>
                  <a:txBody>
                    <a:bodyPr wrap="square"/>
                    <a:lstStyle/>
                    <a:p>
                      <a:pPr algn="r"/>
                      <a:r>
                        <a:rPr sz="1050" b="0">
                          <a:solidFill>
                            <a:srgbClr val="1F2937"/>
                          </a:solidFill>
                          <a:latin typeface="Calibri"/>
                        </a:rPr>
                        <a:t>113k</a:t>
                      </a:r>
                    </a:p>
                  </a:txBody>
                  <a:tcPr marL="73152" marR="73152" marT="27432" marB="27432" anchor="ctr">
                    <a:solidFill>
                      <a:srgbClr val="FFFFFF"/>
                    </a:solidFill>
                  </a:tcPr>
                </a:tc>
                <a:tc>
                  <a:txBody>
                    <a:bodyPr wrap="square"/>
                    <a:lstStyle/>
                    <a:p>
                      <a:pPr algn="r"/>
                      <a:r>
                        <a:rPr sz="1050" b="0">
                          <a:solidFill>
                            <a:srgbClr val="1F2937"/>
                          </a:solidFill>
                          <a:latin typeface="Calibri"/>
                        </a:rPr>
                        <a:t>934k</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Houston</a:t>
                      </a:r>
                    </a:p>
                  </a:txBody>
                  <a:tcPr marL="73152" marR="73152" marT="27432" marB="27432" anchor="ctr">
                    <a:solidFill>
                      <a:srgbClr val="FFFFFF"/>
                    </a:solidFill>
                  </a:tcPr>
                </a:tc>
                <a:tc>
                  <a:txBody>
                    <a:bodyPr wrap="square"/>
                    <a:lstStyle/>
                    <a:p>
                      <a:pPr algn="r"/>
                      <a:r>
                        <a:rPr sz="1050" b="0">
                          <a:solidFill>
                            <a:srgbClr val="1F2937"/>
                          </a:solidFill>
                          <a:latin typeface="Calibri"/>
                        </a:rPr>
                        <a:t>18.2M</a:t>
                      </a:r>
                    </a:p>
                  </a:txBody>
                  <a:tcPr marL="73152" marR="73152" marT="27432" marB="27432" anchor="ctr">
                    <a:solidFill>
                      <a:srgbClr val="FFFFFF"/>
                    </a:solidFill>
                  </a:tcPr>
                </a:tc>
                <a:tc>
                  <a:txBody>
                    <a:bodyPr wrap="square"/>
                    <a:lstStyle/>
                    <a:p>
                      <a:pPr algn="r"/>
                      <a:r>
                        <a:rPr sz="1050" b="0">
                          <a:solidFill>
                            <a:srgbClr val="1F2937"/>
                          </a:solidFill>
                          <a:latin typeface="Calibri"/>
                        </a:rPr>
                        <a:t>28k</a:t>
                      </a:r>
                    </a:p>
                  </a:txBody>
                  <a:tcPr marL="73152" marR="73152" marT="27432" marB="27432" anchor="ctr">
                    <a:solidFill>
                      <a:srgbClr val="FFFFFF"/>
                    </a:solidFill>
                  </a:tcPr>
                </a:tc>
                <a:tc>
                  <a:txBody>
                    <a:bodyPr wrap="square"/>
                    <a:lstStyle/>
                    <a:p>
                      <a:pPr algn="r"/>
                      <a:r>
                        <a:rPr sz="1050" b="0">
                          <a:solidFill>
                            <a:srgbClr val="1F2937"/>
                          </a:solidFill>
                          <a:latin typeface="Calibri"/>
                        </a:rPr>
                        <a:t>790k</a:t>
                      </a:r>
                    </a:p>
                  </a:txBody>
                  <a:tcPr marL="73152" marR="73152" marT="27432" marB="27432" anchor="ctr">
                    <a:solidFill>
                      <a:srgbClr val="FFFFFF"/>
                    </a:solidFill>
                  </a:tcPr>
                </a:tc>
              </a:tr>
              <a:tr h="246888">
                <a:tc>
                  <a:txBody>
                    <a:bodyPr wrap="square"/>
                    <a:lstStyle/>
                    <a:p>
                      <a:pPr algn="l"/>
                      <a:r>
                        <a:rPr sz="1050" b="0">
                          <a:solidFill>
                            <a:srgbClr val="1F2937"/>
                          </a:solidFill>
                          <a:latin typeface="Calibri"/>
                        </a:rPr>
                        <a:t>Philadelphia</a:t>
                      </a:r>
                    </a:p>
                  </a:txBody>
                  <a:tcPr marL="73152" marR="73152" marT="27432" marB="27432" anchor="ctr">
                    <a:solidFill>
                      <a:srgbClr val="FFFFFF"/>
                    </a:solidFill>
                  </a:tcPr>
                </a:tc>
                <a:tc>
                  <a:txBody>
                    <a:bodyPr wrap="square"/>
                    <a:lstStyle/>
                    <a:p>
                      <a:pPr algn="r"/>
                      <a:r>
                        <a:rPr sz="1050" b="0">
                          <a:solidFill>
                            <a:srgbClr val="1F2937"/>
                          </a:solidFill>
                          <a:latin typeface="Calibri"/>
                        </a:rPr>
                        <a:t>11.9M</a:t>
                      </a:r>
                    </a:p>
                  </a:txBody>
                  <a:tcPr marL="73152" marR="73152" marT="27432" marB="27432" anchor="ctr">
                    <a:solidFill>
                      <a:srgbClr val="FFFFFF"/>
                    </a:solidFill>
                  </a:tcPr>
                </a:tc>
                <a:tc>
                  <a:txBody>
                    <a:bodyPr wrap="square"/>
                    <a:lstStyle/>
                    <a:p>
                      <a:pPr algn="r"/>
                      <a:r>
                        <a:rPr sz="1050" b="0">
                          <a:solidFill>
                            <a:srgbClr val="1F2937"/>
                          </a:solidFill>
                          <a:latin typeface="Calibri"/>
                        </a:rPr>
                        <a:t>88k</a:t>
                      </a:r>
                    </a:p>
                  </a:txBody>
                  <a:tcPr marL="73152" marR="73152" marT="27432" marB="27432" anchor="ctr">
                    <a:solidFill>
                      <a:srgbClr val="FFFFFF"/>
                    </a:solidFill>
                  </a:tcPr>
                </a:tc>
                <a:tc>
                  <a:txBody>
                    <a:bodyPr wrap="square"/>
                    <a:lstStyle/>
                    <a:p>
                      <a:pPr algn="r"/>
                      <a:r>
                        <a:rPr sz="1050" b="0">
                          <a:solidFill>
                            <a:srgbClr val="1F2937"/>
                          </a:solidFill>
                          <a:latin typeface="Calibri"/>
                        </a:rPr>
                        <a:t>741k</a:t>
                      </a:r>
                    </a:p>
                  </a:txBody>
                  <a:tcPr marL="73152" marR="73152" marT="27432" marB="27432" anchor="ctr">
                    <a:solidFill>
                      <a:srgbClr val="FFFFFF"/>
                    </a:solidFill>
                  </a:tcPr>
                </a:tc>
              </a:tr>
            </a:tbl>
          </a:graphicData>
        </a:graphic>
      </p:graphicFrame>
      <p:sp>
        <p:nvSpPr>
          <p:cNvPr id="9" name="TextBox 8"/>
          <p:cNvSpPr txBox="1"/>
          <p:nvPr/>
        </p:nvSpPr>
        <p:spPr>
          <a:xfrm>
            <a:off x="5943600" y="5349240"/>
            <a:ext cx="5669280" cy="822960"/>
          </a:xfrm>
          <a:prstGeom prst="rect">
            <a:avLst/>
          </a:prstGeom>
          <a:noFill/>
        </p:spPr>
        <p:txBody>
          <a:bodyPr wrap="square" lIns="0" rIns="0" tIns="0" bIns="0" anchor="t">
            <a:spAutoFit/>
          </a:bodyPr>
          <a:lstStyle/>
          <a:p>
            <a:pPr algn="l">
              <a:lnSpc>
                <a:spcPct val="118000"/>
              </a:lnSpc>
              <a:spcAft>
                <a:spcPts val="1000"/>
              </a:spcAft>
            </a:pPr>
            <a:r>
              <a:rPr sz="1100" b="0" i="0">
                <a:solidFill>
                  <a:srgbClr val="1F2937"/>
                </a:solidFill>
                <a:latin typeface="Calibri"/>
              </a:rPr>
              <a:t>I don't think any two big cities differ eighty-fold in actual roadwork. I think it is how much each state publishes to these feeds. That is a hypothesis; I can't prove it from this data alone, and the last slide says what would.</a:t>
            </a:r>
          </a:p>
        </p:txBody>
      </p:sp>
      <p:sp>
        <p:nvSpPr>
          <p:cNvPr id="10" name="TextBox 9"/>
          <p:cNvSpPr txBox="1"/>
          <p:nvPr/>
        </p:nvSpPr>
        <p:spPr>
          <a:xfrm>
            <a:off x="548640" y="5257800"/>
            <a:ext cx="512064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Land area and population: 2020 Census, city proper. Top five of the ten shown in the table; the chart has all 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4: which route poses the greatest risk because of construction?</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8</a:t>
            </a:r>
            <a:r>
              <a:rPr sz="900" b="0" i="0">
                <a:solidFill>
                  <a:srgbClr val="6B7B8C"/>
                </a:solidFill>
                <a:latin typeface="Calibri"/>
              </a:rPr>
              <a:t>, </a:t>
            </a:r>
            <a:r>
              <a:rPr sz="900" b="0" i="0" u="sng">
                <a:solidFill>
                  <a:srgbClr val="1368E5"/>
                </a:solidFill>
                <a:latin typeface="Calibri"/>
                <a:hlinkClick r:id="rId4"/>
              </a:rPr>
              <a:t>route matching</a:t>
            </a:r>
            <a:r>
              <a:rPr sz="900" b="0" i="0">
                <a:solidFill>
                  <a:srgbClr val="6B7B8C"/>
                </a:solidFill>
                <a:latin typeface="Calibri"/>
              </a:rPr>
              <a:t>, </a:t>
            </a:r>
            <a:r>
              <a:rPr sz="900" b="0" i="0" u="sng">
                <a:solidFill>
                  <a:srgbClr val="1368E5"/>
                </a:solidFill>
                <a:latin typeface="Calibri"/>
                <a:hlinkClick r:id="rId5"/>
              </a:rPr>
              <a:t>bridge check</a:t>
            </a:r>
            <a:r>
              <a:rPr sz="900" b="0" i="0">
                <a:solidFill>
                  <a:srgbClr val="6B7B8C"/>
                </a:solidFill>
                <a:latin typeface="Calibri"/>
              </a:rPr>
              <a:t>   ·   data pulled 2026-10-26</a:t>
            </a:r>
            <a:r>
              <a:rPr sz="900" b="0" i="0">
                <a:solidFill>
                  <a:srgbClr val="6B7B8C"/>
                </a:solidFill>
                <a:latin typeface="Calibri"/>
              </a:rPr>
              <a:t>   ·   10</a:t>
            </a:r>
          </a:p>
        </p:txBody>
      </p:sp>
      <p:pic>
        <p:nvPicPr>
          <p:cNvPr id="6" name="Picture 5" descr="q4_routes.png"/>
          <p:cNvPicPr>
            <a:picLocks noChangeAspect="1"/>
          </p:cNvPicPr>
          <p:nvPr/>
        </p:nvPicPr>
        <p:blipFill>
          <a:blip r:embed="rId6"/>
          <a:stretch>
            <a:fillRect/>
          </a:stretch>
        </p:blipFill>
        <p:spPr>
          <a:xfrm>
            <a:off x="548640" y="1234439"/>
            <a:ext cx="6766560" cy="3012282"/>
          </a:xfrm>
          <a:prstGeom prst="rect">
            <a:avLst/>
          </a:prstGeom>
        </p:spPr>
      </p:pic>
      <p:sp>
        <p:nvSpPr>
          <p:cNvPr id="7" name="TextBox 6"/>
          <p:cNvSpPr txBox="1"/>
          <p:nvPr/>
        </p:nvSpPr>
        <p:spPr>
          <a:xfrm>
            <a:off x="8503920" y="1325880"/>
            <a:ext cx="3108960" cy="365760"/>
          </a:xfrm>
          <a:prstGeom prst="rect">
            <a:avLst/>
          </a:prstGeom>
          <a:noFill/>
        </p:spPr>
        <p:txBody>
          <a:bodyPr wrap="square" lIns="0" rIns="0" tIns="0" bIns="0" anchor="t">
            <a:spAutoFit/>
          </a:bodyPr>
          <a:lstStyle/>
          <a:p>
            <a:pPr algn="l">
              <a:lnSpc>
                <a:spcPct val="110000"/>
              </a:lnSpc>
              <a:spcAft>
                <a:spcPts val="400"/>
              </a:spcAft>
            </a:pPr>
            <a:r>
              <a:rPr sz="1250" b="1" i="0">
                <a:solidFill>
                  <a:srgbClr val="1F2937"/>
                </a:solidFill>
                <a:latin typeface="Calibri"/>
              </a:rPr>
              <a:t>Leader by year, hours per mile</a:t>
            </a:r>
          </a:p>
        </p:txBody>
      </p:sp>
      <p:graphicFrame>
        <p:nvGraphicFramePr>
          <p:cNvPr id="8" name="Table 7"/>
          <p:cNvGraphicFramePr>
            <a:graphicFrameLocks noGrp="1"/>
          </p:cNvGraphicFramePr>
          <p:nvPr/>
        </p:nvGraphicFramePr>
        <p:xfrm>
          <a:off x="8503920" y="1737360"/>
          <a:ext cx="3108960" cy="1645920"/>
        </p:xfrm>
        <a:graphic>
          <a:graphicData uri="http://schemas.openxmlformats.org/drawingml/2006/table">
            <a:tbl>
              <a:tblPr>
                <a:tableStyleId>{2D5ABB26-0587-4C30-8999-92F81FD0307C}</a:tableStyleId>
              </a:tblPr>
              <a:tblGrid>
                <a:gridCol w="640080"/>
                <a:gridCol w="1234440"/>
                <a:gridCol w="1234440"/>
              </a:tblGrid>
              <a:tr h="274320">
                <a:tc>
                  <a:txBody>
                    <a:bodyPr wrap="square"/>
                    <a:lstStyle/>
                    <a:p>
                      <a:pPr algn="l"/>
                      <a:r>
                        <a:rPr sz="1050" b="1">
                          <a:solidFill>
                            <a:srgbClr val="6B7B8C"/>
                          </a:solidFill>
                          <a:latin typeface="Calibri"/>
                        </a:rPr>
                        <a:t>Year</a:t>
                      </a:r>
                    </a:p>
                  </a:txBody>
                  <a:tcPr marL="73152" marR="73152" marT="27432" marB="27432" anchor="ctr">
                    <a:solidFill>
                      <a:srgbClr val="F1F4F8"/>
                    </a:solidFill>
                    <a:lnB w="12700">
                      <a:solidFill>
                        <a:srgbClr val="DCE3EA"/>
                      </a:solidFill>
                    </a:lnB>
                  </a:tcPr>
                </a:tc>
                <a:tc>
                  <a:txBody>
                    <a:bodyPr wrap="square"/>
                    <a:lstStyle/>
                    <a:p>
                      <a:pPr algn="l"/>
                      <a:r>
                        <a:rPr sz="1050" b="1">
                          <a:solidFill>
                            <a:srgbClr val="6B7B8C"/>
                          </a:solidFill>
                          <a:latin typeface="Calibri"/>
                        </a:rPr>
                        <a:t>1st</a:t>
                      </a:r>
                    </a:p>
                  </a:txBody>
                  <a:tcPr marL="73152" marR="73152" marT="27432" marB="27432" anchor="ctr">
                    <a:solidFill>
                      <a:srgbClr val="F1F4F8"/>
                    </a:solidFill>
                    <a:lnB w="12700">
                      <a:solidFill>
                        <a:srgbClr val="DCE3EA"/>
                      </a:solidFill>
                    </a:lnB>
                  </a:tcPr>
                </a:tc>
                <a:tc>
                  <a:txBody>
                    <a:bodyPr wrap="square"/>
                    <a:lstStyle/>
                    <a:p>
                      <a:pPr algn="l"/>
                      <a:r>
                        <a:rPr sz="1050" b="1">
                          <a:solidFill>
                            <a:srgbClr val="6B7B8C"/>
                          </a:solidFill>
                          <a:latin typeface="Calibri"/>
                        </a:rPr>
                        <a:t>2nd</a:t>
                      </a:r>
                    </a:p>
                  </a:txBody>
                  <a:tcPr marL="73152" marR="73152" marT="27432" marB="27432" anchor="ctr">
                    <a:solidFill>
                      <a:srgbClr val="F1F4F8"/>
                    </a:solidFill>
                    <a:lnB w="12700">
                      <a:solidFill>
                        <a:srgbClr val="DCE3EA"/>
                      </a:solidFill>
                    </a:lnB>
                  </a:tcPr>
                </a:tc>
              </a:tr>
              <a:tr h="274320">
                <a:tc>
                  <a:txBody>
                    <a:bodyPr wrap="square"/>
                    <a:lstStyle/>
                    <a:p>
                      <a:pPr algn="l"/>
                      <a:r>
                        <a:rPr sz="1100" b="0">
                          <a:solidFill>
                            <a:srgbClr val="1F2937"/>
                          </a:solidFill>
                          <a:latin typeface="Calibri"/>
                        </a:rPr>
                        <a:t>2017</a:t>
                      </a:r>
                    </a:p>
                  </a:txBody>
                  <a:tcPr marL="73152" marR="73152" marT="27432" marB="27432" anchor="ctr">
                    <a:solidFill>
                      <a:srgbClr val="FFFFFF"/>
                    </a:solidFill>
                  </a:tcPr>
                </a:tc>
                <a:tc>
                  <a:txBody>
                    <a:bodyPr wrap="square"/>
                    <a:lstStyle/>
                    <a:p>
                      <a:pPr algn="l"/>
                      <a:r>
                        <a:rPr sz="1100" b="0">
                          <a:solidFill>
                            <a:srgbClr val="1F2937"/>
                          </a:solidFill>
                          <a:latin typeface="Calibri"/>
                        </a:rPr>
                        <a:t>San Leandro</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2018</a:t>
                      </a:r>
                    </a:p>
                  </a:txBody>
                  <a:tcPr marL="73152" marR="73152" marT="27432" marB="27432" anchor="ctr">
                    <a:solidFill>
                      <a:srgbClr val="FFFFFF"/>
                    </a:solidFill>
                  </a:tcPr>
                </a:tc>
                <a:tc>
                  <a:txBody>
                    <a:bodyPr wrap="square"/>
                    <a:lstStyle/>
                    <a:p>
                      <a:pPr algn="l"/>
                      <a:r>
                        <a:rPr sz="1100" b="0">
                          <a:solidFill>
                            <a:srgbClr val="1F2937"/>
                          </a:solidFill>
                          <a:latin typeface="Calibri"/>
                        </a:rPr>
                        <a:t>San Leandro</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2019</a:t>
                      </a:r>
                    </a:p>
                  </a:txBody>
                  <a:tcPr marL="73152" marR="73152" marT="27432" marB="27432" anchor="ctr">
                    <a:solidFill>
                      <a:srgbClr val="FFFFFF"/>
                    </a:solidFill>
                  </a:tcPr>
                </a:tc>
                <a:tc>
                  <a:txBody>
                    <a:bodyPr wrap="square"/>
                    <a:lstStyle/>
                    <a:p>
                      <a:pPr algn="l"/>
                      <a:r>
                        <a:rPr sz="1100" b="0">
                          <a:solidFill>
                            <a:srgbClr val="1F2937"/>
                          </a:solidFill>
                          <a:latin typeface="Calibri"/>
                        </a:rPr>
                        <a:t>San Rafael</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2020</a:t>
                      </a:r>
                    </a:p>
                  </a:txBody>
                  <a:tcPr marL="73152" marR="73152" marT="27432" marB="27432" anchor="ctr">
                    <a:solidFill>
                      <a:srgbClr val="FFFFFF"/>
                    </a:solidFill>
                  </a:tcPr>
                </a:tc>
                <a:tc>
                  <a:txBody>
                    <a:bodyPr wrap="square"/>
                    <a:lstStyle/>
                    <a:p>
                      <a:pPr algn="l"/>
                      <a:r>
                        <a:rPr sz="1100" b="0">
                          <a:solidFill>
                            <a:srgbClr val="1F2937"/>
                          </a:solidFill>
                          <a:latin typeface="Calibri"/>
                        </a:rPr>
                        <a:t>San Rafael</a:t>
                      </a:r>
                    </a:p>
                  </a:txBody>
                  <a:tcPr marL="73152" marR="73152" marT="27432" marB="27432" anchor="ctr">
                    <a:solidFill>
                      <a:srgbClr val="FFFFFF"/>
                    </a:solidFill>
                  </a:tcPr>
                </a:tc>
                <a:tc>
                  <a:txBody>
                    <a:bodyPr wrap="square"/>
                    <a:lstStyle/>
                    <a:p>
                      <a:pPr algn="l"/>
                      <a:r>
                        <a:rPr sz="1100" b="0">
                          <a:solidFill>
                            <a:srgbClr val="1F2937"/>
                          </a:solidFill>
                          <a:latin typeface="Calibri"/>
                        </a:rPr>
                        <a:t>San Leandro</a:t>
                      </a:r>
                    </a:p>
                  </a:txBody>
                  <a:tcPr marL="73152" marR="73152" marT="27432" marB="27432" anchor="ctr">
                    <a:solidFill>
                      <a:srgbClr val="FFFFFF"/>
                    </a:solidFill>
                  </a:tcPr>
                </a:tc>
              </a:tr>
              <a:tr h="274320">
                <a:tc>
                  <a:txBody>
                    <a:bodyPr wrap="square"/>
                    <a:lstStyle/>
                    <a:p>
                      <a:pPr algn="l"/>
                      <a:r>
                        <a:rPr sz="1100" b="0">
                          <a:solidFill>
                            <a:srgbClr val="1F2937"/>
                          </a:solidFill>
                          <a:latin typeface="Calibri"/>
                        </a:rPr>
                        <a:t>2021</a:t>
                      </a:r>
                    </a:p>
                  </a:txBody>
                  <a:tcPr marL="73152" marR="73152" marT="27432" marB="27432" anchor="ctr">
                    <a:solidFill>
                      <a:srgbClr val="FFFFFF"/>
                    </a:solidFill>
                  </a:tcPr>
                </a:tc>
                <a:tc>
                  <a:txBody>
                    <a:bodyPr wrap="square"/>
                    <a:lstStyle/>
                    <a:p>
                      <a:pPr algn="l"/>
                      <a:r>
                        <a:rPr sz="1100" b="0">
                          <a:solidFill>
                            <a:srgbClr val="1F2937"/>
                          </a:solidFill>
                          <a:latin typeface="Calibri"/>
                        </a:rPr>
                        <a:t>Berkeley</a:t>
                      </a:r>
                    </a:p>
                  </a:txBody>
                  <a:tcPr marL="73152" marR="73152" marT="27432" marB="27432" anchor="ctr">
                    <a:solidFill>
                      <a:srgbClr val="FFFFFF"/>
                    </a:solidFill>
                  </a:tcPr>
                </a:tc>
                <a:tc>
                  <a:txBody>
                    <a:bodyPr wrap="square"/>
                    <a:lstStyle/>
                    <a:p>
                      <a:pPr algn="l"/>
                      <a:r>
                        <a:rPr sz="1100" b="0">
                          <a:solidFill>
                            <a:srgbClr val="1F2937"/>
                          </a:solidFill>
                          <a:latin typeface="Calibri"/>
                        </a:rPr>
                        <a:t>San Rafael</a:t>
                      </a:r>
                    </a:p>
                  </a:txBody>
                  <a:tcPr marL="73152" marR="73152" marT="27432" marB="27432" anchor="ctr">
                    <a:solidFill>
                      <a:srgbClr val="FFFFFF"/>
                    </a:solidFill>
                  </a:tcPr>
                </a:tc>
              </a:tr>
            </a:tbl>
          </a:graphicData>
        </a:graphic>
      </p:graphicFrame>
      <p:sp>
        <p:nvSpPr>
          <p:cNvPr id="9" name="TextBox 8"/>
          <p:cNvSpPr txBox="1"/>
          <p:nvPr/>
        </p:nvSpPr>
        <p:spPr>
          <a:xfrm>
            <a:off x="548640" y="4114800"/>
            <a:ext cx="11064240" cy="2011680"/>
          </a:xfrm>
          <a:prstGeom prst="rect">
            <a:avLst/>
          </a:prstGeom>
          <a:noFill/>
        </p:spPr>
        <p:txBody>
          <a:bodyPr wrap="square" lIns="0" rIns="0" tIns="0" bIns="0" anchor="t">
            <a:spAutoFit/>
          </a:bodyPr>
          <a:lstStyle/>
          <a:p>
            <a:pPr algn="l">
              <a:lnSpc>
                <a:spcPct val="118000"/>
              </a:lnSpc>
              <a:spcAft>
                <a:spcPts val="1000"/>
              </a:spcAft>
            </a:pPr>
            <a:r>
              <a:rPr sz="1150" b="0" i="0">
                <a:solidFill>
                  <a:srgbClr val="1F2937"/>
                </a:solidFill>
                <a:latin typeface="Calibri"/>
              </a:rPr>
              <a:t>Each route came as a list of about 700 points along the road, a few dozen meters apart, and each construction event is a point too. So I counted an event toward a route if it fell within 100 meters of any of the route's points, checking both ends of the event and, for the short ones, a few points along the line between them. Then I added up the hours per route and divided by the route's length, so a longer route isn't riskier just for being long. It is all </a:t>
            </a:r>
            <a:r>
              <a:rPr sz="1150" b="0" i="0" u="sng">
                <a:solidFill>
                  <a:srgbClr val="1368E5"/>
                </a:solidFill>
                <a:latin typeface="Calibri"/>
                <a:hlinkClick r:id="rId4"/>
              </a:rPr>
              <a:t>SQL in the repo</a:t>
            </a:r>
            <a:r>
              <a:rPr sz="1150" b="0" i="0">
                <a:solidFill>
                  <a:srgbClr val="1F2937"/>
                </a:solidFill>
                <a:latin typeface="Calibri"/>
              </a:rPr>
              <a:t>.</a:t>
            </a:r>
          </a:p>
          <a:p>
            <a:pPr algn="l">
              <a:lnSpc>
                <a:spcPct val="118000"/>
              </a:lnSpc>
              <a:spcAft>
                <a:spcPts val="1000"/>
              </a:spcAft>
            </a:pPr>
            <a:r>
              <a:rPr sz="1150" b="0" i="0">
                <a:solidFill>
                  <a:srgbClr val="1F2937"/>
                </a:solidFill>
                <a:latin typeface="Calibri"/>
              </a:rPr>
              <a:t>Berkeley carries the most construction per mile, over the five years and in the most recent year, and weighting by severity gives the same order. But the leader changed every couple of years, and Berkeley's 2021 is 71% of its five-year total, the same 2021 effect as the cities. To make sense of that I </a:t>
            </a:r>
            <a:r>
              <a:rPr sz="1150" b="0" i="0" u="sng">
                <a:solidFill>
                  <a:srgbClr val="1368E5"/>
                </a:solidFill>
                <a:latin typeface="Calibri"/>
                <a:hlinkClick r:id="rId5"/>
              </a:rPr>
              <a:t>checked where the routes go</a:t>
            </a:r>
            <a:r>
              <a:rPr sz="1150" b="0" i="0">
                <a:solidFill>
                  <a:srgbClr val="1F2937"/>
                </a:solidFill>
                <a:latin typeface="Calibri"/>
              </a:rPr>
              <a:t>: Berkeley and San Leandro both cross the Bay Bridge (their points pass 165 m from Yerba Buena Island), San Rafael crosses the Golden Gate (87 m from mid-span), and San Mateo and Pacifica stay on the peninsula. The three bridge routes are the top three every year; Pacifica is at or near the bottom every year.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4: checking what the matching actually found</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query 9</a:t>
            </a:r>
            <a:r>
              <a:rPr sz="900" b="0" i="0">
                <a:solidFill>
                  <a:srgbClr val="6B7B8C"/>
                </a:solidFill>
                <a:latin typeface="Calibri"/>
              </a:rPr>
              <a:t>, </a:t>
            </a:r>
            <a:r>
              <a:rPr sz="900" b="0" i="0" u="sng">
                <a:solidFill>
                  <a:srgbClr val="1368E5"/>
                </a:solidFill>
                <a:latin typeface="Calibri"/>
                <a:hlinkClick r:id="rId4"/>
              </a:rPr>
              <a:t>route matching</a:t>
            </a:r>
            <a:r>
              <a:rPr sz="900" b="0" i="0">
                <a:solidFill>
                  <a:srgbClr val="6B7B8C"/>
                </a:solidFill>
                <a:latin typeface="Calibri"/>
              </a:rPr>
              <a:t>   ·   data pulled 2026-10-26</a:t>
            </a:r>
            <a:r>
              <a:rPr sz="900" b="0" i="0">
                <a:solidFill>
                  <a:srgbClr val="6B7B8C"/>
                </a:solidFill>
                <a:latin typeface="Calibri"/>
              </a:rPr>
              <a:t>   ·   11</a:t>
            </a:r>
          </a:p>
        </p:txBody>
      </p:sp>
      <p:graphicFrame>
        <p:nvGraphicFramePr>
          <p:cNvPr id="6" name="Table 5"/>
          <p:cNvGraphicFramePr>
            <a:graphicFrameLocks noGrp="1"/>
          </p:cNvGraphicFramePr>
          <p:nvPr/>
        </p:nvGraphicFramePr>
        <p:xfrm>
          <a:off x="548640" y="1325880"/>
          <a:ext cx="7772400" cy="3950208"/>
        </p:xfrm>
        <a:graphic>
          <a:graphicData uri="http://schemas.openxmlformats.org/drawingml/2006/table">
            <a:tbl>
              <a:tblPr>
                <a:tableStyleId>{2D5ABB26-0587-4C30-8999-92F81FD0307C}</a:tableStyleId>
              </a:tblPr>
              <a:tblGrid>
                <a:gridCol w="6035040"/>
                <a:gridCol w="822960"/>
                <a:gridCol w="914400"/>
              </a:tblGrid>
              <a:tr h="329184">
                <a:tc>
                  <a:txBody>
                    <a:bodyPr wrap="square"/>
                    <a:lstStyle/>
                    <a:p>
                      <a:pPr algn="l"/>
                      <a:r>
                        <a:rPr sz="1050" b="1">
                          <a:solidFill>
                            <a:srgbClr val="6B7B8C"/>
                          </a:solidFill>
                          <a:latin typeface="Calibri"/>
                        </a:rPr>
                        <a:t>Description, as published</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Events</a:t>
                      </a:r>
                    </a:p>
                  </a:txBody>
                  <a:tcPr marL="73152" marR="73152" marT="27432" marB="27432" anchor="ctr">
                    <a:solidFill>
                      <a:srgbClr val="F1F4F8"/>
                    </a:solidFill>
                    <a:lnB w="12700">
                      <a:solidFill>
                        <a:srgbClr val="DCE3EA"/>
                      </a:solidFill>
                    </a:lnB>
                  </a:tcPr>
                </a:tc>
                <a:tc>
                  <a:txBody>
                    <a:bodyPr wrap="square"/>
                    <a:lstStyle/>
                    <a:p>
                      <a:pPr algn="r"/>
                      <a:r>
                        <a:rPr sz="1050" b="1">
                          <a:solidFill>
                            <a:srgbClr val="6B7B8C"/>
                          </a:solidFill>
                          <a:latin typeface="Calibri"/>
                        </a:rPr>
                        <a:t>Hours</a:t>
                      </a:r>
                    </a:p>
                  </a:txBody>
                  <a:tcPr marL="73152" marR="73152" marT="27432" marB="27432" anchor="ctr">
                    <a:solidFill>
                      <a:srgbClr val="F1F4F8"/>
                    </a:solidFill>
                    <a:lnB w="12700">
                      <a:solidFill>
                        <a:srgbClr val="DCE3EA"/>
                      </a:solidFill>
                    </a:lnB>
                  </a:tcPr>
                </a:tc>
              </a:tr>
              <a:tr h="329184">
                <a:tc>
                  <a:txBody>
                    <a:bodyPr wrap="square"/>
                    <a:lstStyle/>
                    <a:p>
                      <a:pPr algn="l"/>
                      <a:r>
                        <a:rPr sz="1050" b="0">
                          <a:solidFill>
                            <a:srgbClr val="1F2937"/>
                          </a:solidFill>
                          <a:latin typeface="Calibri"/>
                        </a:rPr>
                        <a:t>Construction on I-80 EB near CA-13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57</a:t>
                      </a:r>
                    </a:p>
                  </a:txBody>
                  <a:tcPr marL="73152" marR="73152" marT="27432" marB="27432" anchor="ctr">
                    <a:solidFill>
                      <a:srgbClr val="FFFFFF"/>
                    </a:solidFill>
                  </a:tcPr>
                </a:tc>
                <a:tc>
                  <a:txBody>
                    <a:bodyPr wrap="square"/>
                    <a:lstStyle/>
                    <a:p>
                      <a:pPr algn="r"/>
                      <a:r>
                        <a:rPr sz="1050" b="0">
                          <a:solidFill>
                            <a:srgbClr val="1F2937"/>
                          </a:solidFill>
                          <a:latin typeface="Calibri"/>
                        </a:rPr>
                        <a:t>30k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Alternating Lanes closure due to Highway Construction between Cleveland St and Route 13 (Ashby </a:t>
                      </a:r>
                    </a:p>
                  </a:txBody>
                  <a:tcPr marL="73152" marR="73152" marT="27432" marB="27432" anchor="ctr">
                    <a:solidFill>
                      <a:srgbClr val="FFFFFF"/>
                    </a:solidFill>
                  </a:tcPr>
                </a:tc>
                <a:tc>
                  <a:txBody>
                    <a:bodyPr wrap="square"/>
                    <a:lstStyle/>
                    <a:p>
                      <a:pPr algn="r"/>
                      <a:r>
                        <a:rPr sz="1050" b="0">
                          <a:solidFill>
                            <a:srgbClr val="1F2937"/>
                          </a:solidFill>
                          <a:latin typeface="Calibri"/>
                        </a:rPr>
                        <a:t>44</a:t>
                      </a:r>
                    </a:p>
                  </a:txBody>
                  <a:tcPr marL="73152" marR="73152" marT="27432" marB="27432" anchor="ctr">
                    <a:solidFill>
                      <a:srgbClr val="FFFFFF"/>
                    </a:solidFill>
                  </a:tcPr>
                </a:tc>
                <a:tc>
                  <a:txBody>
                    <a:bodyPr wrap="square"/>
                    <a:lstStyle/>
                    <a:p>
                      <a:pPr algn="r"/>
                      <a:r>
                        <a:rPr sz="1050" b="0">
                          <a:solidFill>
                            <a:srgbClr val="1F2937"/>
                          </a:solidFill>
                          <a:latin typeface="Calibri"/>
                        </a:rPr>
                        <a:t>29k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I-80 WB near CLEVELAND ST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42</a:t>
                      </a:r>
                    </a:p>
                  </a:txBody>
                  <a:tcPr marL="73152" marR="73152" marT="27432" marB="27432" anchor="ctr">
                    <a:solidFill>
                      <a:srgbClr val="FFFFFF"/>
                    </a:solidFill>
                  </a:tcPr>
                </a:tc>
                <a:tc>
                  <a:txBody>
                    <a:bodyPr wrap="square"/>
                    <a:lstStyle/>
                    <a:p>
                      <a:pPr algn="r"/>
                      <a:r>
                        <a:rPr sz="1050" b="0">
                          <a:solidFill>
                            <a:srgbClr val="1F2937"/>
                          </a:solidFill>
                          <a:latin typeface="Calibri"/>
                        </a:rPr>
                        <a:t>24k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Bridge closure from Harrison St / 1st St to I-80 E.</a:t>
                      </a:r>
                    </a:p>
                  </a:txBody>
                  <a:tcPr marL="73152" marR="73152" marT="27432" marB="27432" anchor="ctr">
                    <a:solidFill>
                      <a:srgbClr val="FFFFFF"/>
                    </a:solidFill>
                  </a:tcPr>
                </a:tc>
                <a:tc>
                  <a:txBody>
                    <a:bodyPr wrap="square"/>
                    <a:lstStyle/>
                    <a:p>
                      <a:pPr algn="r"/>
                      <a:r>
                        <a:rPr sz="1050" b="0">
                          <a:solidFill>
                            <a:srgbClr val="1F2937"/>
                          </a:solidFill>
                          <a:latin typeface="Calibri"/>
                        </a:rPr>
                        <a:t>6</a:t>
                      </a:r>
                    </a:p>
                  </a:txBody>
                  <a:tcPr marL="73152" marR="73152" marT="27432" marB="27432" anchor="ctr">
                    <a:solidFill>
                      <a:srgbClr val="FFFFFF"/>
                    </a:solidFill>
                  </a:tcPr>
                </a:tc>
                <a:tc>
                  <a:txBody>
                    <a:bodyPr wrap="square"/>
                    <a:lstStyle/>
                    <a:p>
                      <a:pPr algn="r"/>
                      <a:r>
                        <a:rPr sz="1050" b="0">
                          <a:solidFill>
                            <a:srgbClr val="1F2937"/>
                          </a:solidFill>
                          <a:latin typeface="Calibri"/>
                        </a:rPr>
                        <a:t>17k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I-80 WB near TREASURE ISLAND Construction. Expect long delays.</a:t>
                      </a:r>
                    </a:p>
                  </a:txBody>
                  <a:tcPr marL="73152" marR="73152" marT="27432" marB="27432" anchor="ctr">
                    <a:solidFill>
                      <a:srgbClr val="FFFFFF"/>
                    </a:solidFill>
                  </a:tcPr>
                </a:tc>
                <a:tc>
                  <a:txBody>
                    <a:bodyPr wrap="square"/>
                    <a:lstStyle/>
                    <a:p>
                      <a:pPr algn="r"/>
                      <a:r>
                        <a:rPr sz="1050" b="0">
                          <a:solidFill>
                            <a:srgbClr val="1F2937"/>
                          </a:solidFill>
                          <a:latin typeface="Calibri"/>
                        </a:rPr>
                        <a:t>5</a:t>
                      </a:r>
                    </a:p>
                  </a:txBody>
                  <a:tcPr marL="73152" marR="73152" marT="27432" marB="27432" anchor="ctr">
                    <a:solidFill>
                      <a:srgbClr val="FFFFFF"/>
                    </a:solidFill>
                  </a:tcPr>
                </a:tc>
                <a:tc>
                  <a:txBody>
                    <a:bodyPr wrap="square"/>
                    <a:lstStyle/>
                    <a:p>
                      <a:pPr algn="r"/>
                      <a:r>
                        <a:rPr sz="1050" b="0">
                          <a:solidFill>
                            <a:srgbClr val="1F2937"/>
                          </a:solidFill>
                          <a:latin typeface="Calibri"/>
                        </a:rPr>
                        <a:t>12k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Alternating Lanes closure due to Highway Construction between Route 13 (Ashby Ave) and Clevelan</a:t>
                      </a:r>
                    </a:p>
                  </a:txBody>
                  <a:tcPr marL="73152" marR="73152" marT="27432" marB="27432" anchor="ctr">
                    <a:solidFill>
                      <a:srgbClr val="FFFFFF"/>
                    </a:solidFill>
                  </a:tcPr>
                </a:tc>
                <a:tc>
                  <a:txBody>
                    <a:bodyPr wrap="square"/>
                    <a:lstStyle/>
                    <a:p>
                      <a:pPr algn="r"/>
                      <a:r>
                        <a:rPr sz="1050" b="0">
                          <a:solidFill>
                            <a:srgbClr val="1F2937"/>
                          </a:solidFill>
                          <a:latin typeface="Calibri"/>
                        </a:rPr>
                        <a:t>33</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I-80 EB near SFOBB PIER 1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21</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Lane closure due to Bridge Construction between SFOBB Pier 1 (W-1) and SFOBB TOWER 6 (W-6)</a:t>
                      </a:r>
                    </a:p>
                  </a:txBody>
                  <a:tcPr marL="73152" marR="73152" marT="27432" marB="27432" anchor="ctr">
                    <a:solidFill>
                      <a:srgbClr val="FFFFFF"/>
                    </a:solidFill>
                  </a:tcPr>
                </a:tc>
                <a:tc>
                  <a:txBody>
                    <a:bodyPr wrap="square"/>
                    <a:lstStyle/>
                    <a:p>
                      <a:pPr algn="r"/>
                      <a:r>
                        <a:rPr sz="1050" b="0">
                          <a:solidFill>
                            <a:srgbClr val="1F2937"/>
                          </a:solidFill>
                          <a:latin typeface="Calibri"/>
                        </a:rPr>
                        <a:t>23</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Construction on US-101 SB near LOMBARD ST Drive with caution.</a:t>
                      </a:r>
                    </a:p>
                  </a:txBody>
                  <a:tcPr marL="73152" marR="73152" marT="27432" marB="27432" anchor="ctr">
                    <a:solidFill>
                      <a:srgbClr val="FFFFFF"/>
                    </a:solidFill>
                  </a:tcPr>
                </a:tc>
                <a:tc>
                  <a:txBody>
                    <a:bodyPr wrap="square"/>
                    <a:lstStyle/>
                    <a:p>
                      <a:pPr algn="r"/>
                      <a:r>
                        <a:rPr sz="1050" b="0">
                          <a:solidFill>
                            <a:srgbClr val="1F2937"/>
                          </a:solidFill>
                          <a:latin typeface="Calibri"/>
                        </a:rPr>
                        <a:t>18</a:t>
                      </a:r>
                    </a:p>
                  </a:txBody>
                  <a:tcPr marL="73152" marR="73152" marT="27432" marB="27432" anchor="ctr">
                    <a:solidFill>
                      <a:srgbClr val="FFFFFF"/>
                    </a:solidFill>
                  </a:tcPr>
                </a:tc>
                <a:tc>
                  <a:txBody>
                    <a:bodyPr wrap="square"/>
                    <a:lstStyle/>
                    <a:p>
                      <a:pPr algn="r"/>
                      <a:r>
                        <a:rPr sz="1050" b="0">
                          <a:solidFill>
                            <a:srgbClr val="1F2937"/>
                          </a:solidFill>
                          <a:latin typeface="Calibri"/>
                        </a:rPr>
                        <a:t>11k</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Closed road from Mission St to S Van Ness Ave due to roadwork.</a:t>
                      </a:r>
                    </a:p>
                  </a:txBody>
                  <a:tcPr marL="73152" marR="73152" marT="27432" marB="27432" anchor="ctr">
                    <a:solidFill>
                      <a:srgbClr val="FFFFFF"/>
                    </a:solidFill>
                  </a:tcPr>
                </a:tc>
                <a:tc>
                  <a:txBody>
                    <a:bodyPr wrap="square"/>
                    <a:lstStyle/>
                    <a:p>
                      <a:pPr algn="r"/>
                      <a:r>
                        <a:rPr sz="1050" b="0">
                          <a:solidFill>
                            <a:srgbClr val="1F2937"/>
                          </a:solidFill>
                          <a:latin typeface="Calibri"/>
                        </a:rPr>
                        <a:t>5</a:t>
                      </a:r>
                    </a:p>
                  </a:txBody>
                  <a:tcPr marL="73152" marR="73152" marT="27432" marB="27432" anchor="ctr">
                    <a:solidFill>
                      <a:srgbClr val="FFFFFF"/>
                    </a:solidFill>
                  </a:tcPr>
                </a:tc>
                <a:tc>
                  <a:txBody>
                    <a:bodyPr wrap="square"/>
                    <a:lstStyle/>
                    <a:p>
                      <a:pPr algn="r"/>
                      <a:r>
                        <a:rPr sz="1050" b="0">
                          <a:solidFill>
                            <a:srgbClr val="1F2937"/>
                          </a:solidFill>
                          <a:latin typeface="Calibri"/>
                        </a:rPr>
                        <a:t>9,367</a:t>
                      </a:r>
                    </a:p>
                  </a:txBody>
                  <a:tcPr marL="73152" marR="73152" marT="27432" marB="27432" anchor="ctr">
                    <a:solidFill>
                      <a:srgbClr val="FFFFFF"/>
                    </a:solidFill>
                  </a:tcPr>
                </a:tc>
              </a:tr>
              <a:tr h="329184">
                <a:tc>
                  <a:txBody>
                    <a:bodyPr wrap="square"/>
                    <a:lstStyle/>
                    <a:p>
                      <a:pPr algn="l"/>
                      <a:r>
                        <a:rPr sz="1050" b="0">
                          <a:solidFill>
                            <a:srgbClr val="1F2937"/>
                          </a:solidFill>
                          <a:latin typeface="Calibri"/>
                        </a:rPr>
                        <a:t>Lane closure due to Attenuator Repair between Route 80 and Route 880/580</a:t>
                      </a:r>
                    </a:p>
                  </a:txBody>
                  <a:tcPr marL="73152" marR="73152" marT="27432" marB="27432" anchor="ctr">
                    <a:solidFill>
                      <a:srgbClr val="FFFFFF"/>
                    </a:solidFill>
                  </a:tcPr>
                </a:tc>
                <a:tc>
                  <a:txBody>
                    <a:bodyPr wrap="square"/>
                    <a:lstStyle/>
                    <a:p>
                      <a:pPr algn="r"/>
                      <a:r>
                        <a:rPr sz="1050" b="0">
                          <a:solidFill>
                            <a:srgbClr val="1F2937"/>
                          </a:solidFill>
                          <a:latin typeface="Calibri"/>
                        </a:rPr>
                        <a:t>1</a:t>
                      </a:r>
                    </a:p>
                  </a:txBody>
                  <a:tcPr marL="73152" marR="73152" marT="27432" marB="27432" anchor="ctr">
                    <a:solidFill>
                      <a:srgbClr val="FFFFFF"/>
                    </a:solidFill>
                  </a:tcPr>
                </a:tc>
                <a:tc>
                  <a:txBody>
                    <a:bodyPr wrap="square"/>
                    <a:lstStyle/>
                    <a:p>
                      <a:pPr algn="r"/>
                      <a:r>
                        <a:rPr sz="1050" b="0">
                          <a:solidFill>
                            <a:srgbClr val="1F2937"/>
                          </a:solidFill>
                          <a:latin typeface="Calibri"/>
                        </a:rPr>
                        <a:t>7,263</a:t>
                      </a:r>
                    </a:p>
                  </a:txBody>
                  <a:tcPr marL="73152" marR="73152" marT="27432" marB="27432" anchor="ctr">
                    <a:solidFill>
                      <a:srgbClr val="FFFFFF"/>
                    </a:solidFill>
                  </a:tcPr>
                </a:tc>
              </a:tr>
            </a:tbl>
          </a:graphicData>
        </a:graphic>
      </p:graphicFrame>
      <p:sp>
        <p:nvSpPr>
          <p:cNvPr id="7" name="TextBox 6"/>
          <p:cNvSpPr txBox="1"/>
          <p:nvPr/>
        </p:nvSpPr>
        <p:spPr>
          <a:xfrm>
            <a:off x="8686800" y="1325880"/>
            <a:ext cx="2926080" cy="4572000"/>
          </a:xfrm>
          <a:prstGeom prst="rect">
            <a:avLst/>
          </a:prstGeom>
          <a:noFill/>
        </p:spPr>
        <p:txBody>
          <a:bodyPr wrap="square" lIns="0" rIns="0" tIns="0" bIns="0" anchor="t">
            <a:spAutoFit/>
          </a:bodyPr>
          <a:lstStyle/>
          <a:p>
            <a:pPr algn="l">
              <a:lnSpc>
                <a:spcPct val="118000"/>
              </a:lnSpc>
              <a:spcAft>
                <a:spcPts val="1000"/>
              </a:spcAft>
            </a:pPr>
            <a:r>
              <a:rPr sz="1200" b="0" i="0">
                <a:solidFill>
                  <a:srgbClr val="1F2937"/>
                </a:solidFill>
                <a:latin typeface="Calibri"/>
              </a:rPr>
              <a:t>To make sure the matching did what I thought, I pulled the biggest events on the Berkeley route in 2021: I-80 at Ashby, Cleveland Street, the Bay Bridge piers, Treasure Island, the Yerba Buena tunnel. That is what I'd expect to see on that road.</a:t>
            </a:r>
          </a:p>
          <a:p>
            <a:pPr algn="l">
              <a:lnSpc>
                <a:spcPct val="118000"/>
              </a:lnSpc>
              <a:spcAft>
                <a:spcPts val="1000"/>
              </a:spcAft>
            </a:pPr>
            <a:r>
              <a:rPr sz="1200" b="0" i="0">
                <a:solidFill>
                  <a:srgbClr val="1F2937"/>
                </a:solidFill>
                <a:latin typeface="Calibri"/>
              </a:rPr>
              <a:t>The weak spot is long events. An event is two points and the road between them is unknown, so anything over five miles is matched on its endpoints only: 3,419 of the 60,984 Bay Area events. San Leandro has the most of those and is the route most likely undercounted.</a:t>
            </a:r>
          </a:p>
        </p:txBody>
      </p:sp>
      <p:sp>
        <p:nvSpPr>
          <p:cNvPr id="8" name="TextBox 7"/>
          <p:cNvSpPr txBox="1"/>
          <p:nvPr/>
        </p:nvSpPr>
        <p:spPr>
          <a:xfrm>
            <a:off x="548640" y="5367528"/>
            <a:ext cx="7772400" cy="320040"/>
          </a:xfrm>
          <a:prstGeom prst="rect">
            <a:avLst/>
          </a:prstGeom>
          <a:noFill/>
        </p:spPr>
        <p:txBody>
          <a:bodyPr wrap="square" lIns="0" rIns="0" tIns="0" bIns="0" anchor="t">
            <a:spAutoFit/>
          </a:bodyPr>
          <a:lstStyle/>
          <a:p>
            <a:pPr algn="l">
              <a:lnSpc>
                <a:spcPct val="110000"/>
              </a:lnSpc>
              <a:spcAft>
                <a:spcPts val="400"/>
              </a:spcAft>
            </a:pPr>
            <a:r>
              <a:rPr sz="1000" b="0" i="0">
                <a:solidFill>
                  <a:srgbClr val="6B7B8C"/>
                </a:solidFill>
                <a:latin typeface="Calibri"/>
              </a:rPr>
              <a:t>Berkeley route, 2021, by hours matched. The Van Ness and Mission entries are the shared downtown start, which counts for all five routes.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5: how would I present the Q4 answer to engineers versus executives?</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   ·   12</a:t>
            </a:r>
          </a:p>
        </p:txBody>
      </p:sp>
      <p:sp>
        <p:nvSpPr>
          <p:cNvPr id="6" name="Rectangle 5"/>
          <p:cNvSpPr/>
          <p:nvPr/>
        </p:nvSpPr>
        <p:spPr>
          <a:xfrm>
            <a:off x="548640" y="1325880"/>
            <a:ext cx="5349240" cy="50292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325880"/>
            <a:ext cx="4983479" cy="502920"/>
          </a:xfrm>
          <a:prstGeom prst="rect">
            <a:avLst/>
          </a:prstGeom>
          <a:noFill/>
        </p:spPr>
        <p:txBody>
          <a:bodyPr wrap="square" lIns="0" rIns="0" tIns="0" bIns="0" anchor="ctr">
            <a:spAutoFit/>
          </a:bodyPr>
          <a:lstStyle/>
          <a:p>
            <a:pPr algn="l">
              <a:lnSpc>
                <a:spcPct val="110000"/>
              </a:lnSpc>
              <a:spcAft>
                <a:spcPts val="400"/>
              </a:spcAft>
            </a:pPr>
            <a:r>
              <a:rPr sz="1400" b="1" i="0">
                <a:solidFill>
                  <a:srgbClr val="1F2937"/>
                </a:solidFill>
                <a:latin typeface="Calibri"/>
              </a:rPr>
              <a:t>To an engineering group</a:t>
            </a:r>
          </a:p>
        </p:txBody>
      </p:sp>
      <p:sp>
        <p:nvSpPr>
          <p:cNvPr id="8" name="TextBox 7"/>
          <p:cNvSpPr txBox="1"/>
          <p:nvPr/>
        </p:nvSpPr>
        <p:spPr>
          <a:xfrm>
            <a:off x="731520" y="2011680"/>
            <a:ext cx="4983479" cy="402336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 found this one hard, because there isn't a definitive answer to give: the riskiest route keeps changing year over year. For engineers that is the answer. I'd show the year-by-year table, walk through how the matching works, and be specific about where it is weak: events are two points, long ones get undercounted, two of the routes share the Bay Bridge approach.</a:t>
            </a:r>
          </a:p>
          <a:p>
            <a:pPr algn="l">
              <a:lnSpc>
                <a:spcPct val="118000"/>
              </a:lnSpc>
              <a:spcAft>
                <a:spcPts val="1000"/>
              </a:spcAft>
            </a:pPr>
            <a:r>
              <a:rPr sz="1250" b="0" i="0">
                <a:solidFill>
                  <a:srgbClr val="1F2937"/>
                </a:solidFill>
                <a:latin typeface="Calibri"/>
              </a:rPr>
              <a:t>Then what I'd want to make it better: road geometry instead of straight lines, a provider ID on each event, re-published closures chained into one, and exposure per road segment rather than per route. And I'd hand over the models, because they will want to re-run it with their own buffer.</a:t>
            </a:r>
          </a:p>
        </p:txBody>
      </p:sp>
      <p:sp>
        <p:nvSpPr>
          <p:cNvPr id="9" name="Rectangle 8"/>
          <p:cNvSpPr/>
          <p:nvPr/>
        </p:nvSpPr>
        <p:spPr>
          <a:xfrm>
            <a:off x="6263640" y="1325880"/>
            <a:ext cx="5349240" cy="502920"/>
          </a:xfrm>
          <a:prstGeom prst="rect">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325880"/>
            <a:ext cx="4983479" cy="502920"/>
          </a:xfrm>
          <a:prstGeom prst="rect">
            <a:avLst/>
          </a:prstGeom>
          <a:noFill/>
        </p:spPr>
        <p:txBody>
          <a:bodyPr wrap="square" lIns="0" rIns="0" tIns="0" bIns="0" anchor="ctr">
            <a:spAutoFit/>
          </a:bodyPr>
          <a:lstStyle/>
          <a:p>
            <a:pPr algn="l">
              <a:lnSpc>
                <a:spcPct val="110000"/>
              </a:lnSpc>
              <a:spcAft>
                <a:spcPts val="400"/>
              </a:spcAft>
            </a:pPr>
            <a:r>
              <a:rPr sz="1400" b="1" i="0">
                <a:solidFill>
                  <a:srgbClr val="1F2937"/>
                </a:solidFill>
                <a:latin typeface="Calibri"/>
              </a:rPr>
              <a:t>To business and operations executives</a:t>
            </a:r>
          </a:p>
        </p:txBody>
      </p:sp>
      <p:sp>
        <p:nvSpPr>
          <p:cNvPr id="11" name="TextBox 10"/>
          <p:cNvSpPr txBox="1"/>
          <p:nvPr/>
        </p:nvSpPr>
        <p:spPr>
          <a:xfrm>
            <a:off x="6446520" y="2011680"/>
            <a:ext cx="4983479" cy="402336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I'd lead with what I can say clearly: Pacifica is the lowest-exposure route every year, the three routes that cross a bridge carry roughly twice the construction per mile, and Berkeley leads in the most recent year. If one route runs for a year, Pacifica minimizes construction exposure and Berkeley maximizes it.</a:t>
            </a:r>
          </a:p>
          <a:p>
            <a:pPr algn="l">
              <a:lnSpc>
                <a:spcPct val="118000"/>
              </a:lnSpc>
              <a:spcAft>
                <a:spcPts val="1000"/>
              </a:spcAft>
            </a:pPr>
            <a:r>
              <a:rPr sz="1250" b="0" i="0">
                <a:solidFill>
                  <a:srgbClr val="1F2937"/>
                </a:solidFill>
                <a:latin typeface="Calibri"/>
              </a:rPr>
              <a:t>Then one sentence on confidence: high on the bottom of the ranking, moderate on the top, because the order among the bridge routes shifts. One chart, one number per route, no table of years. The assumptions on a backup slide, offered if anyone asks. The uncertainty doesn't go away for executives; it gets compressed into a confidence statement instead of a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Question 6: what AI tools did I use, how, and why?</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process log</a:t>
            </a:r>
            <a:r>
              <a:rPr sz="900" b="0" i="0">
                <a:solidFill>
                  <a:srgbClr val="6B7B8C"/>
                </a:solidFill>
                <a:latin typeface="Calibri"/>
              </a:rPr>
              <a:t>   ·   data pulled 2026-10-26</a:t>
            </a:r>
            <a:r>
              <a:rPr sz="900" b="0" i="0">
                <a:solidFill>
                  <a:srgbClr val="6B7B8C"/>
                </a:solidFill>
                <a:latin typeface="Calibri"/>
              </a:rPr>
              <a:t>   ·   13</a:t>
            </a:r>
          </a:p>
        </p:txBody>
      </p:sp>
      <p:sp>
        <p:nvSpPr>
          <p:cNvPr id="6" name="TextBox 5"/>
          <p:cNvSpPr txBox="1"/>
          <p:nvPr/>
        </p:nvSpPr>
        <p:spPr>
          <a:xfrm>
            <a:off x="548640" y="1325880"/>
            <a:ext cx="5394960" cy="475488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 used ChatGPT to walk me through setting up the environment step by step: a second Postgres instance, the virtual environment, the repo, dbt. It told me what to run and I ran it and read the output.</a:t>
            </a:r>
          </a:p>
          <a:p>
            <a:pPr algn="l">
              <a:lnSpc>
                <a:spcPct val="118000"/>
              </a:lnSpc>
              <a:spcAft>
                <a:spcPts val="1000"/>
              </a:spcAft>
            </a:pPr>
            <a:r>
              <a:rPr sz="1250" b="0" i="0">
                <a:solidFill>
                  <a:srgbClr val="1F2937"/>
                </a:solidFill>
                <a:latin typeface="Calibri"/>
              </a:rPr>
              <a:t>I used Claude for the rest, in two ways. As a consultant, to talk through how to approach the data and what the problems I was finding meant. And as a code writer, once I had decided what I wanted: the dbt models, the loader, the queries behind this deck.</a:t>
            </a:r>
          </a:p>
          <a:p>
            <a:pPr algn="l">
              <a:lnSpc>
                <a:spcPct val="118000"/>
              </a:lnSpc>
              <a:spcAft>
                <a:spcPts val="1000"/>
              </a:spcAft>
            </a:pPr>
            <a:r>
              <a:rPr sz="1250" b="0" i="0">
                <a:solidFill>
                  <a:srgbClr val="1F2937"/>
                </a:solidFill>
                <a:latin typeface="Calibri"/>
              </a:rPr>
              <a:t>I made the calls. The dedup rule, the words for the seasonal-closure filter, the five-year window, the 100-meter buffer, which year to lead with. I ran every query, read every result, and kept a </a:t>
            </a:r>
            <a:r>
              <a:rPr sz="1250" b="0" i="0" u="sng">
                <a:solidFill>
                  <a:srgbClr val="1368E5"/>
                </a:solidFill>
                <a:latin typeface="Calibri"/>
                <a:hlinkClick r:id="rId3"/>
              </a:rPr>
              <a:t>log of the whole process</a:t>
            </a:r>
            <a:r>
              <a:rPr sz="1250" b="0" i="0">
                <a:solidFill>
                  <a:srgbClr val="1F2937"/>
                </a:solidFill>
                <a:latin typeface="Calibri"/>
              </a:rPr>
              <a:t> in the repo.</a:t>
            </a:r>
          </a:p>
        </p:txBody>
      </p:sp>
      <p:sp>
        <p:nvSpPr>
          <p:cNvPr id="7" name="TextBox 6"/>
          <p:cNvSpPr txBox="1"/>
          <p:nvPr/>
        </p:nvSpPr>
        <p:spPr>
          <a:xfrm>
            <a:off x="6400800" y="1325880"/>
            <a:ext cx="52120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Where it was wrong</a:t>
            </a:r>
          </a:p>
        </p:txBody>
      </p:sp>
      <p:sp>
        <p:nvSpPr>
          <p:cNvPr id="8" name="TextBox 7"/>
          <p:cNvSpPr txBox="1"/>
          <p:nvPr/>
        </p:nvSpPr>
        <p:spPr>
          <a:xfrm>
            <a:off x="6400800" y="1783080"/>
            <a:ext cx="5212080" cy="429768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It told me my Mac didn't have Postgres installed. It did; the assistant's shell runs in a Linux VM beside the Mac and couldn't see it. Caught on the first exchange.</a:t>
            </a:r>
          </a:p>
          <a:p>
            <a:pPr algn="l">
              <a:lnSpc>
                <a:spcPct val="118000"/>
              </a:lnSpc>
              <a:spcAft>
                <a:spcPts val="1000"/>
              </a:spcAft>
            </a:pPr>
            <a:r>
              <a:rPr sz="1250" b="0" i="0">
                <a:solidFill>
                  <a:srgbClr val="1F2937"/>
                </a:solidFill>
                <a:latin typeface="Calibri"/>
              </a:rPr>
              <a:t>It wrote a hypothesis as a finding: that the spread between cities “is” reporting coverage. The table shows a spread, not its cause. I had it rewritten as a hypothesis with the tests that would settle it.</a:t>
            </a:r>
          </a:p>
          <a:p>
            <a:pPr algn="l">
              <a:lnSpc>
                <a:spcPct val="118000"/>
              </a:lnSpc>
              <a:spcAft>
                <a:spcPts val="1000"/>
              </a:spcAft>
            </a:pPr>
            <a:r>
              <a:rPr sz="1250" b="0" i="0">
                <a:solidFill>
                  <a:srgbClr val="1F2937"/>
                </a:solidFill>
                <a:latin typeface="Calibri"/>
              </a:rPr>
              <a:t>The first winter-closure filter was too broad; I gave it the word list and neither of us anticipated Winter Street. Found by exporting the matches and reading them.</a:t>
            </a:r>
          </a:p>
          <a:p>
            <a:pPr algn="l">
              <a:lnSpc>
                <a:spcPct val="118000"/>
              </a:lnSpc>
              <a:spcAft>
                <a:spcPts val="1000"/>
              </a:spcAft>
            </a:pPr>
            <a:r>
              <a:rPr sz="1250" b="0" i="0">
                <a:solidFill>
                  <a:srgbClr val="1F2937"/>
                </a:solidFill>
                <a:latin typeface="Calibri"/>
              </a:rPr>
              <a:t>A typical ask, so you can see the shape of it: “We need to dedupe rows that are the same place with the same timestamps. I want to use the description to separate construction from winter closures. Thoughts?”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What I assumed, and what I'd do with more time</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   ·   14</a:t>
            </a:r>
          </a:p>
        </p:txBody>
      </p:sp>
      <p:sp>
        <p:nvSpPr>
          <p:cNvPr id="6" name="TextBox 5"/>
          <p:cNvSpPr txBox="1"/>
          <p:nvPr/>
        </p:nvSpPr>
        <p:spPr>
          <a:xfrm>
            <a:off x="548640" y="1325880"/>
            <a:ext cx="548640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Assumptions I made</a:t>
            </a:r>
          </a:p>
        </p:txBody>
      </p:sp>
      <p:sp>
        <p:nvSpPr>
          <p:cNvPr id="7" name="TextBox 6"/>
          <p:cNvSpPr txBox="1"/>
          <p:nvPr/>
        </p:nvSpPr>
        <p:spPr>
          <a:xfrm>
            <a:off x="548640" y="1783080"/>
            <a:ext cx="5486400" cy="438912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A city is the municipality, and New York is its five boroughs.</a:t>
            </a:r>
          </a:p>
          <a:p>
            <a:pPr algn="l">
              <a:lnSpc>
                <a:spcPct val="118000"/>
              </a:lnSpc>
              <a:spcAft>
                <a:spcPts val="1000"/>
              </a:spcAft>
            </a:pPr>
            <a:r>
              <a:rPr sz="1250" b="0" i="0">
                <a:solidFill>
                  <a:srgbClr val="1F2937"/>
                </a:solidFill>
                <a:latin typeface="Calibri"/>
              </a:rPr>
              <a:t>Rows with the same start, end, location and description are one event.</a:t>
            </a:r>
          </a:p>
          <a:p>
            <a:pPr algn="l">
              <a:lnSpc>
                <a:spcPct val="118000"/>
              </a:lnSpc>
              <a:spcAft>
                <a:spcPts val="1000"/>
              </a:spcAft>
            </a:pPr>
            <a:r>
              <a:rPr sz="1250" b="0" i="0">
                <a:solidFill>
                  <a:srgbClr val="1F2937"/>
                </a:solidFill>
                <a:latin typeface="Calibri"/>
              </a:rPr>
              <a:t>“The past five years” is the five complete years, 2017 through 2021.</a:t>
            </a:r>
          </a:p>
          <a:p>
            <a:pPr algn="l">
              <a:lnSpc>
                <a:spcPct val="118000"/>
              </a:lnSpc>
              <a:spcAft>
                <a:spcPts val="1000"/>
              </a:spcAft>
            </a:pPr>
            <a:r>
              <a:rPr sz="1250" b="0" i="0">
                <a:solidFill>
                  <a:srgbClr val="1F2937"/>
                </a:solidFill>
                <a:latin typeface="Calibri"/>
              </a:rPr>
              <a:t>Seasonal closures are not construction, and the description identifies them.</a:t>
            </a:r>
          </a:p>
          <a:p>
            <a:pPr algn="l">
              <a:lnSpc>
                <a:spcPct val="118000"/>
              </a:lnSpc>
              <a:spcAft>
                <a:spcPts val="1000"/>
              </a:spcAft>
            </a:pPr>
            <a:r>
              <a:rPr sz="1250" b="0" i="0">
                <a:solidFill>
                  <a:srgbClr val="1F2937"/>
                </a:solidFill>
                <a:latin typeface="Calibri"/>
              </a:rPr>
              <a:t>Hours of reported traffic impact stand in for hours of roadwork.</a:t>
            </a:r>
          </a:p>
          <a:p>
            <a:pPr algn="l">
              <a:lnSpc>
                <a:spcPct val="118000"/>
              </a:lnSpc>
              <a:spcAft>
                <a:spcPts val="1000"/>
              </a:spcAft>
            </a:pPr>
            <a:r>
              <a:rPr sz="1250" b="0" i="0">
                <a:solidFill>
                  <a:srgbClr val="1F2937"/>
                </a:solidFill>
                <a:latin typeface="Calibri"/>
              </a:rPr>
              <a:t>An event is its two endpoints; the road between them is unknown.</a:t>
            </a:r>
          </a:p>
          <a:p>
            <a:pPr algn="l">
              <a:lnSpc>
                <a:spcPct val="118000"/>
              </a:lnSpc>
              <a:spcAft>
                <a:spcPts val="1000"/>
              </a:spcAft>
            </a:pPr>
            <a:r>
              <a:rPr sz="1250" b="0" i="0">
                <a:solidFill>
                  <a:srgbClr val="1F2937"/>
                </a:solidFill>
                <a:latin typeface="Calibri"/>
              </a:rPr>
              <a:t>“Near a route” is within 100 meters; short events follow a straight line.</a:t>
            </a:r>
          </a:p>
          <a:p>
            <a:pPr algn="l">
              <a:lnSpc>
                <a:spcPct val="118000"/>
              </a:lnSpc>
              <a:spcAft>
                <a:spcPts val="1000"/>
              </a:spcAft>
            </a:pPr>
            <a:r>
              <a:rPr sz="1250" b="0" i="0">
                <a:solidFill>
                  <a:srgbClr val="1F2937"/>
                </a:solidFill>
                <a:latin typeface="Calibri"/>
              </a:rPr>
              <a:t>Raw counts reflect how much each state publishes as much as how much work there is.</a:t>
            </a:r>
          </a:p>
        </p:txBody>
      </p:sp>
      <p:sp>
        <p:nvSpPr>
          <p:cNvPr id="8" name="TextBox 7"/>
          <p:cNvSpPr txBox="1"/>
          <p:nvPr/>
        </p:nvSpPr>
        <p:spPr>
          <a:xfrm>
            <a:off x="6492240" y="1325880"/>
            <a:ext cx="512064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F2937"/>
                </a:solidFill>
                <a:latin typeface="Calibri"/>
              </a:rPr>
              <a:t>With more time</a:t>
            </a:r>
          </a:p>
        </p:txBody>
      </p:sp>
      <p:sp>
        <p:nvSpPr>
          <p:cNvPr id="9" name="TextBox 8"/>
          <p:cNvSpPr txBox="1"/>
          <p:nvPr/>
        </p:nvSpPr>
        <p:spPr>
          <a:xfrm>
            <a:off x="6492240" y="1783080"/>
            <a:ext cx="5120640" cy="4389120"/>
          </a:xfrm>
          <a:prstGeom prst="rect">
            <a:avLst/>
          </a:prstGeom>
          <a:noFill/>
        </p:spPr>
        <p:txBody>
          <a:bodyPr wrap="square" lIns="0" rIns="0" tIns="0" bIns="0" anchor="t">
            <a:spAutoFit/>
          </a:bodyPr>
          <a:lstStyle/>
          <a:p>
            <a:pPr algn="l">
              <a:lnSpc>
                <a:spcPct val="118000"/>
              </a:lnSpc>
              <a:spcAft>
                <a:spcPts val="1000"/>
              </a:spcAft>
            </a:pPr>
            <a:r>
              <a:rPr sz="1250" b="0" i="0">
                <a:solidFill>
                  <a:srgbClr val="1F2937"/>
                </a:solidFill>
                <a:latin typeface="Calibri"/>
              </a:rPr>
              <a:t>Use miles of road as the denominator for question three, pulled from OpenStreetMap inside each city's boundary.</a:t>
            </a:r>
          </a:p>
          <a:p>
            <a:pPr algn="l">
              <a:lnSpc>
                <a:spcPct val="118000"/>
              </a:lnSpc>
              <a:spcAft>
                <a:spcPts val="1000"/>
              </a:spcAft>
            </a:pPr>
            <a:r>
              <a:rPr sz="1250" b="0" i="0">
                <a:solidFill>
                  <a:srgbClr val="1F2937"/>
                </a:solidFill>
                <a:latin typeface="Calibri"/>
              </a:rPr>
              <a:t>Chain re-published closures into one event, so a five-month closure is five months and not sixty five-hour rows.</a:t>
            </a:r>
          </a:p>
          <a:p>
            <a:pPr algn="l">
              <a:lnSpc>
                <a:spcPct val="118000"/>
              </a:lnSpc>
              <a:spcAft>
                <a:spcPts val="1000"/>
              </a:spcAft>
            </a:pPr>
            <a:r>
              <a:rPr sz="1250" b="0" i="0">
                <a:solidFill>
                  <a:srgbClr val="1F2937"/>
                </a:solidFill>
                <a:latin typeface="Calibri"/>
              </a:rPr>
              <a:t>Work out which provider each row came from. The wind column is spelled two ways, and that probably dates the feed changes. Their share by state would test the coverage hypothesis, along with an outside benchmark like FHWA state DOT spending per lane-mile.</a:t>
            </a:r>
          </a:p>
          <a:p>
            <a:pPr algn="l">
              <a:lnSpc>
                <a:spcPct val="118000"/>
              </a:lnSpc>
              <a:spcAft>
                <a:spcPts val="1000"/>
              </a:spcAft>
            </a:pPr>
            <a:r>
              <a:rPr sz="1250" b="0" i="0">
                <a:solidFill>
                  <a:srgbClr val="1F2937"/>
                </a:solidFill>
                <a:latin typeface="Calibri"/>
              </a:rPr>
              <a:t>Snap events to road geometry and score exposure per road segment, which is what a planner could act on.</a:t>
            </a:r>
          </a:p>
          <a:p>
            <a:pPr algn="l">
              <a:lnSpc>
                <a:spcPct val="118000"/>
              </a:lnSpc>
              <a:spcAft>
                <a:spcPts val="1000"/>
              </a:spcAft>
            </a:pPr>
            <a:r>
              <a:rPr sz="1250" b="0" i="0">
                <a:solidFill>
                  <a:srgbClr val="1F2937"/>
                </a:solidFill>
                <a:latin typeface="Calibri"/>
              </a:rPr>
              <a:t>Or go simpler, not fancier: for a one-off, one notebook reading the CSV directly would have been faster than a warehouse.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0271455" cy="822960"/>
          </a:xfrm>
          <a:prstGeom prst="rect">
            <a:avLst/>
          </a:prstGeom>
          <a:noFill/>
        </p:spPr>
        <p:txBody>
          <a:bodyPr wrap="square" lIns="0" rIns="0" tIns="0" bIns="0" anchor="t">
            <a:spAutoFit/>
          </a:bodyPr>
          <a:lstStyle/>
          <a:p>
            <a:pPr algn="l">
              <a:lnSpc>
                <a:spcPct val="100000"/>
              </a:lnSpc>
              <a:spcAft>
                <a:spcPts val="400"/>
              </a:spcAft>
            </a:pPr>
            <a:r>
              <a:rPr sz="2600" b="1" i="0">
                <a:solidFill>
                  <a:srgbClr val="1F2937"/>
                </a:solidFill>
                <a:latin typeface="Calibri"/>
              </a:rPr>
              <a:t>Appendix: where every number comes from</a:t>
            </a:r>
          </a:p>
        </p:txBody>
      </p:sp>
      <p:pic>
        <p:nvPicPr>
          <p:cNvPr id="3" name="Picture 2" descr="aurora_mark.png"/>
          <p:cNvPicPr>
            <a:picLocks noChangeAspect="1"/>
          </p:cNvPicPr>
          <p:nvPr/>
        </p:nvPicPr>
        <p:blipFill>
          <a:blip r:embed="rId2"/>
          <a:stretch>
            <a:fillRect/>
          </a:stretch>
        </p:blipFill>
        <p:spPr>
          <a:xfrm>
            <a:off x="11259007" y="411480"/>
            <a:ext cx="385961" cy="420624"/>
          </a:xfrm>
          <a:prstGeom prst="rect">
            <a:avLst/>
          </a:prstGeom>
        </p:spPr>
      </p:pic>
      <p:cxnSp>
        <p:nvCxnSpPr>
          <p:cNvPr id="4" name="Connector 3"/>
          <p:cNvCxnSpPr/>
          <p:nvPr/>
        </p:nvCxnSpPr>
        <p:spPr>
          <a:xfrm>
            <a:off x="548640" y="6163056"/>
            <a:ext cx="11094415" cy="0"/>
          </a:xfrm>
          <a:prstGeom prst="line">
            <a:avLst/>
          </a:prstGeom>
          <a:ln w="9525">
            <a:solidFill>
              <a:srgbClr val="DCE3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236208"/>
            <a:ext cx="6309360" cy="502920"/>
          </a:xfrm>
          <a:prstGeom prst="rect">
            <a:avLst/>
          </a:prstGeom>
          <a:noFill/>
        </p:spPr>
        <p:txBody>
          <a:bodyPr wrap="square" lIns="0" rIns="0" tIns="0" bIns="0" anchor="t">
            <a:spAutoFit/>
          </a:bodyPr>
          <a:lstStyle/>
          <a:p>
            <a:pPr algn="l">
              <a:lnSpc>
                <a:spcPct val="110000"/>
              </a:lnSpc>
              <a:spcAft>
                <a:spcPts val="400"/>
              </a:spcAft>
            </a:pPr>
            <a:r>
              <a:rPr sz="1200" b="0" i="0">
                <a:solidFill>
                  <a:srgbClr val="1F2937"/>
                </a:solidFill>
                <a:latin typeface="Calibri"/>
              </a:rPr>
              <a:t>pull_deck_data.py runs these against the database and writes one CSV each; build_charts.py and build_deck.py read the CSVs and nothing else.</a:t>
            </a:r>
          </a:p>
        </p:txBody>
      </p:sp>
      <p:sp>
        <p:nvSpPr>
          <p:cNvPr id="6" name="TextBox 5"/>
          <p:cNvSpPr txBox="1"/>
          <p:nvPr/>
        </p:nvSpPr>
        <p:spPr>
          <a:xfrm>
            <a:off x="6888175" y="6236208"/>
            <a:ext cx="4754880" cy="502920"/>
          </a:xfrm>
          <a:prstGeom prst="rect">
            <a:avLst/>
          </a:prstGeom>
          <a:noFill/>
        </p:spPr>
        <p:txBody>
          <a:bodyPr wrap="square" lIns="0" rIns="0" tIns="0" bIns="0" anchor="t">
            <a:spAutoFit/>
          </a:bodyPr>
          <a:lstStyle/>
          <a:p>
            <a:pPr algn="r">
              <a:lnSpc>
                <a:spcPct val="110000"/>
              </a:lnSpc>
              <a:spcAft>
                <a:spcPts val="400"/>
              </a:spcAft>
            </a:pPr>
            <a:r>
              <a:rPr sz="900" b="0" i="0">
                <a:solidFill>
                  <a:srgbClr val="6B7B8C"/>
                </a:solidFill>
                <a:latin typeface="Calibri"/>
              </a:rPr>
              <a:t>Source: </a:t>
            </a:r>
            <a:r>
              <a:rPr sz="900" b="0" i="0" u="sng">
                <a:solidFill>
                  <a:srgbClr val="1368E5"/>
                </a:solidFill>
                <a:latin typeface="Calibri"/>
                <a:hlinkClick r:id="rId3"/>
              </a:rPr>
              <a:t>reports/</a:t>
            </a:r>
            <a:r>
              <a:rPr sz="900" b="0" i="0">
                <a:solidFill>
                  <a:srgbClr val="6B7B8C"/>
                </a:solidFill>
                <a:latin typeface="Calibri"/>
              </a:rPr>
              <a:t>, </a:t>
            </a:r>
            <a:r>
              <a:rPr sz="900" b="0" i="0" u="sng">
                <a:solidFill>
                  <a:srgbClr val="1368E5"/>
                </a:solidFill>
                <a:latin typeface="Calibri"/>
                <a:hlinkClick r:id="rId4"/>
              </a:rPr>
              <a:t>deck builder</a:t>
            </a:r>
            <a:r>
              <a:rPr sz="900" b="0" i="0">
                <a:solidFill>
                  <a:srgbClr val="6B7B8C"/>
                </a:solidFill>
                <a:latin typeface="Calibri"/>
              </a:rPr>
              <a:t>   ·   data pulled 2026-10-26</a:t>
            </a:r>
            <a:r>
              <a:rPr sz="900" b="0" i="0">
                <a:solidFill>
                  <a:srgbClr val="6B7B8C"/>
                </a:solidFill>
                <a:latin typeface="Calibri"/>
              </a:rPr>
              <a:t>   ·   15</a:t>
            </a:r>
          </a:p>
        </p:txBody>
      </p:sp>
      <p:graphicFrame>
        <p:nvGraphicFramePr>
          <p:cNvPr id="7" name="Table 6"/>
          <p:cNvGraphicFramePr>
            <a:graphicFrameLocks noGrp="1"/>
          </p:cNvGraphicFramePr>
          <p:nvPr/>
        </p:nvGraphicFramePr>
        <p:xfrm>
          <a:off x="548640" y="1325880"/>
          <a:ext cx="11064240" cy="3127248"/>
        </p:xfrm>
        <a:graphic>
          <a:graphicData uri="http://schemas.openxmlformats.org/drawingml/2006/table">
            <a:tbl>
              <a:tblPr>
                <a:tableStyleId>{2D5ABB26-0587-4C30-8999-92F81FD0307C}</a:tableStyleId>
              </a:tblPr>
              <a:tblGrid>
                <a:gridCol w="1005840"/>
                <a:gridCol w="3291840"/>
                <a:gridCol w="3657600"/>
                <a:gridCol w="3108960"/>
              </a:tblGrid>
              <a:tr h="347472">
                <a:tc>
                  <a:txBody>
                    <a:bodyPr wrap="square"/>
                    <a:lstStyle/>
                    <a:p>
                      <a:pPr algn="l"/>
                      <a:r>
                        <a:rPr sz="1100" b="1">
                          <a:solidFill>
                            <a:srgbClr val="6B7B8C"/>
                          </a:solidFill>
                          <a:latin typeface="Calibri"/>
                        </a:rPr>
                        <a:t>Slides</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Query</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Reads</a:t>
                      </a:r>
                    </a:p>
                  </a:txBody>
                  <a:tcPr marL="73152" marR="73152" marT="27432" marB="27432" anchor="ctr">
                    <a:solidFill>
                      <a:srgbClr val="F1F4F8"/>
                    </a:solidFill>
                    <a:lnB w="12700">
                      <a:solidFill>
                        <a:srgbClr val="DCE3EA"/>
                      </a:solidFill>
                    </a:lnB>
                  </a:tcPr>
                </a:tc>
                <a:tc>
                  <a:txBody>
                    <a:bodyPr wrap="square"/>
                    <a:lstStyle/>
                    <a:p>
                      <a:pPr algn="l"/>
                      <a:r>
                        <a:rPr sz="1100" b="1">
                          <a:solidFill>
                            <a:srgbClr val="6B7B8C"/>
                          </a:solidFill>
                          <a:latin typeface="Calibri"/>
                        </a:rPr>
                        <a:t>Shows</a:t>
                      </a:r>
                    </a:p>
                  </a:txBody>
                  <a:tcPr marL="73152" marR="73152" marT="27432" marB="27432" anchor="ctr">
                    <a:solidFill>
                      <a:srgbClr val="F1F4F8"/>
                    </a:solidFill>
                    <a:lnB w="12700">
                      <a:solidFill>
                        <a:srgbClr val="DCE3EA"/>
                      </a:solidFill>
                    </a:lnB>
                  </a:tcPr>
                </a:tc>
              </a:tr>
              <a:tr h="347472">
                <a:tc>
                  <a:txBody>
                    <a:bodyPr wrap="square"/>
                    <a:lstStyle/>
                    <a:p>
                      <a:pPr algn="l"/>
                      <a:r>
                        <a:rPr sz="1100" b="0">
                          <a:solidFill>
                            <a:srgbClr val="1F2937"/>
                          </a:solidFill>
                          <a:latin typeface="Calibri"/>
                        </a:rPr>
                        <a:t>3–5</a:t>
                      </a:r>
                    </a:p>
                  </a:txBody>
                  <a:tcPr marL="73152" marR="73152" marT="27432" marB="27432" anchor="ctr">
                    <a:solidFill>
                      <a:srgbClr val="FFFFFF"/>
                    </a:solidFill>
                  </a:tcPr>
                </a:tc>
                <a:tc>
                  <a:txBody>
                    <a:bodyPr wrap="square"/>
                    <a:lstStyle/>
                    <a:p>
                      <a:pPr algn="l"/>
                      <a:r>
                        <a:rPr sz="1100" b="0">
                          <a:solidFill>
                            <a:srgbClr val="1F2937"/>
                          </a:solidFill>
                          <a:latin typeface="Calibri"/>
                        </a:rPr>
                        <a:t>queries/10, 12, 13</a:t>
                      </a:r>
                    </a:p>
                  </a:txBody>
                  <a:tcPr marL="73152" marR="73152" marT="27432" marB="27432" anchor="ctr">
                    <a:solidFill>
                      <a:srgbClr val="FFFFFF"/>
                    </a:solidFill>
                  </a:tcPr>
                </a:tc>
                <a:tc>
                  <a:txBody>
                    <a:bodyPr wrap="square"/>
                    <a:lstStyle/>
                    <a:p>
                      <a:pPr algn="l"/>
                      <a:r>
                        <a:rPr sz="1100" b="0">
                          <a:solidFill>
                            <a:srgbClr val="1F2937"/>
                          </a:solidFill>
                          <a:latin typeface="Calibri"/>
                        </a:rPr>
                        <a:t>raw, stg_construction</a:t>
                      </a:r>
                    </a:p>
                  </a:txBody>
                  <a:tcPr marL="73152" marR="73152" marT="27432" marB="27432" anchor="ctr">
                    <a:solidFill>
                      <a:srgbClr val="FFFFFF"/>
                    </a:solidFill>
                  </a:tcPr>
                </a:tc>
                <a:tc>
                  <a:txBody>
                    <a:bodyPr wrap="square"/>
                    <a:lstStyle/>
                    <a:p>
                      <a:pPr algn="l"/>
                      <a:r>
                        <a:rPr sz="1100" b="0">
                          <a:solidFill>
                            <a:srgbClr val="1F2937"/>
                          </a:solidFill>
                          <a:latin typeface="Calibri"/>
                        </a:rPr>
                        <a:t>row counts, flag counts, what the first filter caught</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6</a:t>
                      </a:r>
                    </a:p>
                  </a:txBody>
                  <a:tcPr marL="73152" marR="73152" marT="27432" marB="27432" anchor="ctr">
                    <a:solidFill>
                      <a:srgbClr val="FFFFFF"/>
                    </a:solidFill>
                  </a:tcPr>
                </a:tc>
                <a:tc>
                  <a:txBody>
                    <a:bodyPr wrap="square"/>
                    <a:lstStyle/>
                    <a:p>
                      <a:pPr algn="l"/>
                      <a:r>
                        <a:rPr sz="1100" b="0">
                          <a:solidFill>
                            <a:srgbClr val="1F2937"/>
                          </a:solidFill>
                          <a:latin typeface="Calibri"/>
                        </a:rPr>
                        <a:t>queries/01_q1_top_cities</a:t>
                      </a:r>
                    </a:p>
                  </a:txBody>
                  <a:tcPr marL="73152" marR="73152" marT="27432" marB="27432" anchor="ctr">
                    <a:solidFill>
                      <a:srgbClr val="FFFFFF"/>
                    </a:solidFill>
                  </a:tcPr>
                </a:tc>
                <a:tc>
                  <a:txBody>
                    <a:bodyPr wrap="square"/>
                    <a:lstStyle/>
                    <a:p>
                      <a:pPr algn="l"/>
                      <a:r>
                        <a:rPr sz="1100" b="0">
                          <a:solidFill>
                            <a:srgbClr val="1F2937"/>
                          </a:solidFill>
                          <a:latin typeface="Calibri"/>
                        </a:rPr>
                        <a:t>int_city_month_hours</a:t>
                      </a:r>
                    </a:p>
                  </a:txBody>
                  <a:tcPr marL="73152" marR="73152" marT="27432" marB="27432" anchor="ctr">
                    <a:solidFill>
                      <a:srgbClr val="FFFFFF"/>
                    </a:solidFill>
                  </a:tcPr>
                </a:tc>
                <a:tc>
                  <a:txBody>
                    <a:bodyPr wrap="square"/>
                    <a:lstStyle/>
                    <a:p>
                      <a:pPr algn="l"/>
                      <a:r>
                        <a:rPr sz="1100" b="0">
                          <a:solidFill>
                            <a:srgbClr val="1F2937"/>
                          </a:solidFill>
                          <a:latin typeface="Calibri"/>
                        </a:rPr>
                        <a:t>Q1 top ten by hours</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7</a:t>
                      </a:r>
                    </a:p>
                  </a:txBody>
                  <a:tcPr marL="73152" marR="73152" marT="27432" marB="27432" anchor="ctr">
                    <a:solidFill>
                      <a:srgbClr val="FFFFFF"/>
                    </a:solidFill>
                  </a:tcPr>
                </a:tc>
                <a:tc>
                  <a:txBody>
                    <a:bodyPr wrap="square"/>
                    <a:lstStyle/>
                    <a:p>
                      <a:pPr algn="l"/>
                      <a:r>
                        <a:rPr sz="1100" b="0">
                          <a:solidFill>
                            <a:srgbClr val="1F2937"/>
                          </a:solidFill>
                          <a:latin typeface="Calibri"/>
                        </a:rPr>
                        <a:t>queries/03_q2_ten_cities_by_year</a:t>
                      </a:r>
                    </a:p>
                  </a:txBody>
                  <a:tcPr marL="73152" marR="73152" marT="27432" marB="27432" anchor="ctr">
                    <a:solidFill>
                      <a:srgbClr val="FFFFFF"/>
                    </a:solidFill>
                  </a:tcPr>
                </a:tc>
                <a:tc>
                  <a:txBody>
                    <a:bodyPr wrap="square"/>
                    <a:lstStyle/>
                    <a:p>
                      <a:pPr algn="l"/>
                      <a:r>
                        <a:rPr sz="1100" b="0">
                          <a:solidFill>
                            <a:srgbClr val="1F2937"/>
                          </a:solidFill>
                          <a:latin typeface="Calibri"/>
                        </a:rPr>
                        <a:t>int_city_month_hours</a:t>
                      </a:r>
                    </a:p>
                  </a:txBody>
                  <a:tcPr marL="73152" marR="73152" marT="27432" marB="27432" anchor="ctr">
                    <a:solidFill>
                      <a:srgbClr val="FFFFFF"/>
                    </a:solidFill>
                  </a:tcPr>
                </a:tc>
                <a:tc>
                  <a:txBody>
                    <a:bodyPr wrap="square"/>
                    <a:lstStyle/>
                    <a:p>
                      <a:pPr algn="l"/>
                      <a:r>
                        <a:rPr sz="1100" b="0">
                          <a:solidFill>
                            <a:srgbClr val="1F2937"/>
                          </a:solidFill>
                          <a:latin typeface="Calibri"/>
                        </a:rPr>
                        <a:t>the same ten by year</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8</a:t>
                      </a:r>
                    </a:p>
                  </a:txBody>
                  <a:tcPr marL="73152" marR="73152" marT="27432" marB="27432" anchor="ctr">
                    <a:solidFill>
                      <a:srgbClr val="FFFFFF"/>
                    </a:solidFill>
                  </a:tcPr>
                </a:tc>
                <a:tc>
                  <a:txBody>
                    <a:bodyPr wrap="square"/>
                    <a:lstStyle/>
                    <a:p>
                      <a:pPr algn="l"/>
                      <a:r>
                        <a:rPr sz="1100" b="0">
                          <a:solidFill>
                            <a:srgbClr val="1F2937"/>
                          </a:solidFill>
                          <a:latin typeface="Calibri"/>
                        </a:rPr>
                        <a:t>queries/04, queries/05</a:t>
                      </a:r>
                    </a:p>
                  </a:txBody>
                  <a:tcPr marL="73152" marR="73152" marT="27432" marB="27432" anchor="ctr">
                    <a:solidFill>
                      <a:srgbClr val="FFFFFF"/>
                    </a:solidFill>
                  </a:tcPr>
                </a:tc>
                <a:tc>
                  <a:txBody>
                    <a:bodyPr wrap="square"/>
                    <a:lstStyle/>
                    <a:p>
                      <a:pPr algn="l"/>
                      <a:r>
                        <a:rPr sz="1100" b="0">
                          <a:solidFill>
                            <a:srgbClr val="1F2937"/>
                          </a:solidFill>
                          <a:latin typeface="Calibri"/>
                        </a:rPr>
                        <a:t>int_city_month_hours, stg_construction</a:t>
                      </a:r>
                    </a:p>
                  </a:txBody>
                  <a:tcPr marL="73152" marR="73152" marT="27432" marB="27432" anchor="ctr">
                    <a:solidFill>
                      <a:srgbClr val="FFFFFF"/>
                    </a:solidFill>
                  </a:tcPr>
                </a:tc>
                <a:tc>
                  <a:txBody>
                    <a:bodyPr wrap="square"/>
                    <a:lstStyle/>
                    <a:p>
                      <a:pPr algn="l"/>
                      <a:r>
                        <a:rPr sz="1100" b="0">
                          <a:solidFill>
                            <a:srgbClr val="1F2937"/>
                          </a:solidFill>
                          <a:latin typeface="Calibri"/>
                        </a:rPr>
                        <a:t>monthly totals; by-year decomposition</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9</a:t>
                      </a:r>
                    </a:p>
                  </a:txBody>
                  <a:tcPr marL="73152" marR="73152" marT="27432" marB="27432" anchor="ctr">
                    <a:solidFill>
                      <a:srgbClr val="FFFFFF"/>
                    </a:solidFill>
                  </a:tcPr>
                </a:tc>
                <a:tc>
                  <a:txBody>
                    <a:bodyPr wrap="square"/>
                    <a:lstStyle/>
                    <a:p>
                      <a:pPr algn="l"/>
                      <a:r>
                        <a:rPr sz="1100" b="0">
                          <a:solidFill>
                            <a:srgbClr val="1F2937"/>
                          </a:solidFill>
                          <a:latin typeface="Calibri"/>
                        </a:rPr>
                        <a:t>queries/07_q3_city_comparison</a:t>
                      </a:r>
                    </a:p>
                  </a:txBody>
                  <a:tcPr marL="73152" marR="73152" marT="27432" marB="27432" anchor="ctr">
                    <a:solidFill>
                      <a:srgbClr val="FFFFFF"/>
                    </a:solidFill>
                  </a:tcPr>
                </a:tc>
                <a:tc>
                  <a:txBody>
                    <a:bodyPr wrap="square"/>
                    <a:lstStyle/>
                    <a:p>
                      <a:pPr algn="l"/>
                      <a:r>
                        <a:rPr sz="1100" b="0">
                          <a:solidFill>
                            <a:srgbClr val="1F2937"/>
                          </a:solidFill>
                          <a:latin typeface="Calibri"/>
                        </a:rPr>
                        <a:t>fct_city_comparison</a:t>
                      </a:r>
                    </a:p>
                  </a:txBody>
                  <a:tcPr marL="73152" marR="73152" marT="27432" marB="27432" anchor="ctr">
                    <a:solidFill>
                      <a:srgbClr val="FFFFFF"/>
                    </a:solidFill>
                  </a:tcPr>
                </a:tc>
                <a:tc>
                  <a:txBody>
                    <a:bodyPr wrap="square"/>
                    <a:lstStyle/>
                    <a:p>
                      <a:pPr algn="l"/>
                      <a:r>
                        <a:rPr sz="1100" b="0">
                          <a:solidFill>
                            <a:srgbClr val="1F2937"/>
                          </a:solidFill>
                          <a:latin typeface="Calibri"/>
                        </a:rPr>
                        <a:t>Q3 normalized ranking</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10</a:t>
                      </a:r>
                    </a:p>
                  </a:txBody>
                  <a:tcPr marL="73152" marR="73152" marT="27432" marB="27432" anchor="ctr">
                    <a:solidFill>
                      <a:srgbClr val="FFFFFF"/>
                    </a:solidFill>
                  </a:tcPr>
                </a:tc>
                <a:tc>
                  <a:txBody>
                    <a:bodyPr wrap="square"/>
                    <a:lstStyle/>
                    <a:p>
                      <a:pPr algn="l"/>
                      <a:r>
                        <a:rPr sz="1100" b="0">
                          <a:solidFill>
                            <a:srgbClr val="1F2937"/>
                          </a:solidFill>
                          <a:latin typeface="Calibri"/>
                        </a:rPr>
                        <a:t>queries/08, check_route_bridges.py</a:t>
                      </a:r>
                    </a:p>
                  </a:txBody>
                  <a:tcPr marL="73152" marR="73152" marT="27432" marB="27432" anchor="ctr">
                    <a:solidFill>
                      <a:srgbClr val="FFFFFF"/>
                    </a:solidFill>
                  </a:tcPr>
                </a:tc>
                <a:tc>
                  <a:txBody>
                    <a:bodyPr wrap="square"/>
                    <a:lstStyle/>
                    <a:p>
                      <a:pPr algn="l"/>
                      <a:r>
                        <a:rPr sz="1100" b="0">
                          <a:solidFill>
                            <a:srgbClr val="1F2937"/>
                          </a:solidFill>
                          <a:latin typeface="Calibri"/>
                        </a:rPr>
                        <a:t>fct_route_exposure, sf_paths</a:t>
                      </a:r>
                    </a:p>
                  </a:txBody>
                  <a:tcPr marL="73152" marR="73152" marT="27432" marB="27432" anchor="ctr">
                    <a:solidFill>
                      <a:srgbClr val="FFFFFF"/>
                    </a:solidFill>
                  </a:tcPr>
                </a:tc>
                <a:tc>
                  <a:txBody>
                    <a:bodyPr wrap="square"/>
                    <a:lstStyle/>
                    <a:p>
                      <a:pPr algn="l"/>
                      <a:r>
                        <a:rPr sz="1100" b="0">
                          <a:solidFill>
                            <a:srgbClr val="1F2937"/>
                          </a:solidFill>
                          <a:latin typeface="Calibri"/>
                        </a:rPr>
                        <a:t>Q4 by route and year; which routes cross a bridge</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11</a:t>
                      </a:r>
                    </a:p>
                  </a:txBody>
                  <a:tcPr marL="73152" marR="73152" marT="27432" marB="27432" anchor="ctr">
                    <a:solidFill>
                      <a:srgbClr val="FFFFFF"/>
                    </a:solidFill>
                  </a:tcPr>
                </a:tc>
                <a:tc>
                  <a:txBody>
                    <a:bodyPr wrap="square"/>
                    <a:lstStyle/>
                    <a:p>
                      <a:pPr algn="l"/>
                      <a:r>
                        <a:rPr sz="1100" b="0">
                          <a:solidFill>
                            <a:srgbClr val="1F2937"/>
                          </a:solidFill>
                          <a:latin typeface="Calibri"/>
                        </a:rPr>
                        <a:t>queries/09_q4_berkeley_2021_descriptions</a:t>
                      </a:r>
                    </a:p>
                  </a:txBody>
                  <a:tcPr marL="73152" marR="73152" marT="27432" marB="27432" anchor="ctr">
                    <a:solidFill>
                      <a:srgbClr val="FFFFFF"/>
                    </a:solidFill>
                  </a:tcPr>
                </a:tc>
                <a:tc>
                  <a:txBody>
                    <a:bodyPr wrap="square"/>
                    <a:lstStyle/>
                    <a:p>
                      <a:pPr algn="l"/>
                      <a:r>
                        <a:rPr sz="1100" b="0">
                          <a:solidFill>
                            <a:srgbClr val="1F2937"/>
                          </a:solidFill>
                          <a:latin typeface="Calibri"/>
                        </a:rPr>
                        <a:t>int_route_events</a:t>
                      </a:r>
                    </a:p>
                  </a:txBody>
                  <a:tcPr marL="73152" marR="73152" marT="27432" marB="27432" anchor="ctr">
                    <a:solidFill>
                      <a:srgbClr val="FFFFFF"/>
                    </a:solidFill>
                  </a:tcPr>
                </a:tc>
                <a:tc>
                  <a:txBody>
                    <a:bodyPr wrap="square"/>
                    <a:lstStyle/>
                    <a:p>
                      <a:pPr algn="l"/>
                      <a:r>
                        <a:rPr sz="1100" b="0">
                          <a:solidFill>
                            <a:srgbClr val="1F2937"/>
                          </a:solidFill>
                          <a:latin typeface="Calibri"/>
                        </a:rPr>
                        <a:t>matched descriptions</a:t>
                      </a:r>
                    </a:p>
                  </a:txBody>
                  <a:tcPr marL="73152" marR="73152" marT="27432" marB="27432" anchor="ctr">
                    <a:solidFill>
                      <a:srgbClr val="FFFFFF"/>
                    </a:solidFill>
                  </a:tcPr>
                </a:tc>
              </a:tr>
              <a:tr h="347472">
                <a:tc>
                  <a:txBody>
                    <a:bodyPr wrap="square"/>
                    <a:lstStyle/>
                    <a:p>
                      <a:pPr algn="l"/>
                      <a:r>
                        <a:rPr sz="1100" b="0">
                          <a:solidFill>
                            <a:srgbClr val="1F2937"/>
                          </a:solidFill>
                          <a:latin typeface="Calibri"/>
                        </a:rPr>
                        <a:t>—</a:t>
                      </a:r>
                    </a:p>
                  </a:txBody>
                  <a:tcPr marL="73152" marR="73152" marT="27432" marB="27432" anchor="ctr">
                    <a:solidFill>
                      <a:srgbClr val="FFFFFF"/>
                    </a:solidFill>
                  </a:tcPr>
                </a:tc>
                <a:tc>
                  <a:txBody>
                    <a:bodyPr wrap="square"/>
                    <a:lstStyle/>
                    <a:p>
                      <a:pPr algn="l"/>
                      <a:r>
                        <a:rPr sz="1100" b="0">
                          <a:solidFill>
                            <a:srgbClr val="1F2937"/>
                          </a:solidFill>
                          <a:latin typeface="Calibri"/>
                        </a:rPr>
                        <a:t>queries/02, 06, 11</a:t>
                      </a:r>
                    </a:p>
                  </a:txBody>
                  <a:tcPr marL="73152" marR="73152" marT="27432" marB="27432" anchor="ctr">
                    <a:solidFill>
                      <a:srgbClr val="FFFFFF"/>
                    </a:solidFill>
                  </a:tcPr>
                </a:tc>
                <a:tc>
                  <a:txBody>
                    <a:bodyPr wrap="square"/>
                    <a:lstStyle/>
                    <a:p>
                      <a:pPr algn="l"/>
                      <a:r>
                        <a:rPr sz="1100" b="0">
                          <a:solidFill>
                            <a:srgbClr val="1F2937"/>
                          </a:solidFill>
                          <a:latin typeface="Calibri"/>
                        </a:rPr>
                        <a:t>various</a:t>
                      </a:r>
                    </a:p>
                  </a:txBody>
                  <a:tcPr marL="73152" marR="73152" marT="27432" marB="27432" anchor="ctr">
                    <a:solidFill>
                      <a:srgbClr val="FFFFFF"/>
                    </a:solidFill>
                  </a:tcPr>
                </a:tc>
                <a:tc>
                  <a:txBody>
                    <a:bodyPr wrap="square"/>
                    <a:lstStyle/>
                    <a:p>
                      <a:pPr algn="l"/>
                      <a:r>
                        <a:rPr sz="1100" b="0">
                          <a:solidFill>
                            <a:srgbClr val="1F2937"/>
                          </a:solidFill>
                          <a:latin typeface="Calibri"/>
                        </a:rPr>
                        <a:t>log only; not on a slide</a:t>
                      </a:r>
                    </a:p>
                  </a:txBody>
                  <a:tcPr marL="73152" marR="73152" marT="27432" marB="27432"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